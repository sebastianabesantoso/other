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Poppins Light" charset="1" panose="00000400000000000000"/>
      <p:regular r:id="rId23"/>
    </p:embeddedFont>
    <p:embeddedFont>
      <p:font typeface="Poppins Bold" charset="1" panose="00000800000000000000"/>
      <p:regular r:id="rId24"/>
    </p:embeddedFont>
    <p:embeddedFont>
      <p:font typeface="Poppins" charset="1" panose="00000500000000000000"/>
      <p:regular r:id="rId25"/>
    </p:embeddedFont>
    <p:embeddedFont>
      <p:font typeface="Anton" charset="1" panose="00000500000000000000"/>
      <p:regular r:id="rId26"/>
    </p:embeddedFont>
    <p:embeddedFont>
      <p:font typeface="Arial Unicode Bold" charset="1" panose="020B0704020202020204"/>
      <p:regular r:id="rId27"/>
    </p:embeddedFont>
    <p:embeddedFont>
      <p:font typeface="Arial Unicode" charset="1" panose="020B06040202020202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embeddings/oleObject1.bin" Type="http://schemas.openxmlformats.org/officeDocument/2006/relationships/oleObjec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1.pn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21.png" Type="http://schemas.openxmlformats.org/officeDocument/2006/relationships/image"/><Relationship Id="rId9" Target="../media/image2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23.png" Type="http://schemas.openxmlformats.org/officeDocument/2006/relationships/image"/><Relationship Id="rId9" Target="../media/image2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26.png" Type="http://schemas.openxmlformats.org/officeDocument/2006/relationships/image"/><Relationship Id="rId9" Target="../embeddings/oleObject2.bin" Type="http://schemas.openxmlformats.org/officeDocument/2006/relationships/oleObjec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27.png" Type="http://schemas.openxmlformats.org/officeDocument/2006/relationships/image"/><Relationship Id="rId9" Target="../media/image2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29.png" Type="http://schemas.openxmlformats.org/officeDocument/2006/relationships/image"/><Relationship Id="rId9" Target="../media/image3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 Id="rId6" Target="../media/image34.png" Type="http://schemas.openxmlformats.org/officeDocument/2006/relationships/image"/><Relationship Id="rId7" Target="../embeddings/oleObject3.bin" Type="http://schemas.openxmlformats.org/officeDocument/2006/relationships/oleObjec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8.png" Type="http://schemas.openxmlformats.org/officeDocument/2006/relationships/image"/><Relationship Id="rId3" Target="../media/image3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2.png" Type="http://schemas.openxmlformats.org/officeDocument/2006/relationships/image"/><Relationship Id="rId3" Target="../media/image4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6093532"/>
            <a:ext cx="18288000" cy="5200650"/>
          </a:xfrm>
          <a:custGeom>
            <a:avLst/>
            <a:gdLst/>
            <a:ahLst/>
            <a:cxnLst/>
            <a:rect r="r" b="b" t="t" l="l"/>
            <a:pathLst>
              <a:path h="5200650" w="18288000">
                <a:moveTo>
                  <a:pt x="0" y="0"/>
                </a:moveTo>
                <a:lnTo>
                  <a:pt x="18288000" y="0"/>
                </a:lnTo>
                <a:lnTo>
                  <a:pt x="18288000" y="5200650"/>
                </a:lnTo>
                <a:lnTo>
                  <a:pt x="0" y="5200650"/>
                </a:lnTo>
                <a:lnTo>
                  <a:pt x="0" y="0"/>
                </a:lnTo>
                <a:close/>
              </a:path>
            </a:pathLst>
          </a:custGeom>
          <a:blipFill>
            <a:blip r:embed="rId2"/>
            <a:stretch>
              <a:fillRect l="0" t="0" r="0" b="0"/>
            </a:stretch>
          </a:blipFill>
        </p:spPr>
      </p:sp>
      <p:sp>
        <p:nvSpPr>
          <p:cNvPr name="Freeform 3" id="3"/>
          <p:cNvSpPr/>
          <p:nvPr/>
        </p:nvSpPr>
        <p:spPr>
          <a:xfrm flipH="false" flipV="false" rot="0">
            <a:off x="-3521913" y="2869268"/>
            <a:ext cx="7417732" cy="7417732"/>
          </a:xfrm>
          <a:custGeom>
            <a:avLst/>
            <a:gdLst/>
            <a:ahLst/>
            <a:cxnLst/>
            <a:rect r="r" b="b" t="t" l="l"/>
            <a:pathLst>
              <a:path h="7417732" w="7417732">
                <a:moveTo>
                  <a:pt x="0" y="0"/>
                </a:moveTo>
                <a:lnTo>
                  <a:pt x="7417732" y="0"/>
                </a:lnTo>
                <a:lnTo>
                  <a:pt x="7417732" y="7417732"/>
                </a:lnTo>
                <a:lnTo>
                  <a:pt x="0" y="7417732"/>
                </a:lnTo>
                <a:lnTo>
                  <a:pt x="0" y="0"/>
                </a:lnTo>
                <a:close/>
              </a:path>
            </a:pathLst>
          </a:custGeom>
          <a:blipFill>
            <a:blip r:embed="rId3">
              <a:alphaModFix amt="5000"/>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0" y="0"/>
            <a:ext cx="20186658" cy="8852366"/>
            <a:chOff x="0" y="0"/>
            <a:chExt cx="26915544" cy="11803155"/>
          </a:xfrm>
        </p:grpSpPr>
        <p:grpSp>
          <p:nvGrpSpPr>
            <p:cNvPr name="Group 5" id="5"/>
            <p:cNvGrpSpPr/>
            <p:nvPr/>
          </p:nvGrpSpPr>
          <p:grpSpPr>
            <a:xfrm rot="0">
              <a:off x="0" y="5831990"/>
              <a:ext cx="25050481" cy="5964933"/>
              <a:chOff x="0" y="0"/>
              <a:chExt cx="4948243" cy="1178258"/>
            </a:xfrm>
          </p:grpSpPr>
          <p:sp>
            <p:nvSpPr>
              <p:cNvPr name="Freeform 6" id="6"/>
              <p:cNvSpPr/>
              <p:nvPr/>
            </p:nvSpPr>
            <p:spPr>
              <a:xfrm flipH="false" flipV="false" rot="0">
                <a:off x="0" y="0"/>
                <a:ext cx="4948243" cy="1178258"/>
              </a:xfrm>
              <a:custGeom>
                <a:avLst/>
                <a:gdLst/>
                <a:ahLst/>
                <a:cxnLst/>
                <a:rect r="r" b="b" t="t" l="l"/>
                <a:pathLst>
                  <a:path h="1178258" w="4948243">
                    <a:moveTo>
                      <a:pt x="0" y="0"/>
                    </a:moveTo>
                    <a:lnTo>
                      <a:pt x="4948243" y="0"/>
                    </a:lnTo>
                    <a:lnTo>
                      <a:pt x="4948243" y="1178258"/>
                    </a:lnTo>
                    <a:lnTo>
                      <a:pt x="0" y="1178258"/>
                    </a:lnTo>
                    <a:close/>
                  </a:path>
                </a:pathLst>
              </a:custGeom>
              <a:solidFill>
                <a:srgbClr val="FFFFFF"/>
              </a:solidFill>
            </p:spPr>
          </p:sp>
          <p:sp>
            <p:nvSpPr>
              <p:cNvPr name="TextBox 7" id="7"/>
              <p:cNvSpPr txBox="true"/>
              <p:nvPr/>
            </p:nvSpPr>
            <p:spPr>
              <a:xfrm>
                <a:off x="0" y="66675"/>
                <a:ext cx="4948243" cy="1111583"/>
              </a:xfrm>
              <a:prstGeom prst="rect">
                <a:avLst/>
              </a:prstGeom>
            </p:spPr>
            <p:txBody>
              <a:bodyPr anchor="ctr" rtlCol="false" tIns="50800" lIns="50800" bIns="50800" rIns="50800"/>
              <a:lstStyle/>
              <a:p>
                <a:pPr algn="ctr">
                  <a:lnSpc>
                    <a:spcPts val="1966"/>
                  </a:lnSpc>
                </a:pPr>
              </a:p>
            </p:txBody>
          </p:sp>
        </p:grpSp>
        <p:sp>
          <p:nvSpPr>
            <p:cNvPr name="TextBox 8" id="8"/>
            <p:cNvSpPr txBox="true"/>
            <p:nvPr/>
          </p:nvSpPr>
          <p:spPr>
            <a:xfrm rot="0">
              <a:off x="691747" y="3576890"/>
              <a:ext cx="16783972" cy="5372762"/>
            </a:xfrm>
            <a:prstGeom prst="rect">
              <a:avLst/>
            </a:prstGeom>
          </p:spPr>
          <p:txBody>
            <a:bodyPr anchor="t" rtlCol="false" tIns="0" lIns="0" bIns="0" rIns="0">
              <a:spAutoFit/>
            </a:bodyPr>
            <a:lstStyle/>
            <a:p>
              <a:pPr algn="l" marL="0" indent="0" lvl="0">
                <a:lnSpc>
                  <a:spcPts val="9744"/>
                </a:lnSpc>
              </a:pPr>
              <a:r>
                <a:rPr lang="en-US" sz="11883">
                  <a:solidFill>
                    <a:srgbClr val="000000"/>
                  </a:solidFill>
                  <a:latin typeface="Poppins Light"/>
                  <a:ea typeface="Poppins Light"/>
                  <a:cs typeface="Poppins Light"/>
                  <a:sym typeface="Poppins Light"/>
                </a:rPr>
                <a:t>Profiling Dataset</a:t>
              </a:r>
            </a:p>
            <a:p>
              <a:pPr algn="l" marL="0" indent="0" lvl="0">
                <a:lnSpc>
                  <a:spcPts val="9744"/>
                </a:lnSpc>
              </a:pPr>
              <a:r>
                <a:rPr lang="en-US" sz="11883">
                  <a:solidFill>
                    <a:srgbClr val="000000"/>
                  </a:solidFill>
                  <a:latin typeface="Poppins Light"/>
                  <a:ea typeface="Poppins Light"/>
                  <a:cs typeface="Poppins Light"/>
                  <a:sym typeface="Poppins Light"/>
                </a:rPr>
                <a:t>Time-Series &amp;</a:t>
              </a:r>
            </a:p>
            <a:p>
              <a:pPr algn="l" marL="0" indent="0" lvl="0">
                <a:lnSpc>
                  <a:spcPts val="9744"/>
                </a:lnSpc>
              </a:pPr>
              <a:r>
                <a:rPr lang="en-US" sz="11883">
                  <a:solidFill>
                    <a:srgbClr val="000000"/>
                  </a:solidFill>
                  <a:latin typeface="Poppins Light"/>
                  <a:ea typeface="Poppins Light"/>
                  <a:cs typeface="Poppins Light"/>
                  <a:sym typeface="Poppins Light"/>
                </a:rPr>
                <a:t>Non-Time-Series</a:t>
              </a:r>
            </a:p>
          </p:txBody>
        </p:sp>
        <p:sp>
          <p:nvSpPr>
            <p:cNvPr name="TextBox 9" id="9"/>
            <p:cNvSpPr txBox="true"/>
            <p:nvPr/>
          </p:nvSpPr>
          <p:spPr>
            <a:xfrm rot="0">
              <a:off x="2672646" y="1686808"/>
              <a:ext cx="5272751" cy="587405"/>
            </a:xfrm>
            <a:prstGeom prst="rect">
              <a:avLst/>
            </a:prstGeom>
          </p:spPr>
          <p:txBody>
            <a:bodyPr anchor="t" rtlCol="false" tIns="0" lIns="0" bIns="0" rIns="0">
              <a:spAutoFit/>
            </a:bodyPr>
            <a:lstStyle/>
            <a:p>
              <a:pPr algn="l" marL="0" indent="0" lvl="0">
                <a:lnSpc>
                  <a:spcPts val="1784"/>
                </a:lnSpc>
              </a:pPr>
              <a:r>
                <a:rPr lang="en-US" sz="1362">
                  <a:solidFill>
                    <a:srgbClr val="000000"/>
                  </a:solidFill>
                  <a:latin typeface="Poppins Light"/>
                  <a:ea typeface="Poppins Light"/>
                  <a:cs typeface="Poppins Light"/>
                  <a:sym typeface="Poppins Light"/>
                </a:rPr>
                <a:t>Sebastian Abe Santoso</a:t>
              </a:r>
            </a:p>
            <a:p>
              <a:pPr algn="l" marL="0" indent="0" lvl="0">
                <a:lnSpc>
                  <a:spcPts val="1784"/>
                </a:lnSpc>
              </a:pPr>
              <a:r>
                <a:rPr lang="en-US" sz="1362">
                  <a:solidFill>
                    <a:srgbClr val="000000"/>
                  </a:solidFill>
                  <a:latin typeface="Poppins Light"/>
                  <a:ea typeface="Poppins Light"/>
                  <a:cs typeface="Poppins Light"/>
                  <a:sym typeface="Poppins Light"/>
                </a:rPr>
                <a:t>NIM 2410817210002</a:t>
              </a:r>
            </a:p>
          </p:txBody>
        </p:sp>
        <p:sp>
          <p:nvSpPr>
            <p:cNvPr name="Freeform 10" id="10"/>
            <p:cNvSpPr/>
            <p:nvPr/>
          </p:nvSpPr>
          <p:spPr>
            <a:xfrm flipH="false" flipV="false" rot="0">
              <a:off x="1371600" y="1098463"/>
              <a:ext cx="881314" cy="616920"/>
            </a:xfrm>
            <a:custGeom>
              <a:avLst/>
              <a:gdLst/>
              <a:ahLst/>
              <a:cxnLst/>
              <a:rect r="r" b="b" t="t" l="l"/>
              <a:pathLst>
                <a:path h="616920" w="881314">
                  <a:moveTo>
                    <a:pt x="0" y="0"/>
                  </a:moveTo>
                  <a:lnTo>
                    <a:pt x="881314" y="0"/>
                  </a:lnTo>
                  <a:lnTo>
                    <a:pt x="881314" y="616920"/>
                  </a:lnTo>
                  <a:lnTo>
                    <a:pt x="0" y="61692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21638514" y="0"/>
              <a:ext cx="2745486" cy="5486400"/>
            </a:xfrm>
            <a:custGeom>
              <a:avLst/>
              <a:gdLst/>
              <a:ahLst/>
              <a:cxnLst/>
              <a:rect r="r" b="b" t="t" l="l"/>
              <a:pathLst>
                <a:path h="5486400" w="2745486">
                  <a:moveTo>
                    <a:pt x="0" y="0"/>
                  </a:moveTo>
                  <a:lnTo>
                    <a:pt x="2745486" y="0"/>
                  </a:lnTo>
                  <a:lnTo>
                    <a:pt x="2745486" y="5486400"/>
                  </a:lnTo>
                  <a:lnTo>
                    <a:pt x="0" y="54864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7025234" y="1912845"/>
              <a:ext cx="9890310" cy="9890310"/>
            </a:xfrm>
            <a:custGeom>
              <a:avLst/>
              <a:gdLst/>
              <a:ahLst/>
              <a:cxnLst/>
              <a:rect r="r" b="b" t="t" l="l"/>
              <a:pathLst>
                <a:path h="9890310" w="9890310">
                  <a:moveTo>
                    <a:pt x="0" y="0"/>
                  </a:moveTo>
                  <a:lnTo>
                    <a:pt x="9890310" y="0"/>
                  </a:lnTo>
                  <a:lnTo>
                    <a:pt x="9890310" y="9890310"/>
                  </a:lnTo>
                  <a:lnTo>
                    <a:pt x="0" y="9890310"/>
                  </a:lnTo>
                  <a:lnTo>
                    <a:pt x="0" y="0"/>
                  </a:lnTo>
                  <a:close/>
                </a:path>
              </a:pathLst>
            </a:custGeom>
            <a:blipFill>
              <a:blip r:embed="rId3">
                <a:alphaModFix amt="18000"/>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2672646" y="1195959"/>
              <a:ext cx="5045256" cy="417848"/>
            </a:xfrm>
            <a:prstGeom prst="rect">
              <a:avLst/>
            </a:prstGeom>
          </p:spPr>
          <p:txBody>
            <a:bodyPr anchor="t" rtlCol="false" tIns="0" lIns="0" bIns="0" rIns="0">
              <a:spAutoFit/>
            </a:bodyPr>
            <a:lstStyle/>
            <a:p>
              <a:pPr algn="l" marL="0" indent="0" lvl="0">
                <a:lnSpc>
                  <a:spcPts val="1966"/>
                </a:lnSpc>
              </a:pPr>
              <a:r>
                <a:rPr lang="en-US" sz="2398">
                  <a:solidFill>
                    <a:srgbClr val="000000"/>
                  </a:solidFill>
                  <a:latin typeface="Poppins Light"/>
                  <a:ea typeface="Poppins Light"/>
                  <a:cs typeface="Poppins Light"/>
                  <a:sym typeface="Poppins Light"/>
                </a:rPr>
                <a:t>Data Analitik</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34990" y="-8276169"/>
            <a:ext cx="20186658" cy="8852366"/>
            <a:chOff x="0" y="0"/>
            <a:chExt cx="26915544" cy="11803155"/>
          </a:xfrm>
        </p:grpSpPr>
        <p:grpSp>
          <p:nvGrpSpPr>
            <p:cNvPr name="Group 3" id="3"/>
            <p:cNvGrpSpPr/>
            <p:nvPr/>
          </p:nvGrpSpPr>
          <p:grpSpPr>
            <a:xfrm rot="0">
              <a:off x="0" y="5831990"/>
              <a:ext cx="25050481" cy="5964933"/>
              <a:chOff x="0" y="0"/>
              <a:chExt cx="4948243" cy="1178258"/>
            </a:xfrm>
          </p:grpSpPr>
          <p:sp>
            <p:nvSpPr>
              <p:cNvPr name="Freeform 4" id="4"/>
              <p:cNvSpPr/>
              <p:nvPr/>
            </p:nvSpPr>
            <p:spPr>
              <a:xfrm flipH="false" flipV="false" rot="0">
                <a:off x="0" y="0"/>
                <a:ext cx="4948243" cy="1178258"/>
              </a:xfrm>
              <a:custGeom>
                <a:avLst/>
                <a:gdLst/>
                <a:ahLst/>
                <a:cxnLst/>
                <a:rect r="r" b="b" t="t" l="l"/>
                <a:pathLst>
                  <a:path h="1178258" w="4948243">
                    <a:moveTo>
                      <a:pt x="0" y="0"/>
                    </a:moveTo>
                    <a:lnTo>
                      <a:pt x="4948243" y="0"/>
                    </a:lnTo>
                    <a:lnTo>
                      <a:pt x="4948243" y="1178258"/>
                    </a:lnTo>
                    <a:lnTo>
                      <a:pt x="0" y="1178258"/>
                    </a:lnTo>
                    <a:close/>
                  </a:path>
                </a:pathLst>
              </a:custGeom>
              <a:solidFill>
                <a:srgbClr val="FFFFFF"/>
              </a:solidFill>
            </p:spPr>
          </p:sp>
          <p:sp>
            <p:nvSpPr>
              <p:cNvPr name="TextBox 5" id="5"/>
              <p:cNvSpPr txBox="true"/>
              <p:nvPr/>
            </p:nvSpPr>
            <p:spPr>
              <a:xfrm>
                <a:off x="0" y="66675"/>
                <a:ext cx="4948243" cy="1111583"/>
              </a:xfrm>
              <a:prstGeom prst="rect">
                <a:avLst/>
              </a:prstGeom>
            </p:spPr>
            <p:txBody>
              <a:bodyPr anchor="ctr" rtlCol="false" tIns="50800" lIns="50800" bIns="50800" rIns="50800"/>
              <a:lstStyle/>
              <a:p>
                <a:pPr algn="ctr">
                  <a:lnSpc>
                    <a:spcPts val="1966"/>
                  </a:lnSpc>
                </a:pPr>
              </a:p>
            </p:txBody>
          </p:sp>
        </p:grpSp>
        <p:sp>
          <p:nvSpPr>
            <p:cNvPr name="TextBox 6" id="6"/>
            <p:cNvSpPr txBox="true"/>
            <p:nvPr/>
          </p:nvSpPr>
          <p:spPr>
            <a:xfrm rot="0">
              <a:off x="691747" y="3576890"/>
              <a:ext cx="16783972" cy="5372762"/>
            </a:xfrm>
            <a:prstGeom prst="rect">
              <a:avLst/>
            </a:prstGeom>
          </p:spPr>
          <p:txBody>
            <a:bodyPr anchor="t" rtlCol="false" tIns="0" lIns="0" bIns="0" rIns="0">
              <a:spAutoFit/>
            </a:bodyPr>
            <a:lstStyle/>
            <a:p>
              <a:pPr algn="l" marL="0" indent="0" lvl="0">
                <a:lnSpc>
                  <a:spcPts val="9744"/>
                </a:lnSpc>
              </a:pPr>
              <a:r>
                <a:rPr lang="en-US" sz="11883">
                  <a:solidFill>
                    <a:srgbClr val="000000"/>
                  </a:solidFill>
                  <a:latin typeface="Poppins Light"/>
                  <a:ea typeface="Poppins Light"/>
                  <a:cs typeface="Poppins Light"/>
                  <a:sym typeface="Poppins Light"/>
                </a:rPr>
                <a:t>Profiling Dataset</a:t>
              </a:r>
            </a:p>
            <a:p>
              <a:pPr algn="l" marL="0" indent="0" lvl="0">
                <a:lnSpc>
                  <a:spcPts val="9744"/>
                </a:lnSpc>
              </a:pPr>
              <a:r>
                <a:rPr lang="en-US" sz="11883">
                  <a:solidFill>
                    <a:srgbClr val="000000"/>
                  </a:solidFill>
                  <a:latin typeface="Poppins Light"/>
                  <a:ea typeface="Poppins Light"/>
                  <a:cs typeface="Poppins Light"/>
                  <a:sym typeface="Poppins Light"/>
                </a:rPr>
                <a:t>Time-Series &amp;</a:t>
              </a:r>
            </a:p>
            <a:p>
              <a:pPr algn="l" marL="0" indent="0" lvl="0">
                <a:lnSpc>
                  <a:spcPts val="9744"/>
                </a:lnSpc>
              </a:pPr>
              <a:r>
                <a:rPr lang="en-US" sz="11883">
                  <a:solidFill>
                    <a:srgbClr val="000000"/>
                  </a:solidFill>
                  <a:latin typeface="Poppins Light"/>
                  <a:ea typeface="Poppins Light"/>
                  <a:cs typeface="Poppins Light"/>
                  <a:sym typeface="Poppins Light"/>
                </a:rPr>
                <a:t>Non-Time-Series</a:t>
              </a:r>
            </a:p>
          </p:txBody>
        </p:sp>
        <p:sp>
          <p:nvSpPr>
            <p:cNvPr name="TextBox 7" id="7"/>
            <p:cNvSpPr txBox="true"/>
            <p:nvPr/>
          </p:nvSpPr>
          <p:spPr>
            <a:xfrm rot="0">
              <a:off x="2672646" y="1686808"/>
              <a:ext cx="5272751" cy="587405"/>
            </a:xfrm>
            <a:prstGeom prst="rect">
              <a:avLst/>
            </a:prstGeom>
          </p:spPr>
          <p:txBody>
            <a:bodyPr anchor="t" rtlCol="false" tIns="0" lIns="0" bIns="0" rIns="0">
              <a:spAutoFit/>
            </a:bodyPr>
            <a:lstStyle/>
            <a:p>
              <a:pPr algn="l" marL="0" indent="0" lvl="0">
                <a:lnSpc>
                  <a:spcPts val="1784"/>
                </a:lnSpc>
              </a:pPr>
              <a:r>
                <a:rPr lang="en-US" sz="1362">
                  <a:solidFill>
                    <a:srgbClr val="000000"/>
                  </a:solidFill>
                  <a:latin typeface="Poppins Light"/>
                  <a:ea typeface="Poppins Light"/>
                  <a:cs typeface="Poppins Light"/>
                  <a:sym typeface="Poppins Light"/>
                </a:rPr>
                <a:t>Sebastian Abe Santoso</a:t>
              </a:r>
            </a:p>
            <a:p>
              <a:pPr algn="l" marL="0" indent="0" lvl="0">
                <a:lnSpc>
                  <a:spcPts val="1784"/>
                </a:lnSpc>
              </a:pPr>
              <a:r>
                <a:rPr lang="en-US" sz="1362">
                  <a:solidFill>
                    <a:srgbClr val="000000"/>
                  </a:solidFill>
                  <a:latin typeface="Poppins Light"/>
                  <a:ea typeface="Poppins Light"/>
                  <a:cs typeface="Poppins Light"/>
                  <a:sym typeface="Poppins Light"/>
                </a:rPr>
                <a:t>NIM 2410817210002</a:t>
              </a:r>
            </a:p>
          </p:txBody>
        </p:sp>
        <p:sp>
          <p:nvSpPr>
            <p:cNvPr name="Freeform 8" id="8"/>
            <p:cNvSpPr/>
            <p:nvPr/>
          </p:nvSpPr>
          <p:spPr>
            <a:xfrm flipH="false" flipV="false" rot="0">
              <a:off x="1371600" y="1098463"/>
              <a:ext cx="881314" cy="616920"/>
            </a:xfrm>
            <a:custGeom>
              <a:avLst/>
              <a:gdLst/>
              <a:ahLst/>
              <a:cxnLst/>
              <a:rect r="r" b="b" t="t" l="l"/>
              <a:pathLst>
                <a:path h="616920" w="881314">
                  <a:moveTo>
                    <a:pt x="0" y="0"/>
                  </a:moveTo>
                  <a:lnTo>
                    <a:pt x="881314" y="0"/>
                  </a:lnTo>
                  <a:lnTo>
                    <a:pt x="881314" y="616920"/>
                  </a:lnTo>
                  <a:lnTo>
                    <a:pt x="0" y="6169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638514" y="0"/>
              <a:ext cx="2745486" cy="5486400"/>
            </a:xfrm>
            <a:custGeom>
              <a:avLst/>
              <a:gdLst/>
              <a:ahLst/>
              <a:cxnLst/>
              <a:rect r="r" b="b" t="t" l="l"/>
              <a:pathLst>
                <a:path h="5486400" w="2745486">
                  <a:moveTo>
                    <a:pt x="0" y="0"/>
                  </a:moveTo>
                  <a:lnTo>
                    <a:pt x="2745486" y="0"/>
                  </a:lnTo>
                  <a:lnTo>
                    <a:pt x="2745486" y="5486400"/>
                  </a:lnTo>
                  <a:lnTo>
                    <a:pt x="0" y="5486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7025234" y="1912845"/>
              <a:ext cx="9890310" cy="9890310"/>
            </a:xfrm>
            <a:custGeom>
              <a:avLst/>
              <a:gdLst/>
              <a:ahLst/>
              <a:cxnLst/>
              <a:rect r="r" b="b" t="t" l="l"/>
              <a:pathLst>
                <a:path h="9890310" w="9890310">
                  <a:moveTo>
                    <a:pt x="0" y="0"/>
                  </a:moveTo>
                  <a:lnTo>
                    <a:pt x="9890310" y="0"/>
                  </a:lnTo>
                  <a:lnTo>
                    <a:pt x="9890310" y="9890310"/>
                  </a:lnTo>
                  <a:lnTo>
                    <a:pt x="0" y="9890310"/>
                  </a:lnTo>
                  <a:lnTo>
                    <a:pt x="0" y="0"/>
                  </a:lnTo>
                  <a:close/>
                </a:path>
              </a:pathLst>
            </a:custGeom>
            <a:blipFill>
              <a:blip r:embed="rId6">
                <a:alphaModFix amt="18000"/>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2672646" y="1195959"/>
              <a:ext cx="5045256" cy="417848"/>
            </a:xfrm>
            <a:prstGeom prst="rect">
              <a:avLst/>
            </a:prstGeom>
          </p:spPr>
          <p:txBody>
            <a:bodyPr anchor="t" rtlCol="false" tIns="0" lIns="0" bIns="0" rIns="0">
              <a:spAutoFit/>
            </a:bodyPr>
            <a:lstStyle/>
            <a:p>
              <a:pPr algn="l" marL="0" indent="0" lvl="0">
                <a:lnSpc>
                  <a:spcPts val="1966"/>
                </a:lnSpc>
              </a:pPr>
              <a:r>
                <a:rPr lang="en-US" sz="2398">
                  <a:solidFill>
                    <a:srgbClr val="000000"/>
                  </a:solidFill>
                  <a:latin typeface="Poppins Light"/>
                  <a:ea typeface="Poppins Light"/>
                  <a:cs typeface="Poppins Light"/>
                  <a:sym typeface="Poppins Light"/>
                </a:rPr>
                <a:t>Data Analitik</a:t>
              </a:r>
            </a:p>
          </p:txBody>
        </p:sp>
      </p:grpSp>
      <p:sp>
        <p:nvSpPr>
          <p:cNvPr name="Freeform 12" id="12"/>
          <p:cNvSpPr/>
          <p:nvPr/>
        </p:nvSpPr>
        <p:spPr>
          <a:xfrm flipH="false" flipV="false" rot="0">
            <a:off x="-129433996" y="-24219237"/>
            <a:ext cx="219911559" cy="62537350"/>
          </a:xfrm>
          <a:custGeom>
            <a:avLst/>
            <a:gdLst/>
            <a:ahLst/>
            <a:cxnLst/>
            <a:rect r="r" b="b" t="t" l="l"/>
            <a:pathLst>
              <a:path h="62537350" w="219911559">
                <a:moveTo>
                  <a:pt x="0" y="0"/>
                </a:moveTo>
                <a:lnTo>
                  <a:pt x="219911559" y="0"/>
                </a:lnTo>
                <a:lnTo>
                  <a:pt x="219911559" y="62537350"/>
                </a:lnTo>
                <a:lnTo>
                  <a:pt x="0" y="62537350"/>
                </a:lnTo>
                <a:lnTo>
                  <a:pt x="0" y="0"/>
                </a:lnTo>
                <a:close/>
              </a:path>
            </a:pathLst>
          </a:custGeom>
          <a:blipFill>
            <a:blip r:embed="rId8"/>
            <a:stretch>
              <a:fillRect l="0" t="0" r="0" b="0"/>
            </a:stretch>
          </a:blipFill>
        </p:spPr>
      </p:sp>
      <p:grpSp>
        <p:nvGrpSpPr>
          <p:cNvPr name="Group 13" id="13"/>
          <p:cNvGrpSpPr/>
          <p:nvPr/>
        </p:nvGrpSpPr>
        <p:grpSpPr>
          <a:xfrm rot="0">
            <a:off x="10964610" y="9399997"/>
            <a:ext cx="7867824" cy="6244946"/>
            <a:chOff x="0" y="0"/>
            <a:chExt cx="2072184" cy="1644760"/>
          </a:xfrm>
        </p:grpSpPr>
        <p:sp>
          <p:nvSpPr>
            <p:cNvPr name="Freeform 14" id="14"/>
            <p:cNvSpPr/>
            <p:nvPr/>
          </p:nvSpPr>
          <p:spPr>
            <a:xfrm flipH="false" flipV="false" rot="0">
              <a:off x="0" y="0"/>
              <a:ext cx="2072184" cy="1644759"/>
            </a:xfrm>
            <a:custGeom>
              <a:avLst/>
              <a:gdLst/>
              <a:ahLst/>
              <a:cxnLst/>
              <a:rect r="r" b="b" t="t" l="l"/>
              <a:pathLst>
                <a:path h="1644759" w="2072184">
                  <a:moveTo>
                    <a:pt x="0" y="0"/>
                  </a:moveTo>
                  <a:lnTo>
                    <a:pt x="2072184" y="0"/>
                  </a:lnTo>
                  <a:lnTo>
                    <a:pt x="2072184" y="1644759"/>
                  </a:lnTo>
                  <a:lnTo>
                    <a:pt x="0" y="1644759"/>
                  </a:lnTo>
                  <a:close/>
                </a:path>
              </a:pathLst>
            </a:custGeom>
            <a:solidFill>
              <a:srgbClr val="FFFFFF"/>
            </a:solidFill>
          </p:spPr>
        </p:sp>
        <p:sp>
          <p:nvSpPr>
            <p:cNvPr name="TextBox 15" id="15"/>
            <p:cNvSpPr txBox="true"/>
            <p:nvPr/>
          </p:nvSpPr>
          <p:spPr>
            <a:xfrm>
              <a:off x="0" y="66675"/>
              <a:ext cx="2072184" cy="1578085"/>
            </a:xfrm>
            <a:prstGeom prst="rect">
              <a:avLst/>
            </a:prstGeom>
          </p:spPr>
          <p:txBody>
            <a:bodyPr anchor="ctr" rtlCol="false" tIns="50800" lIns="50800" bIns="50800" rIns="50800"/>
            <a:lstStyle/>
            <a:p>
              <a:pPr algn="ctr">
                <a:lnSpc>
                  <a:spcPts val="1966"/>
                </a:lnSpc>
              </a:pPr>
            </a:p>
          </p:txBody>
        </p:sp>
      </p:grpSp>
      <p:grpSp>
        <p:nvGrpSpPr>
          <p:cNvPr name="Group 16" id="16"/>
          <p:cNvGrpSpPr/>
          <p:nvPr/>
        </p:nvGrpSpPr>
        <p:grpSpPr>
          <a:xfrm rot="0">
            <a:off x="10420176" y="0"/>
            <a:ext cx="7867824" cy="4910935"/>
            <a:chOff x="0" y="0"/>
            <a:chExt cx="2072184" cy="1293415"/>
          </a:xfrm>
        </p:grpSpPr>
        <p:sp>
          <p:nvSpPr>
            <p:cNvPr name="Freeform 17" id="17"/>
            <p:cNvSpPr/>
            <p:nvPr/>
          </p:nvSpPr>
          <p:spPr>
            <a:xfrm flipH="false" flipV="false" rot="0">
              <a:off x="0" y="0"/>
              <a:ext cx="2072184" cy="1293415"/>
            </a:xfrm>
            <a:custGeom>
              <a:avLst/>
              <a:gdLst/>
              <a:ahLst/>
              <a:cxnLst/>
              <a:rect r="r" b="b" t="t" l="l"/>
              <a:pathLst>
                <a:path h="1293415" w="2072184">
                  <a:moveTo>
                    <a:pt x="0" y="0"/>
                  </a:moveTo>
                  <a:lnTo>
                    <a:pt x="2072184" y="0"/>
                  </a:lnTo>
                  <a:lnTo>
                    <a:pt x="2072184" y="1293415"/>
                  </a:lnTo>
                  <a:lnTo>
                    <a:pt x="0" y="1293415"/>
                  </a:lnTo>
                  <a:close/>
                </a:path>
              </a:pathLst>
            </a:custGeom>
            <a:solidFill>
              <a:srgbClr val="FFFFFF"/>
            </a:solidFill>
          </p:spPr>
        </p:sp>
        <p:sp>
          <p:nvSpPr>
            <p:cNvPr name="TextBox 18" id="18"/>
            <p:cNvSpPr txBox="true"/>
            <p:nvPr/>
          </p:nvSpPr>
          <p:spPr>
            <a:xfrm>
              <a:off x="0" y="66675"/>
              <a:ext cx="2072184" cy="1226740"/>
            </a:xfrm>
            <a:prstGeom prst="rect">
              <a:avLst/>
            </a:prstGeom>
          </p:spPr>
          <p:txBody>
            <a:bodyPr anchor="ctr" rtlCol="false" tIns="50800" lIns="50800" bIns="50800" rIns="50800"/>
            <a:lstStyle/>
            <a:p>
              <a:pPr algn="ctr">
                <a:lnSpc>
                  <a:spcPts val="1966"/>
                </a:lnSpc>
              </a:pPr>
            </a:p>
          </p:txBody>
        </p:sp>
      </p:grpSp>
      <p:grpSp>
        <p:nvGrpSpPr>
          <p:cNvPr name="Group 19" id="19"/>
          <p:cNvGrpSpPr/>
          <p:nvPr/>
        </p:nvGrpSpPr>
        <p:grpSpPr>
          <a:xfrm rot="0">
            <a:off x="9829887" y="0"/>
            <a:ext cx="2843541" cy="10287000"/>
            <a:chOff x="0" y="0"/>
            <a:chExt cx="748916" cy="2709333"/>
          </a:xfrm>
        </p:grpSpPr>
        <p:sp>
          <p:nvSpPr>
            <p:cNvPr name="Freeform 20" id="20"/>
            <p:cNvSpPr/>
            <p:nvPr/>
          </p:nvSpPr>
          <p:spPr>
            <a:xfrm flipH="false" flipV="false" rot="0">
              <a:off x="0" y="0"/>
              <a:ext cx="748916" cy="2709333"/>
            </a:xfrm>
            <a:custGeom>
              <a:avLst/>
              <a:gdLst/>
              <a:ahLst/>
              <a:cxnLst/>
              <a:rect r="r" b="b" t="t" l="l"/>
              <a:pathLst>
                <a:path h="2709333" w="748916">
                  <a:moveTo>
                    <a:pt x="0" y="0"/>
                  </a:moveTo>
                  <a:lnTo>
                    <a:pt x="748916" y="0"/>
                  </a:lnTo>
                  <a:lnTo>
                    <a:pt x="748916" y="2709333"/>
                  </a:lnTo>
                  <a:lnTo>
                    <a:pt x="0" y="2709333"/>
                  </a:lnTo>
                  <a:close/>
                </a:path>
              </a:pathLst>
            </a:custGeom>
            <a:solidFill>
              <a:srgbClr val="FFFFFF"/>
            </a:solidFill>
          </p:spPr>
        </p:sp>
        <p:sp>
          <p:nvSpPr>
            <p:cNvPr name="TextBox 21" id="21"/>
            <p:cNvSpPr txBox="true"/>
            <p:nvPr/>
          </p:nvSpPr>
          <p:spPr>
            <a:xfrm>
              <a:off x="0" y="66675"/>
              <a:ext cx="748916" cy="2642658"/>
            </a:xfrm>
            <a:prstGeom prst="rect">
              <a:avLst/>
            </a:prstGeom>
          </p:spPr>
          <p:txBody>
            <a:bodyPr anchor="ctr" rtlCol="false" tIns="50800" lIns="50800" bIns="50800" rIns="50800"/>
            <a:lstStyle/>
            <a:p>
              <a:pPr algn="ctr">
                <a:lnSpc>
                  <a:spcPts val="1966"/>
                </a:lnSpc>
              </a:pPr>
            </a:p>
          </p:txBody>
        </p:sp>
      </p:grpSp>
      <p:grpSp>
        <p:nvGrpSpPr>
          <p:cNvPr name="Group 22" id="22"/>
          <p:cNvGrpSpPr/>
          <p:nvPr/>
        </p:nvGrpSpPr>
        <p:grpSpPr>
          <a:xfrm rot="0">
            <a:off x="0" y="0"/>
            <a:ext cx="9829887" cy="10287000"/>
            <a:chOff x="0" y="0"/>
            <a:chExt cx="2588941" cy="2709333"/>
          </a:xfrm>
        </p:grpSpPr>
        <p:sp>
          <p:nvSpPr>
            <p:cNvPr name="Freeform 23" id="23"/>
            <p:cNvSpPr/>
            <p:nvPr/>
          </p:nvSpPr>
          <p:spPr>
            <a:xfrm flipH="false" flipV="false" rot="0">
              <a:off x="0" y="0"/>
              <a:ext cx="2588941" cy="2709333"/>
            </a:xfrm>
            <a:custGeom>
              <a:avLst/>
              <a:gdLst/>
              <a:ahLst/>
              <a:cxnLst/>
              <a:rect r="r" b="b" t="t" l="l"/>
              <a:pathLst>
                <a:path h="2709333" w="2588941">
                  <a:moveTo>
                    <a:pt x="0" y="0"/>
                  </a:moveTo>
                  <a:lnTo>
                    <a:pt x="2588941" y="0"/>
                  </a:lnTo>
                  <a:lnTo>
                    <a:pt x="2588941" y="2709333"/>
                  </a:lnTo>
                  <a:lnTo>
                    <a:pt x="0" y="2709333"/>
                  </a:lnTo>
                  <a:close/>
                </a:path>
              </a:pathLst>
            </a:custGeom>
            <a:solidFill>
              <a:srgbClr val="FFFFFF"/>
            </a:solidFill>
          </p:spPr>
        </p:sp>
        <p:sp>
          <p:nvSpPr>
            <p:cNvPr name="TextBox 24" id="24"/>
            <p:cNvSpPr txBox="true"/>
            <p:nvPr/>
          </p:nvSpPr>
          <p:spPr>
            <a:xfrm>
              <a:off x="0" y="66675"/>
              <a:ext cx="2588941" cy="2642658"/>
            </a:xfrm>
            <a:prstGeom prst="rect">
              <a:avLst/>
            </a:prstGeom>
          </p:spPr>
          <p:txBody>
            <a:bodyPr anchor="ctr" rtlCol="false" tIns="50800" lIns="50800" bIns="50800" rIns="50800"/>
            <a:lstStyle/>
            <a:p>
              <a:pPr algn="ctr">
                <a:lnSpc>
                  <a:spcPts val="1966"/>
                </a:lnSpc>
              </a:pPr>
            </a:p>
          </p:txBody>
        </p:sp>
      </p:grpSp>
      <p:sp>
        <p:nvSpPr>
          <p:cNvPr name="Freeform 25" id="25"/>
          <p:cNvSpPr/>
          <p:nvPr/>
        </p:nvSpPr>
        <p:spPr>
          <a:xfrm flipH="false" flipV="false" rot="0">
            <a:off x="-2105443" y="-2025655"/>
            <a:ext cx="7417732" cy="7417732"/>
          </a:xfrm>
          <a:custGeom>
            <a:avLst/>
            <a:gdLst/>
            <a:ahLst/>
            <a:cxnLst/>
            <a:rect r="r" b="b" t="t" l="l"/>
            <a:pathLst>
              <a:path h="7417732" w="7417732">
                <a:moveTo>
                  <a:pt x="0" y="0"/>
                </a:moveTo>
                <a:lnTo>
                  <a:pt x="7417732" y="0"/>
                </a:lnTo>
                <a:lnTo>
                  <a:pt x="7417732" y="7417733"/>
                </a:lnTo>
                <a:lnTo>
                  <a:pt x="0" y="7417733"/>
                </a:lnTo>
                <a:lnTo>
                  <a:pt x="0" y="0"/>
                </a:lnTo>
                <a:close/>
              </a:path>
            </a:pathLst>
          </a:custGeom>
          <a:blipFill>
            <a:blip r:embed="rId6">
              <a:alphaModFix amt="5000"/>
              <a:extLst>
                <a:ext uri="{96DAC541-7B7A-43D3-8B79-37D633B846F1}">
                  <asvg:svgBlip xmlns:asvg="http://schemas.microsoft.com/office/drawing/2016/SVG/main" r:embed="rId7"/>
                </a:ext>
              </a:extLst>
            </a:blip>
            <a:stretch>
              <a:fillRect l="0" t="0" r="0" b="0"/>
            </a:stretch>
          </a:blipFill>
        </p:spPr>
      </p:sp>
      <p:grpSp>
        <p:nvGrpSpPr>
          <p:cNvPr name="Group 26" id="26"/>
          <p:cNvGrpSpPr/>
          <p:nvPr/>
        </p:nvGrpSpPr>
        <p:grpSpPr>
          <a:xfrm rot="0">
            <a:off x="12682953" y="4889673"/>
            <a:ext cx="4431139" cy="4489062"/>
            <a:chOff x="0" y="0"/>
            <a:chExt cx="516716" cy="523470"/>
          </a:xfrm>
        </p:grpSpPr>
        <p:sp>
          <p:nvSpPr>
            <p:cNvPr name="Freeform 27" id="27"/>
            <p:cNvSpPr/>
            <p:nvPr/>
          </p:nvSpPr>
          <p:spPr>
            <a:xfrm flipH="false" flipV="false" rot="0">
              <a:off x="0" y="0"/>
              <a:ext cx="516716" cy="523470"/>
            </a:xfrm>
            <a:custGeom>
              <a:avLst/>
              <a:gdLst/>
              <a:ahLst/>
              <a:cxnLst/>
              <a:rect r="r" b="b" t="t" l="l"/>
              <a:pathLst>
                <a:path h="523470" w="516716">
                  <a:moveTo>
                    <a:pt x="0" y="0"/>
                  </a:moveTo>
                  <a:lnTo>
                    <a:pt x="516716" y="0"/>
                  </a:lnTo>
                  <a:lnTo>
                    <a:pt x="516716" y="523470"/>
                  </a:lnTo>
                  <a:lnTo>
                    <a:pt x="0" y="523470"/>
                  </a:lnTo>
                  <a:close/>
                </a:path>
              </a:pathLst>
            </a:custGeom>
            <a:solidFill>
              <a:srgbClr val="FF3131">
                <a:alpha val="23922"/>
              </a:srgbClr>
            </a:solidFill>
          </p:spPr>
        </p:sp>
        <p:sp>
          <p:nvSpPr>
            <p:cNvPr name="TextBox 28" id="28"/>
            <p:cNvSpPr txBox="true"/>
            <p:nvPr/>
          </p:nvSpPr>
          <p:spPr>
            <a:xfrm>
              <a:off x="0" y="66675"/>
              <a:ext cx="516716" cy="456795"/>
            </a:xfrm>
            <a:prstGeom prst="rect">
              <a:avLst/>
            </a:prstGeom>
          </p:spPr>
          <p:txBody>
            <a:bodyPr anchor="ctr" rtlCol="false" tIns="50800" lIns="50800" bIns="50800" rIns="50800"/>
            <a:lstStyle/>
            <a:p>
              <a:pPr algn="ctr">
                <a:lnSpc>
                  <a:spcPts val="1966"/>
                </a:lnSpc>
              </a:pPr>
            </a:p>
          </p:txBody>
        </p:sp>
      </p:grpSp>
      <p:sp>
        <p:nvSpPr>
          <p:cNvPr name="Freeform 29" id="29"/>
          <p:cNvSpPr/>
          <p:nvPr/>
        </p:nvSpPr>
        <p:spPr>
          <a:xfrm flipH="false" flipV="false" rot="0">
            <a:off x="17259300" y="0"/>
            <a:ext cx="2057400" cy="2057400"/>
          </a:xfrm>
          <a:custGeom>
            <a:avLst/>
            <a:gdLst/>
            <a:ahLst/>
            <a:cxnLst/>
            <a:rect r="r" b="b" t="t" l="l"/>
            <a:pathLst>
              <a:path h="2057400" w="2057400">
                <a:moveTo>
                  <a:pt x="0" y="0"/>
                </a:moveTo>
                <a:lnTo>
                  <a:pt x="2057400" y="0"/>
                </a:lnTo>
                <a:lnTo>
                  <a:pt x="2057400" y="2057400"/>
                </a:lnTo>
                <a:lnTo>
                  <a:pt x="0" y="20574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AutoShape 30" id="30"/>
          <p:cNvSpPr/>
          <p:nvPr/>
        </p:nvSpPr>
        <p:spPr>
          <a:xfrm>
            <a:off x="10016869" y="2932441"/>
            <a:ext cx="5510197" cy="0"/>
          </a:xfrm>
          <a:prstGeom prst="line">
            <a:avLst/>
          </a:prstGeom>
          <a:ln cap="flat" w="38100">
            <a:solidFill>
              <a:srgbClr val="FFB547"/>
            </a:solidFill>
            <a:prstDash val="solid"/>
            <a:headEnd type="none" len="sm" w="sm"/>
            <a:tailEnd type="none" len="sm" w="sm"/>
          </a:ln>
        </p:spPr>
      </p:sp>
      <p:sp>
        <p:nvSpPr>
          <p:cNvPr name="Freeform 31" id="31"/>
          <p:cNvSpPr/>
          <p:nvPr/>
        </p:nvSpPr>
        <p:spPr>
          <a:xfrm flipH="false" flipV="false" rot="0">
            <a:off x="1028700" y="989795"/>
            <a:ext cx="957340" cy="954946"/>
          </a:xfrm>
          <a:custGeom>
            <a:avLst/>
            <a:gdLst/>
            <a:ahLst/>
            <a:cxnLst/>
            <a:rect r="r" b="b" t="t" l="l"/>
            <a:pathLst>
              <a:path h="954946" w="957340">
                <a:moveTo>
                  <a:pt x="0" y="0"/>
                </a:moveTo>
                <a:lnTo>
                  <a:pt x="957340" y="0"/>
                </a:lnTo>
                <a:lnTo>
                  <a:pt x="957340" y="954946"/>
                </a:lnTo>
                <a:lnTo>
                  <a:pt x="0" y="95494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2" id="32"/>
          <p:cNvSpPr/>
          <p:nvPr/>
        </p:nvSpPr>
        <p:spPr>
          <a:xfrm flipH="false" flipV="false" rot="0">
            <a:off x="1028700" y="2207485"/>
            <a:ext cx="957340" cy="954946"/>
          </a:xfrm>
          <a:custGeom>
            <a:avLst/>
            <a:gdLst/>
            <a:ahLst/>
            <a:cxnLst/>
            <a:rect r="r" b="b" t="t" l="l"/>
            <a:pathLst>
              <a:path h="954946" w="957340">
                <a:moveTo>
                  <a:pt x="0" y="0"/>
                </a:moveTo>
                <a:lnTo>
                  <a:pt x="957340" y="0"/>
                </a:lnTo>
                <a:lnTo>
                  <a:pt x="957340" y="954946"/>
                </a:lnTo>
                <a:lnTo>
                  <a:pt x="0" y="95494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3" id="33"/>
          <p:cNvSpPr/>
          <p:nvPr/>
        </p:nvSpPr>
        <p:spPr>
          <a:xfrm flipH="false" flipV="false" rot="0">
            <a:off x="1028700" y="3429131"/>
            <a:ext cx="957340" cy="719202"/>
          </a:xfrm>
          <a:custGeom>
            <a:avLst/>
            <a:gdLst/>
            <a:ahLst/>
            <a:cxnLst/>
            <a:rect r="r" b="b" t="t" l="l"/>
            <a:pathLst>
              <a:path h="719202" w="957340">
                <a:moveTo>
                  <a:pt x="0" y="0"/>
                </a:moveTo>
                <a:lnTo>
                  <a:pt x="957340" y="0"/>
                </a:lnTo>
                <a:lnTo>
                  <a:pt x="957340" y="719202"/>
                </a:lnTo>
                <a:lnTo>
                  <a:pt x="0" y="71920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4" id="34"/>
          <p:cNvSpPr txBox="true"/>
          <p:nvPr/>
        </p:nvSpPr>
        <p:spPr>
          <a:xfrm rot="0">
            <a:off x="10016869" y="1238250"/>
            <a:ext cx="7329305" cy="1800482"/>
          </a:xfrm>
          <a:prstGeom prst="rect">
            <a:avLst/>
          </a:prstGeom>
        </p:spPr>
        <p:txBody>
          <a:bodyPr anchor="t" rtlCol="false" tIns="0" lIns="0" bIns="0" rIns="0">
            <a:spAutoFit/>
          </a:bodyPr>
          <a:lstStyle/>
          <a:p>
            <a:pPr algn="l" marL="0" indent="0" lvl="0">
              <a:lnSpc>
                <a:spcPts val="6443"/>
              </a:lnSpc>
            </a:pPr>
            <a:r>
              <a:rPr lang="en-US" sz="7858">
                <a:solidFill>
                  <a:srgbClr val="000000"/>
                </a:solidFill>
                <a:latin typeface="Poppins Light"/>
                <a:ea typeface="Poppins Light"/>
                <a:cs typeface="Poppins Light"/>
                <a:sym typeface="Poppins Light"/>
              </a:rPr>
              <a:t>Dataset 1 </a:t>
            </a:r>
          </a:p>
          <a:p>
            <a:pPr algn="l" marL="0" indent="0" lvl="0">
              <a:lnSpc>
                <a:spcPts val="6443"/>
              </a:lnSpc>
            </a:pPr>
            <a:r>
              <a:rPr lang="en-US" sz="7858">
                <a:solidFill>
                  <a:srgbClr val="000000"/>
                </a:solidFill>
                <a:latin typeface="Poppins Light"/>
                <a:ea typeface="Poppins Light"/>
                <a:cs typeface="Poppins Light"/>
                <a:sym typeface="Poppins Light"/>
              </a:rPr>
              <a:t>NASA FIRMS</a:t>
            </a:r>
          </a:p>
        </p:txBody>
      </p:sp>
      <p:sp>
        <p:nvSpPr>
          <p:cNvPr name="Freeform 35" id="35"/>
          <p:cNvSpPr/>
          <p:nvPr/>
        </p:nvSpPr>
        <p:spPr>
          <a:xfrm flipH="false" flipV="false" rot="0">
            <a:off x="11694249" y="2932441"/>
            <a:ext cx="7417732" cy="7417732"/>
          </a:xfrm>
          <a:custGeom>
            <a:avLst/>
            <a:gdLst/>
            <a:ahLst/>
            <a:cxnLst/>
            <a:rect r="r" b="b" t="t" l="l"/>
            <a:pathLst>
              <a:path h="7417732" w="7417732">
                <a:moveTo>
                  <a:pt x="0" y="0"/>
                </a:moveTo>
                <a:lnTo>
                  <a:pt x="7417733" y="0"/>
                </a:lnTo>
                <a:lnTo>
                  <a:pt x="7417733" y="7417732"/>
                </a:lnTo>
                <a:lnTo>
                  <a:pt x="0" y="7417732"/>
                </a:lnTo>
                <a:lnTo>
                  <a:pt x="0" y="0"/>
                </a:lnTo>
                <a:close/>
              </a:path>
            </a:pathLst>
          </a:custGeom>
          <a:blipFill>
            <a:blip r:embed="rId6">
              <a:alphaModFix amt="5000"/>
              <a:extLst>
                <a:ext uri="{96DAC541-7B7A-43D3-8B79-37D633B846F1}">
                  <asvg:svgBlip xmlns:asvg="http://schemas.microsoft.com/office/drawing/2016/SVG/main" r:embed="rId7"/>
                </a:ext>
              </a:extLst>
            </a:blip>
            <a:stretch>
              <a:fillRect l="0" t="0" r="0" b="0"/>
            </a:stretch>
          </a:blipFill>
        </p:spPr>
      </p:sp>
      <p:grpSp>
        <p:nvGrpSpPr>
          <p:cNvPr name="Group 36" id="36"/>
          <p:cNvGrpSpPr/>
          <p:nvPr/>
        </p:nvGrpSpPr>
        <p:grpSpPr>
          <a:xfrm rot="0">
            <a:off x="17124941" y="4011731"/>
            <a:ext cx="7867824" cy="6244946"/>
            <a:chOff x="0" y="0"/>
            <a:chExt cx="2072184" cy="1644760"/>
          </a:xfrm>
        </p:grpSpPr>
        <p:sp>
          <p:nvSpPr>
            <p:cNvPr name="Freeform 37" id="37"/>
            <p:cNvSpPr/>
            <p:nvPr/>
          </p:nvSpPr>
          <p:spPr>
            <a:xfrm flipH="false" flipV="false" rot="0">
              <a:off x="0" y="0"/>
              <a:ext cx="2072184" cy="1644759"/>
            </a:xfrm>
            <a:custGeom>
              <a:avLst/>
              <a:gdLst/>
              <a:ahLst/>
              <a:cxnLst/>
              <a:rect r="r" b="b" t="t" l="l"/>
              <a:pathLst>
                <a:path h="1644759" w="2072184">
                  <a:moveTo>
                    <a:pt x="0" y="0"/>
                  </a:moveTo>
                  <a:lnTo>
                    <a:pt x="2072184" y="0"/>
                  </a:lnTo>
                  <a:lnTo>
                    <a:pt x="2072184" y="1644759"/>
                  </a:lnTo>
                  <a:lnTo>
                    <a:pt x="0" y="1644759"/>
                  </a:lnTo>
                  <a:close/>
                </a:path>
              </a:pathLst>
            </a:custGeom>
            <a:solidFill>
              <a:srgbClr val="FFFFFF"/>
            </a:solidFill>
          </p:spPr>
        </p:sp>
        <p:sp>
          <p:nvSpPr>
            <p:cNvPr name="TextBox 38" id="38"/>
            <p:cNvSpPr txBox="true"/>
            <p:nvPr/>
          </p:nvSpPr>
          <p:spPr>
            <a:xfrm>
              <a:off x="0" y="66675"/>
              <a:ext cx="2072184" cy="1578085"/>
            </a:xfrm>
            <a:prstGeom prst="rect">
              <a:avLst/>
            </a:prstGeom>
          </p:spPr>
          <p:txBody>
            <a:bodyPr anchor="ctr" rtlCol="false" tIns="50800" lIns="50800" bIns="50800" rIns="50800"/>
            <a:lstStyle/>
            <a:p>
              <a:pPr algn="ctr">
                <a:lnSpc>
                  <a:spcPts val="1966"/>
                </a:lnSpc>
              </a:pPr>
            </a:p>
          </p:txBody>
        </p:sp>
      </p:grpSp>
      <p:sp>
        <p:nvSpPr>
          <p:cNvPr name="AutoShape 39" id="39"/>
          <p:cNvSpPr/>
          <p:nvPr/>
        </p:nvSpPr>
        <p:spPr>
          <a:xfrm>
            <a:off x="12682953" y="4910935"/>
            <a:ext cx="4441988" cy="0"/>
          </a:xfrm>
          <a:prstGeom prst="line">
            <a:avLst/>
          </a:prstGeom>
          <a:ln cap="flat" w="38100">
            <a:solidFill>
              <a:srgbClr val="FFB547"/>
            </a:solidFill>
            <a:prstDash val="solid"/>
            <a:headEnd type="none" len="sm" w="sm"/>
            <a:tailEnd type="none" len="sm" w="sm"/>
          </a:ln>
        </p:spPr>
      </p:sp>
      <p:sp>
        <p:nvSpPr>
          <p:cNvPr name="AutoShape 40" id="40"/>
          <p:cNvSpPr/>
          <p:nvPr/>
        </p:nvSpPr>
        <p:spPr>
          <a:xfrm>
            <a:off x="12673428" y="4910935"/>
            <a:ext cx="0" cy="4467801"/>
          </a:xfrm>
          <a:prstGeom prst="line">
            <a:avLst/>
          </a:prstGeom>
          <a:ln cap="flat" w="38100">
            <a:solidFill>
              <a:srgbClr val="FFB547"/>
            </a:solidFill>
            <a:prstDash val="solid"/>
            <a:headEnd type="none" len="sm" w="sm"/>
            <a:tailEnd type="none" len="sm" w="sm"/>
          </a:ln>
        </p:spPr>
      </p:sp>
      <p:sp>
        <p:nvSpPr>
          <p:cNvPr name="AutoShape 41" id="41"/>
          <p:cNvSpPr/>
          <p:nvPr/>
        </p:nvSpPr>
        <p:spPr>
          <a:xfrm flipH="true">
            <a:off x="12682953" y="9399997"/>
            <a:ext cx="4441988" cy="0"/>
          </a:xfrm>
          <a:prstGeom prst="line">
            <a:avLst/>
          </a:prstGeom>
          <a:ln cap="flat" w="38100">
            <a:solidFill>
              <a:srgbClr val="FFB547"/>
            </a:solidFill>
            <a:prstDash val="solid"/>
            <a:headEnd type="none" len="sm" w="sm"/>
            <a:tailEnd type="none" len="sm" w="sm"/>
          </a:ln>
        </p:spPr>
      </p:sp>
      <p:sp>
        <p:nvSpPr>
          <p:cNvPr name="AutoShape 42" id="42"/>
          <p:cNvSpPr/>
          <p:nvPr/>
        </p:nvSpPr>
        <p:spPr>
          <a:xfrm flipH="true" flipV="true">
            <a:off x="17124941" y="4910935"/>
            <a:ext cx="0" cy="4467801"/>
          </a:xfrm>
          <a:prstGeom prst="line">
            <a:avLst/>
          </a:prstGeom>
          <a:ln cap="flat" w="38100">
            <a:solidFill>
              <a:srgbClr val="FFB547"/>
            </a:solidFill>
            <a:prstDash val="solid"/>
            <a:headEnd type="none" len="sm" w="sm"/>
            <a:tailEnd type="none" len="sm" w="sm"/>
          </a:ln>
        </p:spPr>
      </p:sp>
      <p:graphicFrame>
        <p:nvGraphicFramePr>
          <p:cNvPr name="Object 43" id="43"/>
          <p:cNvGraphicFramePr/>
          <p:nvPr/>
        </p:nvGraphicFramePr>
        <p:xfrm>
          <a:off x="1028700" y="4413733"/>
          <a:ext cx="6172200" cy="8229600"/>
        </p:xfrm>
        <a:graphic>
          <a:graphicData uri="http://schemas.openxmlformats.org/presentationml/2006/ole">
            <p:oleObj imgW="7810500" imgH="9867900" r:id="rId18" progId="Excel.Sheet.12" name="Worksheet">
              <p:embed/>
              <p:pic>
                <p:nvPicPr>
                  <p:cNvPr name="" id="0"/>
                  <p:cNvPicPr/>
                  <p:nvPr/>
                </p:nvPicPr>
                <p:blipFill>
                  <a:blip r:embed="rId17"/>
                  <a:stretch>
                    <a:fillRect/>
                  </a:stretch>
                </p:blipFill>
                <p:spPr>
                  <a:xfrm>
                    <a:off x="1270000" y="1270000"/>
                    <a:ext cx="1270000" cy="1270000"/>
                  </a:xfrm>
                  <a:prstGeom prst="rect"/>
                </p:spPr>
              </p:pic>
            </p:oleObj>
          </a:graphicData>
        </a:graphic>
      </p:graphicFrame>
      <p:sp>
        <p:nvSpPr>
          <p:cNvPr name="TextBox 44" id="44"/>
          <p:cNvSpPr txBox="true"/>
          <p:nvPr/>
        </p:nvSpPr>
        <p:spPr>
          <a:xfrm rot="0">
            <a:off x="1028700" y="461176"/>
            <a:ext cx="3783942" cy="296718"/>
          </a:xfrm>
          <a:prstGeom prst="rect">
            <a:avLst/>
          </a:prstGeom>
        </p:spPr>
        <p:txBody>
          <a:bodyPr anchor="t" rtlCol="false" tIns="0" lIns="0" bIns="0" rIns="0">
            <a:spAutoFit/>
          </a:bodyPr>
          <a:lstStyle/>
          <a:p>
            <a:pPr algn="l" marL="0" indent="0" lvl="0">
              <a:lnSpc>
                <a:spcPts val="1966"/>
              </a:lnSpc>
            </a:pPr>
            <a:r>
              <a:rPr lang="en-US" b="true" sz="2398">
                <a:solidFill>
                  <a:srgbClr val="000000"/>
                </a:solidFill>
                <a:latin typeface="Poppins Bold"/>
                <a:ea typeface="Poppins Bold"/>
                <a:cs typeface="Poppins Bold"/>
                <a:sym typeface="Poppins Bold"/>
              </a:rPr>
              <a:t>NASA FIRMS</a:t>
            </a:r>
          </a:p>
        </p:txBody>
      </p:sp>
      <p:sp>
        <p:nvSpPr>
          <p:cNvPr name="TextBox 45" id="45"/>
          <p:cNvSpPr txBox="true"/>
          <p:nvPr/>
        </p:nvSpPr>
        <p:spPr>
          <a:xfrm rot="0">
            <a:off x="2302424" y="2178910"/>
            <a:ext cx="3080660" cy="281545"/>
          </a:xfrm>
          <a:prstGeom prst="rect">
            <a:avLst/>
          </a:prstGeom>
        </p:spPr>
        <p:txBody>
          <a:bodyPr anchor="t" rtlCol="false" tIns="0" lIns="0" bIns="0" rIns="0">
            <a:spAutoFit/>
          </a:bodyPr>
          <a:lstStyle/>
          <a:p>
            <a:pPr algn="l" marL="0" indent="0" lvl="0">
              <a:lnSpc>
                <a:spcPts val="2180"/>
              </a:lnSpc>
            </a:pPr>
            <a:r>
              <a:rPr lang="en-US" b="true" sz="1664">
                <a:solidFill>
                  <a:srgbClr val="545454"/>
                </a:solidFill>
                <a:latin typeface="Poppins Bold"/>
                <a:ea typeface="Poppins Bold"/>
                <a:cs typeface="Poppins Bold"/>
                <a:sym typeface="Poppins Bold"/>
              </a:rPr>
              <a:t>Active Fire / Anomali Termal</a:t>
            </a:r>
          </a:p>
        </p:txBody>
      </p:sp>
      <p:sp>
        <p:nvSpPr>
          <p:cNvPr name="TextBox 46" id="46"/>
          <p:cNvSpPr txBox="true"/>
          <p:nvPr/>
        </p:nvSpPr>
        <p:spPr>
          <a:xfrm rot="0">
            <a:off x="2333367" y="1380857"/>
            <a:ext cx="6224472" cy="576377"/>
          </a:xfrm>
          <a:prstGeom prst="rect">
            <a:avLst/>
          </a:prstGeom>
        </p:spPr>
        <p:txBody>
          <a:bodyPr anchor="t" rtlCol="false" tIns="0" lIns="0" bIns="0" rIns="0">
            <a:spAutoFit/>
          </a:bodyPr>
          <a:lstStyle/>
          <a:p>
            <a:pPr algn="l" marL="0" indent="0" lvl="0">
              <a:lnSpc>
                <a:spcPts val="2222"/>
              </a:lnSpc>
            </a:pPr>
            <a:r>
              <a:rPr lang="en-US" b="true" sz="1696">
                <a:solidFill>
                  <a:srgbClr val="545454"/>
                </a:solidFill>
                <a:latin typeface="Poppins Bold"/>
                <a:ea typeface="Poppins Bold"/>
                <a:cs typeface="Poppins Bold"/>
                <a:sym typeface="Poppins Bold"/>
              </a:rPr>
              <a:t>Sumber resmi: NASA FIRMS </a:t>
            </a:r>
          </a:p>
          <a:p>
            <a:pPr algn="l" marL="0" indent="0" lvl="0">
              <a:lnSpc>
                <a:spcPts val="2222"/>
              </a:lnSpc>
            </a:pPr>
            <a:r>
              <a:rPr lang="en-US" sz="1696">
                <a:solidFill>
                  <a:srgbClr val="545454"/>
                </a:solidFill>
                <a:latin typeface="Poppins Light"/>
                <a:ea typeface="Poppins Light"/>
                <a:cs typeface="Poppins Light"/>
                <a:sym typeface="Poppins Light"/>
              </a:rPr>
              <a:t>Sensor: VIIRS Suomi NPP dengan resolusi spasial 375 m.</a:t>
            </a:r>
          </a:p>
        </p:txBody>
      </p:sp>
      <p:sp>
        <p:nvSpPr>
          <p:cNvPr name="TextBox 47" id="47"/>
          <p:cNvSpPr txBox="true"/>
          <p:nvPr/>
        </p:nvSpPr>
        <p:spPr>
          <a:xfrm rot="0">
            <a:off x="2320259" y="942170"/>
            <a:ext cx="3581948" cy="419285"/>
          </a:xfrm>
          <a:prstGeom prst="rect">
            <a:avLst/>
          </a:prstGeom>
        </p:spPr>
        <p:txBody>
          <a:bodyPr anchor="t" rtlCol="false" tIns="0" lIns="0" bIns="0" rIns="0">
            <a:spAutoFit/>
          </a:bodyPr>
          <a:lstStyle/>
          <a:p>
            <a:pPr algn="l" marL="0" indent="0" lvl="0">
              <a:lnSpc>
                <a:spcPts val="3258"/>
              </a:lnSpc>
            </a:pPr>
            <a:r>
              <a:rPr lang="en-US" sz="2487">
                <a:solidFill>
                  <a:srgbClr val="2E2E72"/>
                </a:solidFill>
                <a:latin typeface="Poppins Light"/>
                <a:ea typeface="Poppins Light"/>
                <a:cs typeface="Poppins Light"/>
                <a:sym typeface="Poppins Light"/>
              </a:rPr>
              <a:t>Deskripsi Data</a:t>
            </a:r>
          </a:p>
        </p:txBody>
      </p:sp>
      <p:sp>
        <p:nvSpPr>
          <p:cNvPr name="TextBox 48" id="48"/>
          <p:cNvSpPr txBox="true"/>
          <p:nvPr/>
        </p:nvSpPr>
        <p:spPr>
          <a:xfrm rot="0">
            <a:off x="10050714" y="561194"/>
            <a:ext cx="2470161" cy="296718"/>
          </a:xfrm>
          <a:prstGeom prst="rect">
            <a:avLst/>
          </a:prstGeom>
        </p:spPr>
        <p:txBody>
          <a:bodyPr anchor="t" rtlCol="false" tIns="0" lIns="0" bIns="0" rIns="0">
            <a:spAutoFit/>
          </a:bodyPr>
          <a:lstStyle/>
          <a:p>
            <a:pPr algn="l" marL="0" indent="0" lvl="0">
              <a:lnSpc>
                <a:spcPts val="1966"/>
              </a:lnSpc>
            </a:pPr>
            <a:r>
              <a:rPr lang="en-US" sz="2398">
                <a:solidFill>
                  <a:srgbClr val="000000"/>
                </a:solidFill>
                <a:latin typeface="Poppins Light"/>
                <a:ea typeface="Poppins Light"/>
                <a:cs typeface="Poppins Light"/>
                <a:sym typeface="Poppins Light"/>
              </a:rPr>
              <a:t>Description</a:t>
            </a:r>
          </a:p>
        </p:txBody>
      </p:sp>
      <p:sp>
        <p:nvSpPr>
          <p:cNvPr name="TextBox 49" id="49"/>
          <p:cNvSpPr txBox="true"/>
          <p:nvPr/>
        </p:nvSpPr>
        <p:spPr>
          <a:xfrm rot="0">
            <a:off x="2333367" y="2421529"/>
            <a:ext cx="5830266" cy="537068"/>
          </a:xfrm>
          <a:prstGeom prst="rect">
            <a:avLst/>
          </a:prstGeom>
        </p:spPr>
        <p:txBody>
          <a:bodyPr anchor="t" rtlCol="false" tIns="0" lIns="0" bIns="0" rIns="0">
            <a:spAutoFit/>
          </a:bodyPr>
          <a:lstStyle/>
          <a:p>
            <a:pPr algn="l" marL="0" indent="0" lvl="0">
              <a:lnSpc>
                <a:spcPts val="2180"/>
              </a:lnSpc>
            </a:pPr>
            <a:r>
              <a:rPr lang="en-US" sz="1664">
                <a:solidFill>
                  <a:srgbClr val="545454"/>
                </a:solidFill>
                <a:latin typeface="Poppins Light"/>
                <a:ea typeface="Poppins Light"/>
                <a:cs typeface="Poppins Light"/>
                <a:sym typeface="Poppins Light"/>
              </a:rPr>
              <a:t>Merekam titik api aktif dan anomali termal di cakupan wilayah Pulau Borneo.</a:t>
            </a:r>
          </a:p>
        </p:txBody>
      </p:sp>
      <p:sp>
        <p:nvSpPr>
          <p:cNvPr name="TextBox 50" id="50"/>
          <p:cNvSpPr txBox="true"/>
          <p:nvPr/>
        </p:nvSpPr>
        <p:spPr>
          <a:xfrm rot="0">
            <a:off x="2333367" y="3168147"/>
            <a:ext cx="3978062" cy="281545"/>
          </a:xfrm>
          <a:prstGeom prst="rect">
            <a:avLst/>
          </a:prstGeom>
        </p:spPr>
        <p:txBody>
          <a:bodyPr anchor="t" rtlCol="false" tIns="0" lIns="0" bIns="0" rIns="0">
            <a:spAutoFit/>
          </a:bodyPr>
          <a:lstStyle/>
          <a:p>
            <a:pPr algn="l" marL="0" indent="0" lvl="0">
              <a:lnSpc>
                <a:spcPts val="2180"/>
              </a:lnSpc>
            </a:pPr>
            <a:r>
              <a:rPr lang="en-US" b="true" sz="1664">
                <a:solidFill>
                  <a:srgbClr val="545454"/>
                </a:solidFill>
                <a:latin typeface="Poppins Bold"/>
                <a:ea typeface="Poppins Bold"/>
                <a:cs typeface="Poppins Bold"/>
                <a:sym typeface="Poppins Bold"/>
              </a:rPr>
              <a:t>1.408.321 baris, 15 kolom</a:t>
            </a:r>
          </a:p>
        </p:txBody>
      </p:sp>
      <p:sp>
        <p:nvSpPr>
          <p:cNvPr name="TextBox 51" id="51"/>
          <p:cNvSpPr txBox="true"/>
          <p:nvPr/>
        </p:nvSpPr>
        <p:spPr>
          <a:xfrm rot="0">
            <a:off x="2320259" y="3477441"/>
            <a:ext cx="5830266" cy="802942"/>
          </a:xfrm>
          <a:prstGeom prst="rect">
            <a:avLst/>
          </a:prstGeom>
        </p:spPr>
        <p:txBody>
          <a:bodyPr anchor="t" rtlCol="false" tIns="0" lIns="0" bIns="0" rIns="0">
            <a:spAutoFit/>
          </a:bodyPr>
          <a:lstStyle/>
          <a:p>
            <a:pPr algn="l" marL="0" indent="0" lvl="0">
              <a:lnSpc>
                <a:spcPts val="2180"/>
              </a:lnSpc>
            </a:pPr>
            <a:r>
              <a:rPr lang="en-US" sz="1664">
                <a:solidFill>
                  <a:srgbClr val="545454"/>
                </a:solidFill>
                <a:latin typeface="Poppins Light"/>
                <a:ea typeface="Poppins Light"/>
                <a:cs typeface="Poppins Light"/>
                <a:sym typeface="Poppins Light"/>
              </a:rPr>
              <a:t>Dataset berukuran besar dengan 1.408.321 baris dan 15 kolom atribut observasi dalam rentang 20 Januari 2012 hingga 30 Juni 2026. </a:t>
            </a:r>
          </a:p>
        </p:txBody>
      </p:sp>
      <p:sp>
        <p:nvSpPr>
          <p:cNvPr name="TextBox 52" id="52"/>
          <p:cNvSpPr txBox="true"/>
          <p:nvPr/>
        </p:nvSpPr>
        <p:spPr>
          <a:xfrm rot="0">
            <a:off x="10016869" y="3129636"/>
            <a:ext cx="7108073" cy="1962785"/>
          </a:xfrm>
          <a:prstGeom prst="rect">
            <a:avLst/>
          </a:prstGeom>
        </p:spPr>
        <p:txBody>
          <a:bodyPr anchor="t" rtlCol="false" tIns="0" lIns="0" bIns="0" rIns="0">
            <a:spAutoFit/>
          </a:bodyPr>
          <a:lstStyle/>
          <a:p>
            <a:pPr algn="just" marL="0" indent="0" lvl="0">
              <a:lnSpc>
                <a:spcPts val="2620"/>
              </a:lnSpc>
            </a:pPr>
            <a:r>
              <a:rPr lang="en-US" sz="2000">
                <a:solidFill>
                  <a:srgbClr val="545454"/>
                </a:solidFill>
                <a:latin typeface="Poppins Light"/>
                <a:ea typeface="Poppins Light"/>
                <a:cs typeface="Poppins Light"/>
                <a:sym typeface="Poppins Light"/>
              </a:rPr>
              <a:t>NASA FIRMS VIIRS Suomi NPP 375 m Active Fire Data (Borneo Area) adalah dataset time-series yang bersumber dari NASA FIRMS. Dataset ini merekam anomali termal dan titik api aktif di Pulau Borneo menggunakan sensor VIIRS dengan resolusi spasial 375m mencakup </a:t>
            </a:r>
          </a:p>
        </p:txBody>
      </p:sp>
      <p:sp>
        <p:nvSpPr>
          <p:cNvPr name="TextBox 53" id="53"/>
          <p:cNvSpPr txBox="true"/>
          <p:nvPr/>
        </p:nvSpPr>
        <p:spPr>
          <a:xfrm rot="0">
            <a:off x="10016869" y="5049140"/>
            <a:ext cx="2477364" cy="3582035"/>
          </a:xfrm>
          <a:prstGeom prst="rect">
            <a:avLst/>
          </a:prstGeom>
        </p:spPr>
        <p:txBody>
          <a:bodyPr anchor="t" rtlCol="false" tIns="0" lIns="0" bIns="0" rIns="0">
            <a:spAutoFit/>
          </a:bodyPr>
          <a:lstStyle/>
          <a:p>
            <a:pPr algn="just" marL="0" indent="0" lvl="0">
              <a:lnSpc>
                <a:spcPts val="2620"/>
              </a:lnSpc>
            </a:pPr>
            <a:r>
              <a:rPr lang="en-US" sz="2000">
                <a:solidFill>
                  <a:srgbClr val="545454"/>
                </a:solidFill>
                <a:latin typeface="Poppins Light"/>
                <a:ea typeface="Poppins Light"/>
                <a:cs typeface="Poppins Light"/>
                <a:sym typeface="Poppins Light"/>
              </a:rPr>
              <a:t>periode </a:t>
            </a:r>
            <a:r>
              <a:rPr lang="en-US" sz="2000">
                <a:solidFill>
                  <a:srgbClr val="545454"/>
                </a:solidFill>
                <a:latin typeface="Poppins Light"/>
                <a:ea typeface="Poppins Light"/>
                <a:cs typeface="Poppins Light"/>
                <a:sym typeface="Poppins Light"/>
              </a:rPr>
              <a:t>20 Januari 2012 hingga 30 Juni 2026. Dataset difokuskan pada wilayah sekitar Borneo berdasarkan koordinat observasi untuk memperoleh cakupan waktu yang lebih panjang</a:t>
            </a:r>
          </a:p>
        </p:txBody>
      </p:sp>
      <p:sp>
        <p:nvSpPr>
          <p:cNvPr name="TextBox 54" id="54"/>
          <p:cNvSpPr txBox="true"/>
          <p:nvPr/>
        </p:nvSpPr>
        <p:spPr>
          <a:xfrm rot="-5400000">
            <a:off x="-390492" y="6839796"/>
            <a:ext cx="2095248" cy="419285"/>
          </a:xfrm>
          <a:prstGeom prst="rect">
            <a:avLst/>
          </a:prstGeom>
        </p:spPr>
        <p:txBody>
          <a:bodyPr anchor="t" rtlCol="false" tIns="0" lIns="0" bIns="0" rIns="0">
            <a:spAutoFit/>
          </a:bodyPr>
          <a:lstStyle/>
          <a:p>
            <a:pPr algn="l" marL="0" indent="0" lvl="0">
              <a:lnSpc>
                <a:spcPts val="3258"/>
              </a:lnSpc>
            </a:pPr>
            <a:r>
              <a:rPr lang="en-US" sz="2487">
                <a:solidFill>
                  <a:srgbClr val="2E2E72"/>
                </a:solidFill>
                <a:latin typeface="Poppins Light"/>
                <a:ea typeface="Poppins Light"/>
                <a:cs typeface="Poppins Light"/>
                <a:sym typeface="Poppins Light"/>
              </a:rPr>
              <a:t>Struktur Data</a:t>
            </a:r>
          </a:p>
        </p:txBody>
      </p:sp>
    </p:spTree>
  </p:cSld>
  <p:clrMapOvr>
    <a:masterClrMapping/>
  </p:clrMapOvr>
  <p:transition spd="med">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837575"/>
            <a:ext cx="1282573" cy="864134"/>
          </a:xfrm>
          <a:custGeom>
            <a:avLst/>
            <a:gdLst/>
            <a:ahLst/>
            <a:cxnLst/>
            <a:rect r="r" b="b" t="t" l="l"/>
            <a:pathLst>
              <a:path h="864134" w="1282573">
                <a:moveTo>
                  <a:pt x="0" y="0"/>
                </a:moveTo>
                <a:lnTo>
                  <a:pt x="1282573" y="0"/>
                </a:lnTo>
                <a:lnTo>
                  <a:pt x="1282573" y="864133"/>
                </a:lnTo>
                <a:lnTo>
                  <a:pt x="0" y="8641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4575862"/>
            <a:ext cx="1282573" cy="864134"/>
          </a:xfrm>
          <a:custGeom>
            <a:avLst/>
            <a:gdLst/>
            <a:ahLst/>
            <a:cxnLst/>
            <a:rect r="r" b="b" t="t" l="l"/>
            <a:pathLst>
              <a:path h="864134" w="1282573">
                <a:moveTo>
                  <a:pt x="0" y="0"/>
                </a:moveTo>
                <a:lnTo>
                  <a:pt x="1282573" y="0"/>
                </a:lnTo>
                <a:lnTo>
                  <a:pt x="1282573" y="864134"/>
                </a:lnTo>
                <a:lnTo>
                  <a:pt x="0" y="864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6870075"/>
            <a:ext cx="1282573" cy="864134"/>
          </a:xfrm>
          <a:custGeom>
            <a:avLst/>
            <a:gdLst/>
            <a:ahLst/>
            <a:cxnLst/>
            <a:rect r="r" b="b" t="t" l="l"/>
            <a:pathLst>
              <a:path h="864134" w="1282573">
                <a:moveTo>
                  <a:pt x="0" y="0"/>
                </a:moveTo>
                <a:lnTo>
                  <a:pt x="1282573" y="0"/>
                </a:lnTo>
                <a:lnTo>
                  <a:pt x="1282573" y="864134"/>
                </a:lnTo>
                <a:lnTo>
                  <a:pt x="0" y="8641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186665" y="-173403"/>
            <a:ext cx="7417732" cy="7417732"/>
          </a:xfrm>
          <a:custGeom>
            <a:avLst/>
            <a:gdLst/>
            <a:ahLst/>
            <a:cxnLst/>
            <a:rect r="r" b="b" t="t" l="l"/>
            <a:pathLst>
              <a:path h="7417732" w="7417732">
                <a:moveTo>
                  <a:pt x="0" y="0"/>
                </a:moveTo>
                <a:lnTo>
                  <a:pt x="7417732" y="0"/>
                </a:lnTo>
                <a:lnTo>
                  <a:pt x="7417732" y="7417732"/>
                </a:lnTo>
                <a:lnTo>
                  <a:pt x="0" y="7417732"/>
                </a:lnTo>
                <a:lnTo>
                  <a:pt x="0" y="0"/>
                </a:lnTo>
                <a:close/>
              </a:path>
            </a:pathLst>
          </a:custGeom>
          <a:blipFill>
            <a:blip r:embed="rId6">
              <a:alphaModFix amt="5000"/>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73632" y="867321"/>
            <a:ext cx="4398817" cy="3708542"/>
          </a:xfrm>
          <a:custGeom>
            <a:avLst/>
            <a:gdLst/>
            <a:ahLst/>
            <a:cxnLst/>
            <a:rect r="r" b="b" t="t" l="l"/>
            <a:pathLst>
              <a:path h="3708542" w="4398817">
                <a:moveTo>
                  <a:pt x="0" y="0"/>
                </a:moveTo>
                <a:lnTo>
                  <a:pt x="4398817" y="0"/>
                </a:lnTo>
                <a:lnTo>
                  <a:pt x="4398817" y="3708541"/>
                </a:lnTo>
                <a:lnTo>
                  <a:pt x="0" y="3708541"/>
                </a:lnTo>
                <a:lnTo>
                  <a:pt x="0" y="0"/>
                </a:lnTo>
                <a:close/>
              </a:path>
            </a:pathLst>
          </a:custGeom>
          <a:blipFill>
            <a:blip r:embed="rId8"/>
            <a:stretch>
              <a:fillRect l="0" t="0" r="0" b="0"/>
            </a:stretch>
          </a:blipFill>
        </p:spPr>
      </p:sp>
      <p:sp>
        <p:nvSpPr>
          <p:cNvPr name="Freeform 7" id="7"/>
          <p:cNvSpPr/>
          <p:nvPr/>
        </p:nvSpPr>
        <p:spPr>
          <a:xfrm flipH="false" flipV="false" rot="0">
            <a:off x="13895531" y="877466"/>
            <a:ext cx="3993435" cy="6898741"/>
          </a:xfrm>
          <a:custGeom>
            <a:avLst/>
            <a:gdLst/>
            <a:ahLst/>
            <a:cxnLst/>
            <a:rect r="r" b="b" t="t" l="l"/>
            <a:pathLst>
              <a:path h="6898741" w="3993435">
                <a:moveTo>
                  <a:pt x="0" y="0"/>
                </a:moveTo>
                <a:lnTo>
                  <a:pt x="3993435" y="0"/>
                </a:lnTo>
                <a:lnTo>
                  <a:pt x="3993435" y="6898741"/>
                </a:lnTo>
                <a:lnTo>
                  <a:pt x="0" y="6898741"/>
                </a:lnTo>
                <a:lnTo>
                  <a:pt x="0" y="0"/>
                </a:lnTo>
                <a:close/>
              </a:path>
            </a:pathLst>
          </a:custGeom>
          <a:blipFill>
            <a:blip r:embed="rId9"/>
            <a:stretch>
              <a:fillRect l="0" t="0" r="0" b="0"/>
            </a:stretch>
          </a:blipFill>
        </p:spPr>
      </p:sp>
      <p:sp>
        <p:nvSpPr>
          <p:cNvPr name="TextBox 8" id="8"/>
          <p:cNvSpPr txBox="true"/>
          <p:nvPr/>
        </p:nvSpPr>
        <p:spPr>
          <a:xfrm rot="0">
            <a:off x="1028700" y="413029"/>
            <a:ext cx="7555850" cy="985083"/>
          </a:xfrm>
          <a:prstGeom prst="rect">
            <a:avLst/>
          </a:prstGeom>
        </p:spPr>
        <p:txBody>
          <a:bodyPr anchor="t" rtlCol="false" tIns="0" lIns="0" bIns="0" rIns="0">
            <a:spAutoFit/>
          </a:bodyPr>
          <a:lstStyle/>
          <a:p>
            <a:pPr algn="l" marL="0" indent="0" lvl="0">
              <a:lnSpc>
                <a:spcPts val="6443"/>
              </a:lnSpc>
            </a:pPr>
            <a:r>
              <a:rPr lang="en-US" sz="7858">
                <a:solidFill>
                  <a:srgbClr val="000000"/>
                </a:solidFill>
                <a:latin typeface="Poppins Light"/>
                <a:ea typeface="Poppins Light"/>
                <a:cs typeface="Poppins Light"/>
                <a:sym typeface="Poppins Light"/>
              </a:rPr>
              <a:t>Hasil Profiling I</a:t>
            </a:r>
          </a:p>
        </p:txBody>
      </p:sp>
      <p:sp>
        <p:nvSpPr>
          <p:cNvPr name="TextBox 9" id="9"/>
          <p:cNvSpPr txBox="true"/>
          <p:nvPr/>
        </p:nvSpPr>
        <p:spPr>
          <a:xfrm rot="0">
            <a:off x="2980087" y="2445524"/>
            <a:ext cx="4556380" cy="1109419"/>
          </a:xfrm>
          <a:prstGeom prst="rect">
            <a:avLst/>
          </a:prstGeom>
        </p:spPr>
        <p:txBody>
          <a:bodyPr anchor="t" rtlCol="false" tIns="0" lIns="0" bIns="0" rIns="0">
            <a:spAutoFit/>
          </a:bodyPr>
          <a:lstStyle/>
          <a:p>
            <a:pPr algn="l" marL="0" indent="0" lvl="0">
              <a:lnSpc>
                <a:spcPts val="3035"/>
              </a:lnSpc>
            </a:pPr>
            <a:r>
              <a:rPr lang="en-US" sz="2317">
                <a:solidFill>
                  <a:srgbClr val="545454"/>
                </a:solidFill>
                <a:latin typeface="Poppins Light"/>
                <a:ea typeface="Poppins Light"/>
                <a:cs typeface="Poppins Light"/>
                <a:sym typeface="Poppins Light"/>
              </a:rPr>
              <a:t>0 missing value pada seluruh 1.408.321 baris, data 100% lengkap, sangat baik.</a:t>
            </a:r>
          </a:p>
        </p:txBody>
      </p:sp>
      <p:sp>
        <p:nvSpPr>
          <p:cNvPr name="TextBox 10" id="10"/>
          <p:cNvSpPr txBox="true"/>
          <p:nvPr/>
        </p:nvSpPr>
        <p:spPr>
          <a:xfrm rot="0">
            <a:off x="2980087" y="5109379"/>
            <a:ext cx="10389906" cy="741521"/>
          </a:xfrm>
          <a:prstGeom prst="rect">
            <a:avLst/>
          </a:prstGeom>
        </p:spPr>
        <p:txBody>
          <a:bodyPr anchor="t" rtlCol="false" tIns="0" lIns="0" bIns="0" rIns="0">
            <a:spAutoFit/>
          </a:bodyPr>
          <a:lstStyle/>
          <a:p>
            <a:pPr algn="l" marL="0" indent="0" lvl="0">
              <a:lnSpc>
                <a:spcPts val="3035"/>
              </a:lnSpc>
            </a:pPr>
            <a:r>
              <a:rPr lang="en-US" sz="2317">
                <a:solidFill>
                  <a:srgbClr val="545454"/>
                </a:solidFill>
                <a:latin typeface="Poppins Light"/>
                <a:ea typeface="Poppins Light"/>
                <a:cs typeface="Poppins Light"/>
                <a:sym typeface="Poppins Light"/>
              </a:rPr>
              <a:t>Tidak ditemukan indikasi kesalahan internal; validasi penuh memerlukan ground truth eksternal.</a:t>
            </a:r>
          </a:p>
        </p:txBody>
      </p:sp>
      <p:sp>
        <p:nvSpPr>
          <p:cNvPr name="TextBox 11" id="11"/>
          <p:cNvSpPr txBox="true"/>
          <p:nvPr/>
        </p:nvSpPr>
        <p:spPr>
          <a:xfrm rot="0">
            <a:off x="2980087" y="1909712"/>
            <a:ext cx="9483486" cy="460857"/>
          </a:xfrm>
          <a:prstGeom prst="rect">
            <a:avLst/>
          </a:prstGeom>
        </p:spPr>
        <p:txBody>
          <a:bodyPr anchor="t" rtlCol="false" tIns="0" lIns="0" bIns="0" rIns="0">
            <a:spAutoFit/>
          </a:bodyPr>
          <a:lstStyle/>
          <a:p>
            <a:pPr algn="l" marL="0" indent="0" lvl="0">
              <a:lnSpc>
                <a:spcPts val="3541"/>
              </a:lnSpc>
              <a:spcBef>
                <a:spcPct val="0"/>
              </a:spcBef>
            </a:pPr>
            <a:r>
              <a:rPr lang="en-US" sz="2703" strike="noStrike" u="none">
                <a:solidFill>
                  <a:srgbClr val="2E2E72"/>
                </a:solidFill>
                <a:latin typeface="Poppins Light"/>
                <a:ea typeface="Poppins Light"/>
                <a:cs typeface="Poppins Light"/>
                <a:sym typeface="Poppins Light"/>
              </a:rPr>
              <a:t>Completeness</a:t>
            </a:r>
          </a:p>
        </p:txBody>
      </p:sp>
      <p:sp>
        <p:nvSpPr>
          <p:cNvPr name="TextBox 12" id="12"/>
          <p:cNvSpPr txBox="true"/>
          <p:nvPr/>
        </p:nvSpPr>
        <p:spPr>
          <a:xfrm rot="0">
            <a:off x="2980087" y="4647999"/>
            <a:ext cx="9483486" cy="460857"/>
          </a:xfrm>
          <a:prstGeom prst="rect">
            <a:avLst/>
          </a:prstGeom>
        </p:spPr>
        <p:txBody>
          <a:bodyPr anchor="t" rtlCol="false" tIns="0" lIns="0" bIns="0" rIns="0">
            <a:spAutoFit/>
          </a:bodyPr>
          <a:lstStyle/>
          <a:p>
            <a:pPr algn="l" marL="0" indent="0" lvl="0">
              <a:lnSpc>
                <a:spcPts val="3541"/>
              </a:lnSpc>
              <a:spcBef>
                <a:spcPct val="0"/>
              </a:spcBef>
            </a:pPr>
            <a:r>
              <a:rPr lang="en-US" sz="2703">
                <a:solidFill>
                  <a:srgbClr val="FFB547"/>
                </a:solidFill>
                <a:latin typeface="Poppins Light"/>
                <a:ea typeface="Poppins Light"/>
                <a:cs typeface="Poppins Light"/>
                <a:sym typeface="Poppins Light"/>
              </a:rPr>
              <a:t>Accuracy</a:t>
            </a:r>
          </a:p>
        </p:txBody>
      </p:sp>
      <p:sp>
        <p:nvSpPr>
          <p:cNvPr name="TextBox 13" id="13"/>
          <p:cNvSpPr txBox="true"/>
          <p:nvPr/>
        </p:nvSpPr>
        <p:spPr>
          <a:xfrm rot="0">
            <a:off x="2980087" y="7364969"/>
            <a:ext cx="10389906" cy="741521"/>
          </a:xfrm>
          <a:prstGeom prst="rect">
            <a:avLst/>
          </a:prstGeom>
        </p:spPr>
        <p:txBody>
          <a:bodyPr anchor="t" rtlCol="false" tIns="0" lIns="0" bIns="0" rIns="0">
            <a:spAutoFit/>
          </a:bodyPr>
          <a:lstStyle/>
          <a:p>
            <a:pPr algn="l" marL="0" indent="0" lvl="0">
              <a:lnSpc>
                <a:spcPts val="3035"/>
              </a:lnSpc>
            </a:pPr>
            <a:r>
              <a:rPr lang="en-US" sz="2317">
                <a:solidFill>
                  <a:srgbClr val="545454"/>
                </a:solidFill>
                <a:latin typeface="Poppins Light"/>
                <a:ea typeface="Poppins Light"/>
                <a:cs typeface="Poppins Light"/>
                <a:sym typeface="Poppins Light"/>
              </a:rPr>
              <a:t>Format tanggal, satellite, instrument, confidence, daynight, dan type konsisten, kualitas data baik.</a:t>
            </a:r>
          </a:p>
        </p:txBody>
      </p:sp>
      <p:sp>
        <p:nvSpPr>
          <p:cNvPr name="TextBox 14" id="14"/>
          <p:cNvSpPr txBox="true"/>
          <p:nvPr/>
        </p:nvSpPr>
        <p:spPr>
          <a:xfrm rot="0">
            <a:off x="2980087" y="6942212"/>
            <a:ext cx="9483486" cy="460857"/>
          </a:xfrm>
          <a:prstGeom prst="rect">
            <a:avLst/>
          </a:prstGeom>
        </p:spPr>
        <p:txBody>
          <a:bodyPr anchor="t" rtlCol="false" tIns="0" lIns="0" bIns="0" rIns="0">
            <a:spAutoFit/>
          </a:bodyPr>
          <a:lstStyle/>
          <a:p>
            <a:pPr algn="l" marL="0" indent="0" lvl="0">
              <a:lnSpc>
                <a:spcPts val="3541"/>
              </a:lnSpc>
              <a:spcBef>
                <a:spcPct val="0"/>
              </a:spcBef>
            </a:pPr>
            <a:r>
              <a:rPr lang="en-US" sz="2703">
                <a:solidFill>
                  <a:srgbClr val="2E2E72"/>
                </a:solidFill>
                <a:latin typeface="Poppins Light"/>
                <a:ea typeface="Poppins Light"/>
                <a:cs typeface="Poppins Light"/>
                <a:sym typeface="Poppins Light"/>
              </a:rPr>
              <a:t>Consistency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80166" y="-2326049"/>
            <a:ext cx="7417732" cy="7417732"/>
          </a:xfrm>
          <a:custGeom>
            <a:avLst/>
            <a:gdLst/>
            <a:ahLst/>
            <a:cxnLst/>
            <a:rect r="r" b="b" t="t" l="l"/>
            <a:pathLst>
              <a:path h="7417732" w="7417732">
                <a:moveTo>
                  <a:pt x="0" y="0"/>
                </a:moveTo>
                <a:lnTo>
                  <a:pt x="7417732" y="0"/>
                </a:lnTo>
                <a:lnTo>
                  <a:pt x="7417732" y="7417732"/>
                </a:lnTo>
                <a:lnTo>
                  <a:pt x="0" y="7417732"/>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823847"/>
            <a:ext cx="660985" cy="462690"/>
          </a:xfrm>
          <a:custGeom>
            <a:avLst/>
            <a:gdLst/>
            <a:ahLst/>
            <a:cxnLst/>
            <a:rect r="r" b="b" t="t" l="l"/>
            <a:pathLst>
              <a:path h="462690" w="660985">
                <a:moveTo>
                  <a:pt x="0" y="0"/>
                </a:moveTo>
                <a:lnTo>
                  <a:pt x="660985" y="0"/>
                </a:lnTo>
                <a:lnTo>
                  <a:pt x="660985" y="462690"/>
                </a:lnTo>
                <a:lnTo>
                  <a:pt x="0" y="462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8229600"/>
            <a:ext cx="2057400" cy="2057400"/>
          </a:xfrm>
          <a:custGeom>
            <a:avLst/>
            <a:gdLst/>
            <a:ahLst/>
            <a:cxnLst/>
            <a:rect r="r" b="b" t="t" l="l"/>
            <a:pathLst>
              <a:path h="2057400" w="2057400">
                <a:moveTo>
                  <a:pt x="0" y="0"/>
                </a:moveTo>
                <a:lnTo>
                  <a:pt x="2057400" y="0"/>
                </a:lnTo>
                <a:lnTo>
                  <a:pt x="2057400"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5" id="5"/>
          <p:cNvSpPr/>
          <p:nvPr/>
        </p:nvSpPr>
        <p:spPr>
          <a:xfrm>
            <a:off x="12882773" y="1305587"/>
            <a:ext cx="949220" cy="0"/>
          </a:xfrm>
          <a:prstGeom prst="line">
            <a:avLst/>
          </a:prstGeom>
          <a:ln cap="flat" w="38100">
            <a:solidFill>
              <a:srgbClr val="FFB547"/>
            </a:solidFill>
            <a:prstDash val="solid"/>
            <a:headEnd type="none" len="sm" w="sm"/>
            <a:tailEnd type="none" len="sm" w="sm"/>
          </a:ln>
        </p:spPr>
      </p:sp>
      <p:sp>
        <p:nvSpPr>
          <p:cNvPr name="Freeform 6" id="6"/>
          <p:cNvSpPr/>
          <p:nvPr/>
        </p:nvSpPr>
        <p:spPr>
          <a:xfrm flipH="false" flipV="false" rot="0">
            <a:off x="10054068" y="2625075"/>
            <a:ext cx="3625893" cy="4339344"/>
          </a:xfrm>
          <a:custGeom>
            <a:avLst/>
            <a:gdLst/>
            <a:ahLst/>
            <a:cxnLst/>
            <a:rect r="r" b="b" t="t" l="l"/>
            <a:pathLst>
              <a:path h="4339344" w="3625893">
                <a:moveTo>
                  <a:pt x="0" y="0"/>
                </a:moveTo>
                <a:lnTo>
                  <a:pt x="3625893" y="0"/>
                </a:lnTo>
                <a:lnTo>
                  <a:pt x="3625893" y="4339343"/>
                </a:lnTo>
                <a:lnTo>
                  <a:pt x="0" y="4339343"/>
                </a:lnTo>
                <a:lnTo>
                  <a:pt x="0" y="0"/>
                </a:lnTo>
                <a:close/>
              </a:path>
            </a:pathLst>
          </a:custGeom>
          <a:blipFill>
            <a:blip r:embed="rId8"/>
            <a:stretch>
              <a:fillRect l="0" t="0" r="0" b="0"/>
            </a:stretch>
          </a:blipFill>
        </p:spPr>
      </p:sp>
      <p:sp>
        <p:nvSpPr>
          <p:cNvPr name="Freeform 7" id="7"/>
          <p:cNvSpPr/>
          <p:nvPr/>
        </p:nvSpPr>
        <p:spPr>
          <a:xfrm flipH="false" flipV="false" rot="0">
            <a:off x="13831993" y="2829758"/>
            <a:ext cx="4185079" cy="5782609"/>
          </a:xfrm>
          <a:custGeom>
            <a:avLst/>
            <a:gdLst/>
            <a:ahLst/>
            <a:cxnLst/>
            <a:rect r="r" b="b" t="t" l="l"/>
            <a:pathLst>
              <a:path h="5782609" w="4185079">
                <a:moveTo>
                  <a:pt x="0" y="0"/>
                </a:moveTo>
                <a:lnTo>
                  <a:pt x="4185079" y="0"/>
                </a:lnTo>
                <a:lnTo>
                  <a:pt x="4185079" y="5782610"/>
                </a:lnTo>
                <a:lnTo>
                  <a:pt x="0" y="5782610"/>
                </a:lnTo>
                <a:lnTo>
                  <a:pt x="0" y="0"/>
                </a:lnTo>
                <a:close/>
              </a:path>
            </a:pathLst>
          </a:custGeom>
          <a:blipFill>
            <a:blip r:embed="rId9"/>
            <a:stretch>
              <a:fillRect l="0" t="0" r="0" b="0"/>
            </a:stretch>
          </a:blipFill>
        </p:spPr>
      </p:sp>
      <p:sp>
        <p:nvSpPr>
          <p:cNvPr name="Freeform 8" id="8"/>
          <p:cNvSpPr/>
          <p:nvPr/>
        </p:nvSpPr>
        <p:spPr>
          <a:xfrm flipH="false" flipV="false" rot="0">
            <a:off x="10054068" y="7012043"/>
            <a:ext cx="3625893" cy="1202168"/>
          </a:xfrm>
          <a:custGeom>
            <a:avLst/>
            <a:gdLst/>
            <a:ahLst/>
            <a:cxnLst/>
            <a:rect r="r" b="b" t="t" l="l"/>
            <a:pathLst>
              <a:path h="1202168" w="3625893">
                <a:moveTo>
                  <a:pt x="0" y="0"/>
                </a:moveTo>
                <a:lnTo>
                  <a:pt x="3625893" y="0"/>
                </a:lnTo>
                <a:lnTo>
                  <a:pt x="3625893" y="1202168"/>
                </a:lnTo>
                <a:lnTo>
                  <a:pt x="0" y="1202168"/>
                </a:lnTo>
                <a:lnTo>
                  <a:pt x="0" y="0"/>
                </a:lnTo>
                <a:close/>
              </a:path>
            </a:pathLst>
          </a:custGeom>
          <a:blipFill>
            <a:blip r:embed="rId10"/>
            <a:stretch>
              <a:fillRect l="0" t="0" r="0" b="0"/>
            </a:stretch>
          </a:blipFill>
        </p:spPr>
      </p:sp>
      <p:sp>
        <p:nvSpPr>
          <p:cNvPr name="TextBox 9" id="9"/>
          <p:cNvSpPr txBox="true"/>
          <p:nvPr/>
        </p:nvSpPr>
        <p:spPr>
          <a:xfrm rot="0">
            <a:off x="3283590" y="2548875"/>
            <a:ext cx="6393513" cy="1024082"/>
          </a:xfrm>
          <a:prstGeom prst="rect">
            <a:avLst/>
          </a:prstGeom>
        </p:spPr>
        <p:txBody>
          <a:bodyPr anchor="t" rtlCol="false" tIns="0" lIns="0" bIns="0" rIns="0">
            <a:spAutoFit/>
          </a:bodyPr>
          <a:lstStyle/>
          <a:p>
            <a:pPr algn="l" marL="0" indent="0" lvl="0">
              <a:lnSpc>
                <a:spcPts val="2099"/>
              </a:lnSpc>
            </a:pPr>
            <a:r>
              <a:rPr lang="en-US" sz="1602">
                <a:solidFill>
                  <a:srgbClr val="545454"/>
                </a:solidFill>
                <a:latin typeface="Poppins Light"/>
                <a:ea typeface="Poppins Light"/>
                <a:cs typeface="Poppins Light"/>
                <a:sym typeface="Poppins Light"/>
              </a:rPr>
              <a:t>Koordinat, atribut numerik, acq_time, dan kategori berada dalam rentang atau format yang valid. Tidak ditemukan nilai yang melanggar pemeriksaan.</a:t>
            </a:r>
          </a:p>
          <a:p>
            <a:pPr algn="l" marL="0" indent="0" lvl="0">
              <a:lnSpc>
                <a:spcPts val="2099"/>
              </a:lnSpc>
            </a:pPr>
          </a:p>
        </p:txBody>
      </p:sp>
      <p:sp>
        <p:nvSpPr>
          <p:cNvPr name="TextBox 10" id="10"/>
          <p:cNvSpPr txBox="true"/>
          <p:nvPr/>
        </p:nvSpPr>
        <p:spPr>
          <a:xfrm rot="0">
            <a:off x="3283590" y="4249354"/>
            <a:ext cx="6393513" cy="515132"/>
          </a:xfrm>
          <a:prstGeom prst="rect">
            <a:avLst/>
          </a:prstGeom>
        </p:spPr>
        <p:txBody>
          <a:bodyPr anchor="t" rtlCol="false" tIns="0" lIns="0" bIns="0" rIns="0">
            <a:spAutoFit/>
          </a:bodyPr>
          <a:lstStyle/>
          <a:p>
            <a:pPr algn="l" marL="0" indent="0" lvl="0">
              <a:lnSpc>
                <a:spcPts val="2099"/>
              </a:lnSpc>
            </a:pPr>
            <a:r>
              <a:rPr lang="en-US" sz="1602">
                <a:solidFill>
                  <a:srgbClr val="545454"/>
                </a:solidFill>
                <a:latin typeface="Poppins Light"/>
                <a:ea typeface="Poppins Light"/>
                <a:cs typeface="Poppins Light"/>
                <a:sym typeface="Poppins Light"/>
              </a:rPr>
              <a:t>Tidak ditemukan</a:t>
            </a:r>
            <a:r>
              <a:rPr lang="en-US" sz="1602">
                <a:solidFill>
                  <a:srgbClr val="545454"/>
                </a:solidFill>
                <a:latin typeface="Poppins Light"/>
                <a:ea typeface="Poppins Light"/>
                <a:cs typeface="Poppins Light"/>
                <a:sym typeface="Poppins Light"/>
              </a:rPr>
              <a:t> exact duplicate pada 1.408.321 baris. Seluruh record bersifat unik (100%).</a:t>
            </a:r>
          </a:p>
        </p:txBody>
      </p:sp>
      <p:sp>
        <p:nvSpPr>
          <p:cNvPr name="TextBox 11" id="11"/>
          <p:cNvSpPr txBox="true"/>
          <p:nvPr/>
        </p:nvSpPr>
        <p:spPr>
          <a:xfrm rot="0">
            <a:off x="3283590" y="2094224"/>
            <a:ext cx="3022225" cy="351684"/>
          </a:xfrm>
          <a:prstGeom prst="rect">
            <a:avLst/>
          </a:prstGeom>
        </p:spPr>
        <p:txBody>
          <a:bodyPr anchor="t" rtlCol="false" tIns="0" lIns="0" bIns="0" rIns="0">
            <a:spAutoFit/>
          </a:bodyPr>
          <a:lstStyle/>
          <a:p>
            <a:pPr algn="l" marL="0" indent="0" lvl="0">
              <a:lnSpc>
                <a:spcPts val="2749"/>
              </a:lnSpc>
            </a:pPr>
            <a:r>
              <a:rPr lang="en-US" sz="2098">
                <a:solidFill>
                  <a:srgbClr val="2E2E72"/>
                </a:solidFill>
                <a:latin typeface="Poppins Light"/>
                <a:ea typeface="Poppins Light"/>
                <a:cs typeface="Poppins Light"/>
                <a:sym typeface="Poppins Light"/>
              </a:rPr>
              <a:t>Validity</a:t>
            </a:r>
          </a:p>
        </p:txBody>
      </p:sp>
      <p:sp>
        <p:nvSpPr>
          <p:cNvPr name="TextBox 12" id="12"/>
          <p:cNvSpPr txBox="true"/>
          <p:nvPr/>
        </p:nvSpPr>
        <p:spPr>
          <a:xfrm rot="0">
            <a:off x="1687079" y="2079299"/>
            <a:ext cx="1032381" cy="882001"/>
          </a:xfrm>
          <a:prstGeom prst="rect">
            <a:avLst/>
          </a:prstGeom>
        </p:spPr>
        <p:txBody>
          <a:bodyPr anchor="t" rtlCol="false" tIns="0" lIns="0" bIns="0" rIns="0">
            <a:spAutoFit/>
          </a:bodyPr>
          <a:lstStyle/>
          <a:p>
            <a:pPr algn="l" marL="0" indent="0" lvl="0">
              <a:lnSpc>
                <a:spcPts val="6610"/>
              </a:lnSpc>
            </a:pPr>
            <a:r>
              <a:rPr lang="en-US" sz="5046">
                <a:solidFill>
                  <a:srgbClr val="FFB547"/>
                </a:solidFill>
                <a:latin typeface="Poppins Light"/>
                <a:ea typeface="Poppins Light"/>
                <a:cs typeface="Poppins Light"/>
                <a:sym typeface="Poppins Light"/>
              </a:rPr>
              <a:t>4</a:t>
            </a:r>
          </a:p>
        </p:txBody>
      </p:sp>
      <p:sp>
        <p:nvSpPr>
          <p:cNvPr name="TextBox 13" id="13"/>
          <p:cNvSpPr txBox="true"/>
          <p:nvPr/>
        </p:nvSpPr>
        <p:spPr>
          <a:xfrm rot="0">
            <a:off x="1687079" y="3882485"/>
            <a:ext cx="1034987" cy="882001"/>
          </a:xfrm>
          <a:prstGeom prst="rect">
            <a:avLst/>
          </a:prstGeom>
        </p:spPr>
        <p:txBody>
          <a:bodyPr anchor="t" rtlCol="false" tIns="0" lIns="0" bIns="0" rIns="0">
            <a:spAutoFit/>
          </a:bodyPr>
          <a:lstStyle/>
          <a:p>
            <a:pPr algn="l" marL="0" indent="0" lvl="0">
              <a:lnSpc>
                <a:spcPts val="6610"/>
              </a:lnSpc>
            </a:pPr>
            <a:r>
              <a:rPr lang="en-US" sz="5046">
                <a:solidFill>
                  <a:srgbClr val="2E2E72"/>
                </a:solidFill>
                <a:latin typeface="Poppins Light"/>
                <a:ea typeface="Poppins Light"/>
                <a:cs typeface="Poppins Light"/>
                <a:sym typeface="Poppins Light"/>
              </a:rPr>
              <a:t>5</a:t>
            </a:r>
          </a:p>
        </p:txBody>
      </p:sp>
      <p:sp>
        <p:nvSpPr>
          <p:cNvPr name="TextBox 14" id="14"/>
          <p:cNvSpPr txBox="true"/>
          <p:nvPr/>
        </p:nvSpPr>
        <p:spPr>
          <a:xfrm rot="0">
            <a:off x="3283590" y="3783371"/>
            <a:ext cx="3022225" cy="351684"/>
          </a:xfrm>
          <a:prstGeom prst="rect">
            <a:avLst/>
          </a:prstGeom>
        </p:spPr>
        <p:txBody>
          <a:bodyPr anchor="t" rtlCol="false" tIns="0" lIns="0" bIns="0" rIns="0">
            <a:spAutoFit/>
          </a:bodyPr>
          <a:lstStyle/>
          <a:p>
            <a:pPr algn="l" marL="0" indent="0" lvl="0">
              <a:lnSpc>
                <a:spcPts val="2749"/>
              </a:lnSpc>
            </a:pPr>
            <a:r>
              <a:rPr lang="en-US" sz="2098">
                <a:solidFill>
                  <a:srgbClr val="FFB547"/>
                </a:solidFill>
                <a:latin typeface="Poppins Light"/>
                <a:ea typeface="Poppins Light"/>
                <a:cs typeface="Poppins Light"/>
                <a:sym typeface="Poppins Light"/>
              </a:rPr>
              <a:t>Uniqueness</a:t>
            </a:r>
          </a:p>
        </p:txBody>
      </p:sp>
      <p:sp>
        <p:nvSpPr>
          <p:cNvPr name="TextBox 15" id="15"/>
          <p:cNvSpPr txBox="true"/>
          <p:nvPr/>
        </p:nvSpPr>
        <p:spPr>
          <a:xfrm rot="0">
            <a:off x="3283590" y="5928976"/>
            <a:ext cx="6393513" cy="515132"/>
          </a:xfrm>
          <a:prstGeom prst="rect">
            <a:avLst/>
          </a:prstGeom>
        </p:spPr>
        <p:txBody>
          <a:bodyPr anchor="t" rtlCol="false" tIns="0" lIns="0" bIns="0" rIns="0">
            <a:spAutoFit/>
          </a:bodyPr>
          <a:lstStyle/>
          <a:p>
            <a:pPr algn="l" marL="0" indent="0" lvl="0">
              <a:lnSpc>
                <a:spcPts val="2099"/>
              </a:lnSpc>
            </a:pPr>
            <a:r>
              <a:rPr lang="en-US" sz="1602">
                <a:solidFill>
                  <a:srgbClr val="545454"/>
                </a:solidFill>
                <a:latin typeface="Poppins Light"/>
                <a:ea typeface="Poppins Light"/>
                <a:cs typeface="Poppins Light"/>
                <a:sym typeface="Poppins Light"/>
              </a:rPr>
              <a:t>Terdapat </a:t>
            </a:r>
            <a:r>
              <a:rPr lang="en-US" sz="1602">
                <a:solidFill>
                  <a:srgbClr val="545454"/>
                </a:solidFill>
                <a:latin typeface="Poppins Light"/>
                <a:ea typeface="Poppins Light"/>
                <a:cs typeface="Poppins Light"/>
                <a:sym typeface="Poppins Light"/>
              </a:rPr>
              <a:t>5.147 tanggal observasi. Sebanyak 129 hari tidak memiliki observasi, dengan jeda terpanjang 37 hari.</a:t>
            </a:r>
          </a:p>
        </p:txBody>
      </p:sp>
      <p:sp>
        <p:nvSpPr>
          <p:cNvPr name="TextBox 16" id="16"/>
          <p:cNvSpPr txBox="true"/>
          <p:nvPr/>
        </p:nvSpPr>
        <p:spPr>
          <a:xfrm rot="0">
            <a:off x="3283590" y="5472517"/>
            <a:ext cx="3022225" cy="351684"/>
          </a:xfrm>
          <a:prstGeom prst="rect">
            <a:avLst/>
          </a:prstGeom>
        </p:spPr>
        <p:txBody>
          <a:bodyPr anchor="t" rtlCol="false" tIns="0" lIns="0" bIns="0" rIns="0">
            <a:spAutoFit/>
          </a:bodyPr>
          <a:lstStyle/>
          <a:p>
            <a:pPr algn="l" marL="0" indent="0" lvl="0">
              <a:lnSpc>
                <a:spcPts val="2749"/>
              </a:lnSpc>
            </a:pPr>
            <a:r>
              <a:rPr lang="en-US" sz="2098">
                <a:solidFill>
                  <a:srgbClr val="2E2E72"/>
                </a:solidFill>
                <a:latin typeface="Poppins Light"/>
                <a:ea typeface="Poppins Light"/>
                <a:cs typeface="Poppins Light"/>
                <a:sym typeface="Poppins Light"/>
              </a:rPr>
              <a:t>Timeliness</a:t>
            </a:r>
          </a:p>
        </p:txBody>
      </p:sp>
      <p:sp>
        <p:nvSpPr>
          <p:cNvPr name="TextBox 17" id="17"/>
          <p:cNvSpPr txBox="true"/>
          <p:nvPr/>
        </p:nvSpPr>
        <p:spPr>
          <a:xfrm rot="0">
            <a:off x="1687079" y="7720200"/>
            <a:ext cx="7990024" cy="964173"/>
          </a:xfrm>
          <a:prstGeom prst="rect">
            <a:avLst/>
          </a:prstGeom>
        </p:spPr>
        <p:txBody>
          <a:bodyPr anchor="t" rtlCol="false" tIns="0" lIns="0" bIns="0" rIns="0">
            <a:spAutoFit/>
          </a:bodyPr>
          <a:lstStyle/>
          <a:p>
            <a:pPr algn="l" marL="0" indent="0" lvl="0">
              <a:lnSpc>
                <a:spcPts val="2624"/>
              </a:lnSpc>
            </a:pPr>
            <a:r>
              <a:rPr lang="en-US" sz="2003">
                <a:solidFill>
                  <a:srgbClr val="545454"/>
                </a:solidFill>
                <a:latin typeface="Poppins Light"/>
                <a:ea typeface="Poppins Light"/>
                <a:cs typeface="Poppins Light"/>
                <a:sym typeface="Poppins Light"/>
              </a:rPr>
              <a:t>Validity dan Uniqueness menunjukkan hasil yang baik. Pada Timeliness, terdapat gap dan ketidakmerataan observasi yang perlu diperhatikan dalam analisis time-series.</a:t>
            </a:r>
          </a:p>
        </p:txBody>
      </p:sp>
      <p:sp>
        <p:nvSpPr>
          <p:cNvPr name="TextBox 18" id="18"/>
          <p:cNvSpPr txBox="true"/>
          <p:nvPr/>
        </p:nvSpPr>
        <p:spPr>
          <a:xfrm rot="0">
            <a:off x="1687079" y="7152139"/>
            <a:ext cx="3776898" cy="439513"/>
          </a:xfrm>
          <a:prstGeom prst="rect">
            <a:avLst/>
          </a:prstGeom>
        </p:spPr>
        <p:txBody>
          <a:bodyPr anchor="t" rtlCol="false" tIns="0" lIns="0" bIns="0" rIns="0">
            <a:spAutoFit/>
          </a:bodyPr>
          <a:lstStyle/>
          <a:p>
            <a:pPr algn="l" marL="0" indent="0" lvl="0">
              <a:lnSpc>
                <a:spcPts val="3435"/>
              </a:lnSpc>
            </a:pPr>
            <a:r>
              <a:rPr lang="en-US" sz="2622">
                <a:solidFill>
                  <a:srgbClr val="FFB547"/>
                </a:solidFill>
                <a:latin typeface="Poppins Light"/>
                <a:ea typeface="Poppins Light"/>
                <a:cs typeface="Poppins Light"/>
                <a:sym typeface="Poppins Light"/>
              </a:rPr>
              <a:t>Kesimpulan</a:t>
            </a:r>
          </a:p>
        </p:txBody>
      </p:sp>
      <p:sp>
        <p:nvSpPr>
          <p:cNvPr name="TextBox 19" id="19"/>
          <p:cNvSpPr txBox="true"/>
          <p:nvPr/>
        </p:nvSpPr>
        <p:spPr>
          <a:xfrm rot="0">
            <a:off x="2004485" y="913638"/>
            <a:ext cx="3783942" cy="296718"/>
          </a:xfrm>
          <a:prstGeom prst="rect">
            <a:avLst/>
          </a:prstGeom>
        </p:spPr>
        <p:txBody>
          <a:bodyPr anchor="t" rtlCol="false" tIns="0" lIns="0" bIns="0" rIns="0">
            <a:spAutoFit/>
          </a:bodyPr>
          <a:lstStyle/>
          <a:p>
            <a:pPr algn="l" marL="0" indent="0" lvl="0">
              <a:lnSpc>
                <a:spcPts val="1966"/>
              </a:lnSpc>
            </a:pPr>
            <a:r>
              <a:rPr lang="en-US" sz="2398">
                <a:solidFill>
                  <a:srgbClr val="000000"/>
                </a:solidFill>
                <a:latin typeface="Poppins Light"/>
                <a:ea typeface="Poppins Light"/>
                <a:cs typeface="Poppins Light"/>
                <a:sym typeface="Poppins Light"/>
              </a:rPr>
              <a:t>Sebastian Abe Santoso</a:t>
            </a:r>
          </a:p>
        </p:txBody>
      </p:sp>
      <p:sp>
        <p:nvSpPr>
          <p:cNvPr name="TextBox 20" id="20"/>
          <p:cNvSpPr txBox="true"/>
          <p:nvPr/>
        </p:nvSpPr>
        <p:spPr>
          <a:xfrm rot="0">
            <a:off x="14789139" y="940130"/>
            <a:ext cx="2470161" cy="296718"/>
          </a:xfrm>
          <a:prstGeom prst="rect">
            <a:avLst/>
          </a:prstGeom>
        </p:spPr>
        <p:txBody>
          <a:bodyPr anchor="t" rtlCol="false" tIns="0" lIns="0" bIns="0" rIns="0">
            <a:spAutoFit/>
          </a:bodyPr>
          <a:lstStyle/>
          <a:p>
            <a:pPr algn="ctr" marL="0" indent="0" lvl="0">
              <a:lnSpc>
                <a:spcPts val="1966"/>
              </a:lnSpc>
            </a:pPr>
            <a:r>
              <a:rPr lang="en-US" sz="2398">
                <a:solidFill>
                  <a:srgbClr val="000000"/>
                </a:solidFill>
                <a:latin typeface="Poppins Light"/>
                <a:ea typeface="Poppins Light"/>
                <a:cs typeface="Poppins Light"/>
                <a:sym typeface="Poppins Light"/>
              </a:rPr>
              <a:t>Kesimpulan</a:t>
            </a:r>
          </a:p>
        </p:txBody>
      </p:sp>
      <p:sp>
        <p:nvSpPr>
          <p:cNvPr name="TextBox 21" id="21"/>
          <p:cNvSpPr txBox="true"/>
          <p:nvPr/>
        </p:nvSpPr>
        <p:spPr>
          <a:xfrm rot="0">
            <a:off x="12122303" y="940130"/>
            <a:ext cx="2470161" cy="296718"/>
          </a:xfrm>
          <a:prstGeom prst="rect">
            <a:avLst/>
          </a:prstGeom>
        </p:spPr>
        <p:txBody>
          <a:bodyPr anchor="t" rtlCol="false" tIns="0" lIns="0" bIns="0" rIns="0">
            <a:spAutoFit/>
          </a:bodyPr>
          <a:lstStyle/>
          <a:p>
            <a:pPr algn="ctr" marL="0" indent="0" lvl="0">
              <a:lnSpc>
                <a:spcPts val="1966"/>
              </a:lnSpc>
            </a:pPr>
            <a:r>
              <a:rPr lang="en-US" sz="2398">
                <a:solidFill>
                  <a:srgbClr val="000000"/>
                </a:solidFill>
                <a:latin typeface="Poppins Light"/>
                <a:ea typeface="Poppins Light"/>
                <a:cs typeface="Poppins Light"/>
                <a:sym typeface="Poppins Light"/>
              </a:rPr>
              <a:t>NASA FIRMS</a:t>
            </a:r>
          </a:p>
        </p:txBody>
      </p:sp>
      <p:sp>
        <p:nvSpPr>
          <p:cNvPr name="TextBox 22" id="22"/>
          <p:cNvSpPr txBox="true"/>
          <p:nvPr/>
        </p:nvSpPr>
        <p:spPr>
          <a:xfrm rot="0">
            <a:off x="9455467" y="940130"/>
            <a:ext cx="2470161" cy="296718"/>
          </a:xfrm>
          <a:prstGeom prst="rect">
            <a:avLst/>
          </a:prstGeom>
        </p:spPr>
        <p:txBody>
          <a:bodyPr anchor="t" rtlCol="false" tIns="0" lIns="0" bIns="0" rIns="0">
            <a:spAutoFit/>
          </a:bodyPr>
          <a:lstStyle/>
          <a:p>
            <a:pPr algn="ctr" marL="0" indent="0" lvl="0">
              <a:lnSpc>
                <a:spcPts val="1966"/>
              </a:lnSpc>
            </a:pPr>
            <a:r>
              <a:rPr lang="en-US" sz="2398">
                <a:solidFill>
                  <a:srgbClr val="000000"/>
                </a:solidFill>
                <a:latin typeface="Poppins Light"/>
                <a:ea typeface="Poppins Light"/>
                <a:cs typeface="Poppins Light"/>
                <a:sym typeface="Poppins Light"/>
              </a:rPr>
              <a:t>Beranda</a:t>
            </a:r>
          </a:p>
        </p:txBody>
      </p:sp>
      <p:sp>
        <p:nvSpPr>
          <p:cNvPr name="TextBox 23" id="23"/>
          <p:cNvSpPr txBox="true"/>
          <p:nvPr/>
        </p:nvSpPr>
        <p:spPr>
          <a:xfrm rot="0">
            <a:off x="1689685" y="5485590"/>
            <a:ext cx="1032381" cy="882001"/>
          </a:xfrm>
          <a:prstGeom prst="rect">
            <a:avLst/>
          </a:prstGeom>
        </p:spPr>
        <p:txBody>
          <a:bodyPr anchor="t" rtlCol="false" tIns="0" lIns="0" bIns="0" rIns="0">
            <a:spAutoFit/>
          </a:bodyPr>
          <a:lstStyle/>
          <a:p>
            <a:pPr algn="l" marL="0" indent="0" lvl="0">
              <a:lnSpc>
                <a:spcPts val="6610"/>
              </a:lnSpc>
            </a:pPr>
            <a:r>
              <a:rPr lang="en-US" sz="5046">
                <a:solidFill>
                  <a:srgbClr val="FFB547"/>
                </a:solidFill>
                <a:latin typeface="Poppins Light"/>
                <a:ea typeface="Poppins Light"/>
                <a:cs typeface="Poppins Light"/>
                <a:sym typeface="Poppins Light"/>
              </a:rPr>
              <a:t>6</a:t>
            </a:r>
          </a:p>
        </p:txBody>
      </p:sp>
      <p:sp>
        <p:nvSpPr>
          <p:cNvPr name="TextBox 24" id="24"/>
          <p:cNvSpPr txBox="true"/>
          <p:nvPr/>
        </p:nvSpPr>
        <p:spPr>
          <a:xfrm rot="0">
            <a:off x="10054068" y="1592367"/>
            <a:ext cx="7555850" cy="985083"/>
          </a:xfrm>
          <a:prstGeom prst="rect">
            <a:avLst/>
          </a:prstGeom>
        </p:spPr>
        <p:txBody>
          <a:bodyPr anchor="t" rtlCol="false" tIns="0" lIns="0" bIns="0" rIns="0">
            <a:spAutoFit/>
          </a:bodyPr>
          <a:lstStyle/>
          <a:p>
            <a:pPr algn="l" marL="0" indent="0" lvl="0">
              <a:lnSpc>
                <a:spcPts val="6443"/>
              </a:lnSpc>
            </a:pPr>
            <a:r>
              <a:rPr lang="en-US" sz="7858">
                <a:solidFill>
                  <a:srgbClr val="000000"/>
                </a:solidFill>
                <a:latin typeface="Poppins Light"/>
                <a:ea typeface="Poppins Light"/>
                <a:cs typeface="Poppins Light"/>
                <a:sym typeface="Poppins Light"/>
              </a:rPr>
              <a:t>Hasil Profiling 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34990" y="-8276169"/>
            <a:ext cx="20186658" cy="8852366"/>
            <a:chOff x="0" y="0"/>
            <a:chExt cx="26915544" cy="11803155"/>
          </a:xfrm>
        </p:grpSpPr>
        <p:grpSp>
          <p:nvGrpSpPr>
            <p:cNvPr name="Group 3" id="3"/>
            <p:cNvGrpSpPr/>
            <p:nvPr/>
          </p:nvGrpSpPr>
          <p:grpSpPr>
            <a:xfrm rot="0">
              <a:off x="0" y="5831990"/>
              <a:ext cx="25050481" cy="5964933"/>
              <a:chOff x="0" y="0"/>
              <a:chExt cx="4948243" cy="1178258"/>
            </a:xfrm>
          </p:grpSpPr>
          <p:sp>
            <p:nvSpPr>
              <p:cNvPr name="Freeform 4" id="4"/>
              <p:cNvSpPr/>
              <p:nvPr/>
            </p:nvSpPr>
            <p:spPr>
              <a:xfrm flipH="false" flipV="false" rot="0">
                <a:off x="0" y="0"/>
                <a:ext cx="4948243" cy="1178258"/>
              </a:xfrm>
              <a:custGeom>
                <a:avLst/>
                <a:gdLst/>
                <a:ahLst/>
                <a:cxnLst/>
                <a:rect r="r" b="b" t="t" l="l"/>
                <a:pathLst>
                  <a:path h="1178258" w="4948243">
                    <a:moveTo>
                      <a:pt x="0" y="0"/>
                    </a:moveTo>
                    <a:lnTo>
                      <a:pt x="4948243" y="0"/>
                    </a:lnTo>
                    <a:lnTo>
                      <a:pt x="4948243" y="1178258"/>
                    </a:lnTo>
                    <a:lnTo>
                      <a:pt x="0" y="1178258"/>
                    </a:lnTo>
                    <a:close/>
                  </a:path>
                </a:pathLst>
              </a:custGeom>
              <a:solidFill>
                <a:srgbClr val="FFFFFF"/>
              </a:solidFill>
            </p:spPr>
          </p:sp>
          <p:sp>
            <p:nvSpPr>
              <p:cNvPr name="TextBox 5" id="5"/>
              <p:cNvSpPr txBox="true"/>
              <p:nvPr/>
            </p:nvSpPr>
            <p:spPr>
              <a:xfrm>
                <a:off x="0" y="66675"/>
                <a:ext cx="4948243" cy="1111583"/>
              </a:xfrm>
              <a:prstGeom prst="rect">
                <a:avLst/>
              </a:prstGeom>
            </p:spPr>
            <p:txBody>
              <a:bodyPr anchor="ctr" rtlCol="false" tIns="50800" lIns="50800" bIns="50800" rIns="50800"/>
              <a:lstStyle/>
              <a:p>
                <a:pPr algn="ctr">
                  <a:lnSpc>
                    <a:spcPts val="1966"/>
                  </a:lnSpc>
                </a:pPr>
              </a:p>
            </p:txBody>
          </p:sp>
        </p:grpSp>
        <p:sp>
          <p:nvSpPr>
            <p:cNvPr name="TextBox 6" id="6"/>
            <p:cNvSpPr txBox="true"/>
            <p:nvPr/>
          </p:nvSpPr>
          <p:spPr>
            <a:xfrm rot="0">
              <a:off x="691747" y="3576890"/>
              <a:ext cx="16783972" cy="5372762"/>
            </a:xfrm>
            <a:prstGeom prst="rect">
              <a:avLst/>
            </a:prstGeom>
          </p:spPr>
          <p:txBody>
            <a:bodyPr anchor="t" rtlCol="false" tIns="0" lIns="0" bIns="0" rIns="0">
              <a:spAutoFit/>
            </a:bodyPr>
            <a:lstStyle/>
            <a:p>
              <a:pPr algn="l" marL="0" indent="0" lvl="0">
                <a:lnSpc>
                  <a:spcPts val="9744"/>
                </a:lnSpc>
              </a:pPr>
              <a:r>
                <a:rPr lang="en-US" sz="11883">
                  <a:solidFill>
                    <a:srgbClr val="000000"/>
                  </a:solidFill>
                  <a:latin typeface="Poppins Light"/>
                  <a:ea typeface="Poppins Light"/>
                  <a:cs typeface="Poppins Light"/>
                  <a:sym typeface="Poppins Light"/>
                </a:rPr>
                <a:t>Profiling Dataset</a:t>
              </a:r>
            </a:p>
            <a:p>
              <a:pPr algn="l" marL="0" indent="0" lvl="0">
                <a:lnSpc>
                  <a:spcPts val="9744"/>
                </a:lnSpc>
              </a:pPr>
              <a:r>
                <a:rPr lang="en-US" sz="11883">
                  <a:solidFill>
                    <a:srgbClr val="000000"/>
                  </a:solidFill>
                  <a:latin typeface="Poppins Light"/>
                  <a:ea typeface="Poppins Light"/>
                  <a:cs typeface="Poppins Light"/>
                  <a:sym typeface="Poppins Light"/>
                </a:rPr>
                <a:t>Time-Series &amp;</a:t>
              </a:r>
            </a:p>
            <a:p>
              <a:pPr algn="l" marL="0" indent="0" lvl="0">
                <a:lnSpc>
                  <a:spcPts val="9744"/>
                </a:lnSpc>
              </a:pPr>
              <a:r>
                <a:rPr lang="en-US" sz="11883">
                  <a:solidFill>
                    <a:srgbClr val="000000"/>
                  </a:solidFill>
                  <a:latin typeface="Poppins Light"/>
                  <a:ea typeface="Poppins Light"/>
                  <a:cs typeface="Poppins Light"/>
                  <a:sym typeface="Poppins Light"/>
                </a:rPr>
                <a:t>Non-Time-Series</a:t>
              </a:r>
            </a:p>
          </p:txBody>
        </p:sp>
        <p:sp>
          <p:nvSpPr>
            <p:cNvPr name="TextBox 7" id="7"/>
            <p:cNvSpPr txBox="true"/>
            <p:nvPr/>
          </p:nvSpPr>
          <p:spPr>
            <a:xfrm rot="0">
              <a:off x="2672646" y="1686808"/>
              <a:ext cx="5272751" cy="587405"/>
            </a:xfrm>
            <a:prstGeom prst="rect">
              <a:avLst/>
            </a:prstGeom>
          </p:spPr>
          <p:txBody>
            <a:bodyPr anchor="t" rtlCol="false" tIns="0" lIns="0" bIns="0" rIns="0">
              <a:spAutoFit/>
            </a:bodyPr>
            <a:lstStyle/>
            <a:p>
              <a:pPr algn="l" marL="0" indent="0" lvl="0">
                <a:lnSpc>
                  <a:spcPts val="1784"/>
                </a:lnSpc>
              </a:pPr>
              <a:r>
                <a:rPr lang="en-US" sz="1362">
                  <a:solidFill>
                    <a:srgbClr val="000000"/>
                  </a:solidFill>
                  <a:latin typeface="Poppins Light"/>
                  <a:ea typeface="Poppins Light"/>
                  <a:cs typeface="Poppins Light"/>
                  <a:sym typeface="Poppins Light"/>
                </a:rPr>
                <a:t>Sebastian Abe Santoso</a:t>
              </a:r>
            </a:p>
            <a:p>
              <a:pPr algn="l" marL="0" indent="0" lvl="0">
                <a:lnSpc>
                  <a:spcPts val="1784"/>
                </a:lnSpc>
              </a:pPr>
              <a:r>
                <a:rPr lang="en-US" sz="1362">
                  <a:solidFill>
                    <a:srgbClr val="000000"/>
                  </a:solidFill>
                  <a:latin typeface="Poppins Light"/>
                  <a:ea typeface="Poppins Light"/>
                  <a:cs typeface="Poppins Light"/>
                  <a:sym typeface="Poppins Light"/>
                </a:rPr>
                <a:t>NIM 2410817210002</a:t>
              </a:r>
            </a:p>
          </p:txBody>
        </p:sp>
        <p:sp>
          <p:nvSpPr>
            <p:cNvPr name="Freeform 8" id="8"/>
            <p:cNvSpPr/>
            <p:nvPr/>
          </p:nvSpPr>
          <p:spPr>
            <a:xfrm flipH="false" flipV="false" rot="0">
              <a:off x="1371600" y="1098463"/>
              <a:ext cx="881314" cy="616920"/>
            </a:xfrm>
            <a:custGeom>
              <a:avLst/>
              <a:gdLst/>
              <a:ahLst/>
              <a:cxnLst/>
              <a:rect r="r" b="b" t="t" l="l"/>
              <a:pathLst>
                <a:path h="616920" w="881314">
                  <a:moveTo>
                    <a:pt x="0" y="0"/>
                  </a:moveTo>
                  <a:lnTo>
                    <a:pt x="881314" y="0"/>
                  </a:lnTo>
                  <a:lnTo>
                    <a:pt x="881314" y="616920"/>
                  </a:lnTo>
                  <a:lnTo>
                    <a:pt x="0" y="6169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21638514" y="0"/>
              <a:ext cx="2745486" cy="5486400"/>
            </a:xfrm>
            <a:custGeom>
              <a:avLst/>
              <a:gdLst/>
              <a:ahLst/>
              <a:cxnLst/>
              <a:rect r="r" b="b" t="t" l="l"/>
              <a:pathLst>
                <a:path h="5486400" w="2745486">
                  <a:moveTo>
                    <a:pt x="0" y="0"/>
                  </a:moveTo>
                  <a:lnTo>
                    <a:pt x="2745486" y="0"/>
                  </a:lnTo>
                  <a:lnTo>
                    <a:pt x="2745486" y="5486400"/>
                  </a:lnTo>
                  <a:lnTo>
                    <a:pt x="0" y="5486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7025234" y="1912845"/>
              <a:ext cx="9890310" cy="9890310"/>
            </a:xfrm>
            <a:custGeom>
              <a:avLst/>
              <a:gdLst/>
              <a:ahLst/>
              <a:cxnLst/>
              <a:rect r="r" b="b" t="t" l="l"/>
              <a:pathLst>
                <a:path h="9890310" w="9890310">
                  <a:moveTo>
                    <a:pt x="0" y="0"/>
                  </a:moveTo>
                  <a:lnTo>
                    <a:pt x="9890310" y="0"/>
                  </a:lnTo>
                  <a:lnTo>
                    <a:pt x="9890310" y="9890310"/>
                  </a:lnTo>
                  <a:lnTo>
                    <a:pt x="0" y="9890310"/>
                  </a:lnTo>
                  <a:lnTo>
                    <a:pt x="0" y="0"/>
                  </a:lnTo>
                  <a:close/>
                </a:path>
              </a:pathLst>
            </a:custGeom>
            <a:blipFill>
              <a:blip r:embed="rId6">
                <a:alphaModFix amt="18000"/>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2672646" y="1195959"/>
              <a:ext cx="5045256" cy="417848"/>
            </a:xfrm>
            <a:prstGeom prst="rect">
              <a:avLst/>
            </a:prstGeom>
          </p:spPr>
          <p:txBody>
            <a:bodyPr anchor="t" rtlCol="false" tIns="0" lIns="0" bIns="0" rIns="0">
              <a:spAutoFit/>
            </a:bodyPr>
            <a:lstStyle/>
            <a:p>
              <a:pPr algn="l" marL="0" indent="0" lvl="0">
                <a:lnSpc>
                  <a:spcPts val="1966"/>
                </a:lnSpc>
              </a:pPr>
              <a:r>
                <a:rPr lang="en-US" sz="2398">
                  <a:solidFill>
                    <a:srgbClr val="000000"/>
                  </a:solidFill>
                  <a:latin typeface="Poppins Light"/>
                  <a:ea typeface="Poppins Light"/>
                  <a:cs typeface="Poppins Light"/>
                  <a:sym typeface="Poppins Light"/>
                </a:rPr>
                <a:t>Data Analitik</a:t>
              </a:r>
            </a:p>
          </p:txBody>
        </p:sp>
      </p:grpSp>
      <p:grpSp>
        <p:nvGrpSpPr>
          <p:cNvPr name="Group 12" id="12"/>
          <p:cNvGrpSpPr/>
          <p:nvPr/>
        </p:nvGrpSpPr>
        <p:grpSpPr>
          <a:xfrm rot="0">
            <a:off x="10964610" y="9399997"/>
            <a:ext cx="7867824" cy="6244946"/>
            <a:chOff x="0" y="0"/>
            <a:chExt cx="2072184" cy="1644760"/>
          </a:xfrm>
        </p:grpSpPr>
        <p:sp>
          <p:nvSpPr>
            <p:cNvPr name="Freeform 13" id="13"/>
            <p:cNvSpPr/>
            <p:nvPr/>
          </p:nvSpPr>
          <p:spPr>
            <a:xfrm flipH="false" flipV="false" rot="0">
              <a:off x="0" y="0"/>
              <a:ext cx="2072184" cy="1644759"/>
            </a:xfrm>
            <a:custGeom>
              <a:avLst/>
              <a:gdLst/>
              <a:ahLst/>
              <a:cxnLst/>
              <a:rect r="r" b="b" t="t" l="l"/>
              <a:pathLst>
                <a:path h="1644759" w="2072184">
                  <a:moveTo>
                    <a:pt x="0" y="0"/>
                  </a:moveTo>
                  <a:lnTo>
                    <a:pt x="2072184" y="0"/>
                  </a:lnTo>
                  <a:lnTo>
                    <a:pt x="2072184" y="1644759"/>
                  </a:lnTo>
                  <a:lnTo>
                    <a:pt x="0" y="1644759"/>
                  </a:lnTo>
                  <a:close/>
                </a:path>
              </a:pathLst>
            </a:custGeom>
            <a:solidFill>
              <a:srgbClr val="FFFFFF"/>
            </a:solidFill>
          </p:spPr>
        </p:sp>
        <p:sp>
          <p:nvSpPr>
            <p:cNvPr name="TextBox 14" id="14"/>
            <p:cNvSpPr txBox="true"/>
            <p:nvPr/>
          </p:nvSpPr>
          <p:spPr>
            <a:xfrm>
              <a:off x="0" y="66675"/>
              <a:ext cx="2072184" cy="1578085"/>
            </a:xfrm>
            <a:prstGeom prst="rect">
              <a:avLst/>
            </a:prstGeom>
          </p:spPr>
          <p:txBody>
            <a:bodyPr anchor="ctr" rtlCol="false" tIns="50800" lIns="50800" bIns="50800" rIns="50800"/>
            <a:lstStyle/>
            <a:p>
              <a:pPr algn="ctr">
                <a:lnSpc>
                  <a:spcPts val="1966"/>
                </a:lnSpc>
              </a:pPr>
            </a:p>
          </p:txBody>
        </p:sp>
      </p:grpSp>
      <p:grpSp>
        <p:nvGrpSpPr>
          <p:cNvPr name="Group 15" id="15"/>
          <p:cNvGrpSpPr/>
          <p:nvPr/>
        </p:nvGrpSpPr>
        <p:grpSpPr>
          <a:xfrm rot="0">
            <a:off x="10420176" y="0"/>
            <a:ext cx="7867824" cy="4910935"/>
            <a:chOff x="0" y="0"/>
            <a:chExt cx="2072184" cy="1293415"/>
          </a:xfrm>
        </p:grpSpPr>
        <p:sp>
          <p:nvSpPr>
            <p:cNvPr name="Freeform 16" id="16"/>
            <p:cNvSpPr/>
            <p:nvPr/>
          </p:nvSpPr>
          <p:spPr>
            <a:xfrm flipH="false" flipV="false" rot="0">
              <a:off x="0" y="0"/>
              <a:ext cx="2072184" cy="1293415"/>
            </a:xfrm>
            <a:custGeom>
              <a:avLst/>
              <a:gdLst/>
              <a:ahLst/>
              <a:cxnLst/>
              <a:rect r="r" b="b" t="t" l="l"/>
              <a:pathLst>
                <a:path h="1293415" w="2072184">
                  <a:moveTo>
                    <a:pt x="0" y="0"/>
                  </a:moveTo>
                  <a:lnTo>
                    <a:pt x="2072184" y="0"/>
                  </a:lnTo>
                  <a:lnTo>
                    <a:pt x="2072184" y="1293415"/>
                  </a:lnTo>
                  <a:lnTo>
                    <a:pt x="0" y="1293415"/>
                  </a:lnTo>
                  <a:close/>
                </a:path>
              </a:pathLst>
            </a:custGeom>
            <a:solidFill>
              <a:srgbClr val="FFFFFF"/>
            </a:solidFill>
          </p:spPr>
        </p:sp>
        <p:sp>
          <p:nvSpPr>
            <p:cNvPr name="TextBox 17" id="17"/>
            <p:cNvSpPr txBox="true"/>
            <p:nvPr/>
          </p:nvSpPr>
          <p:spPr>
            <a:xfrm>
              <a:off x="0" y="66675"/>
              <a:ext cx="2072184" cy="1226740"/>
            </a:xfrm>
            <a:prstGeom prst="rect">
              <a:avLst/>
            </a:prstGeom>
          </p:spPr>
          <p:txBody>
            <a:bodyPr anchor="ctr" rtlCol="false" tIns="50800" lIns="50800" bIns="50800" rIns="50800"/>
            <a:lstStyle/>
            <a:p>
              <a:pPr algn="ctr">
                <a:lnSpc>
                  <a:spcPts val="1966"/>
                </a:lnSpc>
              </a:pPr>
            </a:p>
          </p:txBody>
        </p:sp>
      </p:grpSp>
      <p:grpSp>
        <p:nvGrpSpPr>
          <p:cNvPr name="Group 18" id="18"/>
          <p:cNvGrpSpPr/>
          <p:nvPr/>
        </p:nvGrpSpPr>
        <p:grpSpPr>
          <a:xfrm rot="0">
            <a:off x="9829887" y="0"/>
            <a:ext cx="2843541" cy="10287000"/>
            <a:chOff x="0" y="0"/>
            <a:chExt cx="748916" cy="2709333"/>
          </a:xfrm>
        </p:grpSpPr>
        <p:sp>
          <p:nvSpPr>
            <p:cNvPr name="Freeform 19" id="19"/>
            <p:cNvSpPr/>
            <p:nvPr/>
          </p:nvSpPr>
          <p:spPr>
            <a:xfrm flipH="false" flipV="false" rot="0">
              <a:off x="0" y="0"/>
              <a:ext cx="748916" cy="2709333"/>
            </a:xfrm>
            <a:custGeom>
              <a:avLst/>
              <a:gdLst/>
              <a:ahLst/>
              <a:cxnLst/>
              <a:rect r="r" b="b" t="t" l="l"/>
              <a:pathLst>
                <a:path h="2709333" w="748916">
                  <a:moveTo>
                    <a:pt x="0" y="0"/>
                  </a:moveTo>
                  <a:lnTo>
                    <a:pt x="748916" y="0"/>
                  </a:lnTo>
                  <a:lnTo>
                    <a:pt x="748916" y="2709333"/>
                  </a:lnTo>
                  <a:lnTo>
                    <a:pt x="0" y="2709333"/>
                  </a:lnTo>
                  <a:close/>
                </a:path>
              </a:pathLst>
            </a:custGeom>
            <a:solidFill>
              <a:srgbClr val="FFFFFF"/>
            </a:solidFill>
          </p:spPr>
        </p:sp>
        <p:sp>
          <p:nvSpPr>
            <p:cNvPr name="TextBox 20" id="20"/>
            <p:cNvSpPr txBox="true"/>
            <p:nvPr/>
          </p:nvSpPr>
          <p:spPr>
            <a:xfrm>
              <a:off x="0" y="66675"/>
              <a:ext cx="748916" cy="2642658"/>
            </a:xfrm>
            <a:prstGeom prst="rect">
              <a:avLst/>
            </a:prstGeom>
          </p:spPr>
          <p:txBody>
            <a:bodyPr anchor="ctr" rtlCol="false" tIns="50800" lIns="50800" bIns="50800" rIns="50800"/>
            <a:lstStyle/>
            <a:p>
              <a:pPr algn="ctr">
                <a:lnSpc>
                  <a:spcPts val="1966"/>
                </a:lnSpc>
              </a:pPr>
            </a:p>
          </p:txBody>
        </p:sp>
      </p:grpSp>
      <p:grpSp>
        <p:nvGrpSpPr>
          <p:cNvPr name="Group 21" id="21"/>
          <p:cNvGrpSpPr/>
          <p:nvPr/>
        </p:nvGrpSpPr>
        <p:grpSpPr>
          <a:xfrm rot="0">
            <a:off x="0" y="0"/>
            <a:ext cx="9829887" cy="10287000"/>
            <a:chOff x="0" y="0"/>
            <a:chExt cx="2588941" cy="2709333"/>
          </a:xfrm>
        </p:grpSpPr>
        <p:sp>
          <p:nvSpPr>
            <p:cNvPr name="Freeform 22" id="22"/>
            <p:cNvSpPr/>
            <p:nvPr/>
          </p:nvSpPr>
          <p:spPr>
            <a:xfrm flipH="false" flipV="false" rot="0">
              <a:off x="0" y="0"/>
              <a:ext cx="2588941" cy="2709333"/>
            </a:xfrm>
            <a:custGeom>
              <a:avLst/>
              <a:gdLst/>
              <a:ahLst/>
              <a:cxnLst/>
              <a:rect r="r" b="b" t="t" l="l"/>
              <a:pathLst>
                <a:path h="2709333" w="2588941">
                  <a:moveTo>
                    <a:pt x="0" y="0"/>
                  </a:moveTo>
                  <a:lnTo>
                    <a:pt x="2588941" y="0"/>
                  </a:lnTo>
                  <a:lnTo>
                    <a:pt x="2588941" y="2709333"/>
                  </a:lnTo>
                  <a:lnTo>
                    <a:pt x="0" y="2709333"/>
                  </a:lnTo>
                  <a:close/>
                </a:path>
              </a:pathLst>
            </a:custGeom>
            <a:solidFill>
              <a:srgbClr val="FFFFFF"/>
            </a:solidFill>
          </p:spPr>
        </p:sp>
        <p:sp>
          <p:nvSpPr>
            <p:cNvPr name="TextBox 23" id="23"/>
            <p:cNvSpPr txBox="true"/>
            <p:nvPr/>
          </p:nvSpPr>
          <p:spPr>
            <a:xfrm>
              <a:off x="0" y="66675"/>
              <a:ext cx="2588941" cy="2642658"/>
            </a:xfrm>
            <a:prstGeom prst="rect">
              <a:avLst/>
            </a:prstGeom>
          </p:spPr>
          <p:txBody>
            <a:bodyPr anchor="ctr" rtlCol="false" tIns="50800" lIns="50800" bIns="50800" rIns="50800"/>
            <a:lstStyle/>
            <a:p>
              <a:pPr algn="ctr">
                <a:lnSpc>
                  <a:spcPts val="1966"/>
                </a:lnSpc>
              </a:pPr>
            </a:p>
          </p:txBody>
        </p:sp>
      </p:grpSp>
      <p:sp>
        <p:nvSpPr>
          <p:cNvPr name="Freeform 24" id="24"/>
          <p:cNvSpPr/>
          <p:nvPr/>
        </p:nvSpPr>
        <p:spPr>
          <a:xfrm flipH="false" flipV="false" rot="0">
            <a:off x="-2105443" y="-2025655"/>
            <a:ext cx="7417732" cy="7417732"/>
          </a:xfrm>
          <a:custGeom>
            <a:avLst/>
            <a:gdLst/>
            <a:ahLst/>
            <a:cxnLst/>
            <a:rect r="r" b="b" t="t" l="l"/>
            <a:pathLst>
              <a:path h="7417732" w="7417732">
                <a:moveTo>
                  <a:pt x="0" y="0"/>
                </a:moveTo>
                <a:lnTo>
                  <a:pt x="7417732" y="0"/>
                </a:lnTo>
                <a:lnTo>
                  <a:pt x="7417732" y="7417733"/>
                </a:lnTo>
                <a:lnTo>
                  <a:pt x="0" y="7417733"/>
                </a:lnTo>
                <a:lnTo>
                  <a:pt x="0" y="0"/>
                </a:lnTo>
                <a:close/>
              </a:path>
            </a:pathLst>
          </a:custGeom>
          <a:blipFill>
            <a:blip r:embed="rId6">
              <a:alphaModFix amt="5000"/>
              <a:extLst>
                <a:ext uri="{96DAC541-7B7A-43D3-8B79-37D633B846F1}">
                  <asvg:svgBlip xmlns:asvg="http://schemas.microsoft.com/office/drawing/2016/SVG/main" r:embed="rId7"/>
                </a:ext>
              </a:extLst>
            </a:blip>
            <a:stretch>
              <a:fillRect l="0" t="0" r="0" b="0"/>
            </a:stretch>
          </a:blipFill>
        </p:spPr>
      </p:sp>
      <p:graphicFrame>
        <p:nvGraphicFramePr>
          <p:cNvPr name="Object 25" id="25"/>
          <p:cNvGraphicFramePr/>
          <p:nvPr/>
        </p:nvGraphicFramePr>
        <p:xfrm>
          <a:off x="9465299" y="883343"/>
          <a:ext cx="3898232" cy="8229600"/>
        </p:xfrm>
        <a:graphic>
          <a:graphicData uri="http://schemas.openxmlformats.org/presentationml/2006/ole">
            <p:oleObj imgW="5537200" imgH="9867900" r:id="rId9" progId="Excel.Sheet.12" name="Worksheet">
              <p:embed/>
              <p:pic>
                <p:nvPicPr>
                  <p:cNvPr name="" id="0"/>
                  <p:cNvPicPr/>
                  <p:nvPr/>
                </p:nvPicPr>
                <p:blipFill>
                  <a:blip r:embed="rId8"/>
                  <a:stretch>
                    <a:fillRect/>
                  </a:stretch>
                </p:blipFill>
                <p:spPr>
                  <a:xfrm>
                    <a:off x="1270000" y="1270000"/>
                    <a:ext cx="1270000" cy="1270000"/>
                  </a:xfrm>
                  <a:prstGeom prst="rect"/>
                </p:spPr>
              </p:pic>
            </p:oleObj>
          </a:graphicData>
        </a:graphic>
      </p:graphicFrame>
      <p:sp>
        <p:nvSpPr>
          <p:cNvPr name="TextBox 26" id="26"/>
          <p:cNvSpPr txBox="true"/>
          <p:nvPr/>
        </p:nvSpPr>
        <p:spPr>
          <a:xfrm rot="0">
            <a:off x="1025515" y="4792475"/>
            <a:ext cx="8532824" cy="1800482"/>
          </a:xfrm>
          <a:prstGeom prst="rect">
            <a:avLst/>
          </a:prstGeom>
        </p:spPr>
        <p:txBody>
          <a:bodyPr anchor="t" rtlCol="false" tIns="0" lIns="0" bIns="0" rIns="0">
            <a:spAutoFit/>
          </a:bodyPr>
          <a:lstStyle/>
          <a:p>
            <a:pPr algn="l" marL="0" indent="0" lvl="0">
              <a:lnSpc>
                <a:spcPts val="6443"/>
              </a:lnSpc>
            </a:pPr>
            <a:r>
              <a:rPr lang="en-US" sz="7858">
                <a:solidFill>
                  <a:srgbClr val="000000"/>
                </a:solidFill>
                <a:latin typeface="Poppins Light"/>
                <a:ea typeface="Poppins Light"/>
                <a:cs typeface="Poppins Light"/>
                <a:sym typeface="Poppins Light"/>
              </a:rPr>
              <a:t>Dataset 2 </a:t>
            </a:r>
          </a:p>
          <a:p>
            <a:pPr algn="l" marL="0" indent="0" lvl="0">
              <a:lnSpc>
                <a:spcPts val="6443"/>
              </a:lnSpc>
            </a:pPr>
            <a:r>
              <a:rPr lang="en-US" sz="7858">
                <a:solidFill>
                  <a:srgbClr val="000000"/>
                </a:solidFill>
                <a:latin typeface="Poppins Light"/>
                <a:ea typeface="Poppins Light"/>
                <a:cs typeface="Poppins Light"/>
                <a:sym typeface="Poppins Light"/>
              </a:rPr>
              <a:t>Online Shoppers</a:t>
            </a:r>
          </a:p>
        </p:txBody>
      </p:sp>
      <p:sp>
        <p:nvSpPr>
          <p:cNvPr name="TextBox 27" id="27"/>
          <p:cNvSpPr txBox="true"/>
          <p:nvPr/>
        </p:nvSpPr>
        <p:spPr>
          <a:xfrm rot="0">
            <a:off x="1028700" y="461176"/>
            <a:ext cx="3783942" cy="544368"/>
          </a:xfrm>
          <a:prstGeom prst="rect">
            <a:avLst/>
          </a:prstGeom>
        </p:spPr>
        <p:txBody>
          <a:bodyPr anchor="t" rtlCol="false" tIns="0" lIns="0" bIns="0" rIns="0">
            <a:spAutoFit/>
          </a:bodyPr>
          <a:lstStyle/>
          <a:p>
            <a:pPr algn="l">
              <a:lnSpc>
                <a:spcPts val="1966"/>
              </a:lnSpc>
            </a:pPr>
            <a:r>
              <a:rPr lang="en-US" sz="2398" b="true">
                <a:solidFill>
                  <a:srgbClr val="000000"/>
                </a:solidFill>
                <a:latin typeface="Poppins Bold"/>
                <a:ea typeface="Poppins Bold"/>
                <a:cs typeface="Poppins Bold"/>
                <a:sym typeface="Poppins Bold"/>
              </a:rPr>
              <a:t>Online Shoppers</a:t>
            </a:r>
          </a:p>
          <a:p>
            <a:pPr algn="l" marL="0" indent="0" lvl="0">
              <a:lnSpc>
                <a:spcPts val="1966"/>
              </a:lnSpc>
            </a:pPr>
          </a:p>
        </p:txBody>
      </p:sp>
      <p:sp>
        <p:nvSpPr>
          <p:cNvPr name="TextBox 28" id="28"/>
          <p:cNvSpPr txBox="true"/>
          <p:nvPr/>
        </p:nvSpPr>
        <p:spPr>
          <a:xfrm rot="0">
            <a:off x="1072751" y="1248975"/>
            <a:ext cx="6224472" cy="852602"/>
          </a:xfrm>
          <a:prstGeom prst="rect">
            <a:avLst/>
          </a:prstGeom>
        </p:spPr>
        <p:txBody>
          <a:bodyPr anchor="t" rtlCol="false" tIns="0" lIns="0" bIns="0" rIns="0">
            <a:spAutoFit/>
          </a:bodyPr>
          <a:lstStyle/>
          <a:p>
            <a:pPr algn="l" marL="0" indent="0" lvl="0">
              <a:lnSpc>
                <a:spcPts val="2222"/>
              </a:lnSpc>
            </a:pPr>
            <a:r>
              <a:rPr lang="en-US" b="true" sz="1696">
                <a:solidFill>
                  <a:srgbClr val="545454"/>
                </a:solidFill>
                <a:latin typeface="Poppins Bold"/>
                <a:ea typeface="Poppins Bold"/>
                <a:cs typeface="Poppins Bold"/>
                <a:sym typeface="Poppins Bold"/>
              </a:rPr>
              <a:t>Sumber resmi: UCI Machine Learning Repository</a:t>
            </a:r>
          </a:p>
          <a:p>
            <a:pPr algn="l" marL="0" indent="0" lvl="0">
              <a:lnSpc>
                <a:spcPts val="2222"/>
              </a:lnSpc>
            </a:pPr>
            <a:r>
              <a:rPr lang="en-US" sz="1696">
                <a:solidFill>
                  <a:srgbClr val="545454"/>
                </a:solidFill>
                <a:latin typeface="Poppins"/>
                <a:ea typeface="Poppins"/>
                <a:cs typeface="Poppins"/>
                <a:sym typeface="Poppins"/>
              </a:rPr>
              <a:t>Dataset multivariat yang merekam sesi kunjungan pengguna pada situs e-commerce.</a:t>
            </a:r>
          </a:p>
        </p:txBody>
      </p:sp>
      <p:sp>
        <p:nvSpPr>
          <p:cNvPr name="TextBox 29" id="29"/>
          <p:cNvSpPr txBox="true"/>
          <p:nvPr/>
        </p:nvSpPr>
        <p:spPr>
          <a:xfrm rot="0">
            <a:off x="1059643" y="810287"/>
            <a:ext cx="3581948" cy="419285"/>
          </a:xfrm>
          <a:prstGeom prst="rect">
            <a:avLst/>
          </a:prstGeom>
        </p:spPr>
        <p:txBody>
          <a:bodyPr anchor="t" rtlCol="false" tIns="0" lIns="0" bIns="0" rIns="0">
            <a:spAutoFit/>
          </a:bodyPr>
          <a:lstStyle/>
          <a:p>
            <a:pPr algn="l" marL="0" indent="0" lvl="0">
              <a:lnSpc>
                <a:spcPts val="3258"/>
              </a:lnSpc>
            </a:pPr>
            <a:r>
              <a:rPr lang="en-US" sz="2487">
                <a:solidFill>
                  <a:srgbClr val="2E2E72"/>
                </a:solidFill>
                <a:latin typeface="Poppins Light"/>
                <a:ea typeface="Poppins Light"/>
                <a:cs typeface="Poppins Light"/>
                <a:sym typeface="Poppins Light"/>
              </a:rPr>
              <a:t>Deskripsi Data</a:t>
            </a:r>
          </a:p>
        </p:txBody>
      </p:sp>
      <p:sp>
        <p:nvSpPr>
          <p:cNvPr name="TextBox 30" id="30"/>
          <p:cNvSpPr txBox="true"/>
          <p:nvPr/>
        </p:nvSpPr>
        <p:spPr>
          <a:xfrm rot="0">
            <a:off x="6029184" y="5210175"/>
            <a:ext cx="2470161" cy="296718"/>
          </a:xfrm>
          <a:prstGeom prst="rect">
            <a:avLst/>
          </a:prstGeom>
        </p:spPr>
        <p:txBody>
          <a:bodyPr anchor="t" rtlCol="false" tIns="0" lIns="0" bIns="0" rIns="0">
            <a:spAutoFit/>
          </a:bodyPr>
          <a:lstStyle/>
          <a:p>
            <a:pPr algn="l" marL="0" indent="0" lvl="0">
              <a:lnSpc>
                <a:spcPts val="1966"/>
              </a:lnSpc>
            </a:pPr>
            <a:r>
              <a:rPr lang="en-US" sz="2398">
                <a:solidFill>
                  <a:srgbClr val="000000"/>
                </a:solidFill>
                <a:latin typeface="Poppins Light"/>
                <a:ea typeface="Poppins Light"/>
                <a:cs typeface="Poppins Light"/>
                <a:sym typeface="Poppins Light"/>
              </a:rPr>
              <a:t>Description</a:t>
            </a:r>
          </a:p>
        </p:txBody>
      </p:sp>
      <p:sp>
        <p:nvSpPr>
          <p:cNvPr name="TextBox 31" id="31"/>
          <p:cNvSpPr txBox="true"/>
          <p:nvPr/>
        </p:nvSpPr>
        <p:spPr>
          <a:xfrm rot="0">
            <a:off x="1072751" y="2224931"/>
            <a:ext cx="5830266" cy="1110220"/>
          </a:xfrm>
          <a:prstGeom prst="rect">
            <a:avLst/>
          </a:prstGeom>
        </p:spPr>
        <p:txBody>
          <a:bodyPr anchor="t" rtlCol="false" tIns="0" lIns="0" bIns="0" rIns="0">
            <a:spAutoFit/>
          </a:bodyPr>
          <a:lstStyle/>
          <a:p>
            <a:pPr algn="l" marL="0" indent="0" lvl="0">
              <a:lnSpc>
                <a:spcPts val="2180"/>
              </a:lnSpc>
            </a:pPr>
            <a:r>
              <a:rPr lang="en-US" b="true" sz="1664">
                <a:solidFill>
                  <a:srgbClr val="545454"/>
                </a:solidFill>
                <a:latin typeface="Poppins Bold"/>
                <a:ea typeface="Poppins Bold"/>
                <a:cs typeface="Poppins Bold"/>
                <a:sym typeface="Poppins Bold"/>
              </a:rPr>
              <a:t>S</a:t>
            </a:r>
            <a:r>
              <a:rPr lang="en-US" b="true" sz="1664">
                <a:solidFill>
                  <a:srgbClr val="545454"/>
                </a:solidFill>
                <a:latin typeface="Poppins Bold"/>
                <a:ea typeface="Poppins Bold"/>
                <a:cs typeface="Poppins Bold"/>
                <a:sym typeface="Poppins Bold"/>
              </a:rPr>
              <a:t>esi Kunjungan Pengguna</a:t>
            </a:r>
          </a:p>
          <a:p>
            <a:pPr algn="l" marL="0" indent="0" lvl="0">
              <a:lnSpc>
                <a:spcPts val="2180"/>
              </a:lnSpc>
            </a:pPr>
            <a:r>
              <a:rPr lang="en-US" sz="1664">
                <a:solidFill>
                  <a:srgbClr val="545454"/>
                </a:solidFill>
                <a:latin typeface="Poppins Light"/>
                <a:ea typeface="Poppins Light"/>
                <a:cs typeface="Poppins Light"/>
                <a:sym typeface="Poppins Light"/>
              </a:rPr>
              <a:t>Setiap baris merepresentasikan satu sesi kunjungan pengguna, termasuk aktivitas halaman, durasi, karakteristik pengguna, dan informasi transaksi.</a:t>
            </a:r>
          </a:p>
        </p:txBody>
      </p:sp>
      <p:sp>
        <p:nvSpPr>
          <p:cNvPr name="TextBox 32" id="32"/>
          <p:cNvSpPr txBox="true"/>
          <p:nvPr/>
        </p:nvSpPr>
        <p:spPr>
          <a:xfrm rot="0">
            <a:off x="1059643" y="3458975"/>
            <a:ext cx="5830266" cy="1386445"/>
          </a:xfrm>
          <a:prstGeom prst="rect">
            <a:avLst/>
          </a:prstGeom>
        </p:spPr>
        <p:txBody>
          <a:bodyPr anchor="t" rtlCol="false" tIns="0" lIns="0" bIns="0" rIns="0">
            <a:spAutoFit/>
          </a:bodyPr>
          <a:lstStyle/>
          <a:p>
            <a:pPr algn="l">
              <a:lnSpc>
                <a:spcPts val="2180"/>
              </a:lnSpc>
            </a:pPr>
            <a:r>
              <a:rPr lang="en-US" sz="1664" b="true">
                <a:solidFill>
                  <a:srgbClr val="545454"/>
                </a:solidFill>
                <a:latin typeface="Poppins Bold"/>
                <a:ea typeface="Poppins Bold"/>
                <a:cs typeface="Poppins Bold"/>
                <a:sym typeface="Poppins Bold"/>
              </a:rPr>
              <a:t>12.330 baris, 18 kolom</a:t>
            </a:r>
          </a:p>
          <a:p>
            <a:pPr algn="l" marL="0" indent="0" lvl="0">
              <a:lnSpc>
                <a:spcPts val="2180"/>
              </a:lnSpc>
            </a:pPr>
            <a:r>
              <a:rPr lang="en-US" sz="1664">
                <a:solidFill>
                  <a:srgbClr val="545454"/>
                </a:solidFill>
                <a:latin typeface="Poppins Light"/>
                <a:ea typeface="Poppins Light"/>
                <a:cs typeface="Poppins Light"/>
                <a:sym typeface="Poppins Light"/>
              </a:rPr>
              <a:t>Dataset terdiri dari 12.330 baris dan 18 kolom dengan periode pengumpulan selama satu tahun. Variabel targetnya adalah Revenue. </a:t>
            </a:r>
          </a:p>
          <a:p>
            <a:pPr algn="l" marL="0" indent="0" lvl="0">
              <a:lnSpc>
                <a:spcPts val="2180"/>
              </a:lnSpc>
            </a:pPr>
          </a:p>
        </p:txBody>
      </p:sp>
      <p:sp>
        <p:nvSpPr>
          <p:cNvPr name="TextBox 33" id="33"/>
          <p:cNvSpPr txBox="true"/>
          <p:nvPr/>
        </p:nvSpPr>
        <p:spPr>
          <a:xfrm rot="0">
            <a:off x="1025515" y="6552318"/>
            <a:ext cx="7844343" cy="3258185"/>
          </a:xfrm>
          <a:prstGeom prst="rect">
            <a:avLst/>
          </a:prstGeom>
        </p:spPr>
        <p:txBody>
          <a:bodyPr anchor="t" rtlCol="false" tIns="0" lIns="0" bIns="0" rIns="0">
            <a:spAutoFit/>
          </a:bodyPr>
          <a:lstStyle/>
          <a:p>
            <a:pPr algn="just" marL="0" indent="0" lvl="0">
              <a:lnSpc>
                <a:spcPts val="2620"/>
              </a:lnSpc>
            </a:pPr>
            <a:r>
              <a:rPr lang="en-US" sz="2000">
                <a:solidFill>
                  <a:srgbClr val="545454"/>
                </a:solidFill>
                <a:latin typeface="Poppins Light"/>
                <a:ea typeface="Poppins Light"/>
                <a:cs typeface="Poppins Light"/>
                <a:sym typeface="Poppins Light"/>
              </a:rPr>
              <a:t>Online</a:t>
            </a:r>
            <a:r>
              <a:rPr lang="en-US" sz="2000">
                <a:solidFill>
                  <a:srgbClr val="545454"/>
                </a:solidFill>
                <a:latin typeface="Poppins Light"/>
                <a:ea typeface="Poppins Light"/>
                <a:cs typeface="Poppins Light"/>
                <a:sym typeface="Poppins Light"/>
              </a:rPr>
              <a:t> Shoppers Purchasing Intention Dataset adalah dataset non-time-series yang bersumber dari UCI Machine Learning Repository. Dataset ini berisi informasi mengenai sesi kunjungan pengguna pada situs e-commerce, seperti aktivitas halaman, durasi kunjungan, karakteristik pengguna, dan hasil transaksi. Dataset terdiri dari 12.330 sesi dan 18 atribut, dengan Revenue sebagai variabel target. Meskipun memiliki atribut Month dan Weekend, dataset ini tidak memiliki timestamp individual dan tidak merepresentasikan rangkaian observasi waktu yang kontinu. </a:t>
            </a:r>
          </a:p>
        </p:txBody>
      </p:sp>
      <p:sp>
        <p:nvSpPr>
          <p:cNvPr name="TextBox 34" id="34"/>
          <p:cNvSpPr txBox="true"/>
          <p:nvPr/>
        </p:nvSpPr>
        <p:spPr>
          <a:xfrm rot="0">
            <a:off x="12613111" y="280737"/>
            <a:ext cx="2095248" cy="419285"/>
          </a:xfrm>
          <a:prstGeom prst="rect">
            <a:avLst/>
          </a:prstGeom>
        </p:spPr>
        <p:txBody>
          <a:bodyPr anchor="t" rtlCol="false" tIns="0" lIns="0" bIns="0" rIns="0">
            <a:spAutoFit/>
          </a:bodyPr>
          <a:lstStyle/>
          <a:p>
            <a:pPr algn="l" marL="0" indent="0" lvl="0">
              <a:lnSpc>
                <a:spcPts val="3258"/>
              </a:lnSpc>
            </a:pPr>
            <a:r>
              <a:rPr lang="en-US" sz="2487">
                <a:solidFill>
                  <a:srgbClr val="2E2E72"/>
                </a:solidFill>
                <a:latin typeface="Poppins Light"/>
                <a:ea typeface="Poppins Light"/>
                <a:cs typeface="Poppins Light"/>
                <a:sym typeface="Poppins Light"/>
              </a:rPr>
              <a:t>Struktur Data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837575"/>
            <a:ext cx="1282573" cy="864134"/>
          </a:xfrm>
          <a:custGeom>
            <a:avLst/>
            <a:gdLst/>
            <a:ahLst/>
            <a:cxnLst/>
            <a:rect r="r" b="b" t="t" l="l"/>
            <a:pathLst>
              <a:path h="864134" w="1282573">
                <a:moveTo>
                  <a:pt x="0" y="0"/>
                </a:moveTo>
                <a:lnTo>
                  <a:pt x="1282573" y="0"/>
                </a:lnTo>
                <a:lnTo>
                  <a:pt x="1282573" y="864133"/>
                </a:lnTo>
                <a:lnTo>
                  <a:pt x="0" y="8641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4575862"/>
            <a:ext cx="1282573" cy="864134"/>
          </a:xfrm>
          <a:custGeom>
            <a:avLst/>
            <a:gdLst/>
            <a:ahLst/>
            <a:cxnLst/>
            <a:rect r="r" b="b" t="t" l="l"/>
            <a:pathLst>
              <a:path h="864134" w="1282573">
                <a:moveTo>
                  <a:pt x="0" y="0"/>
                </a:moveTo>
                <a:lnTo>
                  <a:pt x="1282573" y="0"/>
                </a:lnTo>
                <a:lnTo>
                  <a:pt x="1282573" y="864134"/>
                </a:lnTo>
                <a:lnTo>
                  <a:pt x="0" y="864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6870075"/>
            <a:ext cx="1282573" cy="864134"/>
          </a:xfrm>
          <a:custGeom>
            <a:avLst/>
            <a:gdLst/>
            <a:ahLst/>
            <a:cxnLst/>
            <a:rect r="r" b="b" t="t" l="l"/>
            <a:pathLst>
              <a:path h="864134" w="1282573">
                <a:moveTo>
                  <a:pt x="0" y="0"/>
                </a:moveTo>
                <a:lnTo>
                  <a:pt x="1282573" y="0"/>
                </a:lnTo>
                <a:lnTo>
                  <a:pt x="1282573" y="864134"/>
                </a:lnTo>
                <a:lnTo>
                  <a:pt x="0" y="8641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186665" y="-173403"/>
            <a:ext cx="7417732" cy="7417732"/>
          </a:xfrm>
          <a:custGeom>
            <a:avLst/>
            <a:gdLst/>
            <a:ahLst/>
            <a:cxnLst/>
            <a:rect r="r" b="b" t="t" l="l"/>
            <a:pathLst>
              <a:path h="7417732" w="7417732">
                <a:moveTo>
                  <a:pt x="0" y="0"/>
                </a:moveTo>
                <a:lnTo>
                  <a:pt x="7417732" y="0"/>
                </a:lnTo>
                <a:lnTo>
                  <a:pt x="7417732" y="7417732"/>
                </a:lnTo>
                <a:lnTo>
                  <a:pt x="0" y="7417732"/>
                </a:lnTo>
                <a:lnTo>
                  <a:pt x="0" y="0"/>
                </a:lnTo>
                <a:close/>
              </a:path>
            </a:pathLst>
          </a:custGeom>
          <a:blipFill>
            <a:blip r:embed="rId6">
              <a:alphaModFix amt="5000"/>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2085218" y="231723"/>
            <a:ext cx="2838959" cy="5267466"/>
          </a:xfrm>
          <a:custGeom>
            <a:avLst/>
            <a:gdLst/>
            <a:ahLst/>
            <a:cxnLst/>
            <a:rect r="r" b="b" t="t" l="l"/>
            <a:pathLst>
              <a:path h="5267466" w="2838959">
                <a:moveTo>
                  <a:pt x="0" y="0"/>
                </a:moveTo>
                <a:lnTo>
                  <a:pt x="2838959" y="0"/>
                </a:lnTo>
                <a:lnTo>
                  <a:pt x="2838959" y="5267467"/>
                </a:lnTo>
                <a:lnTo>
                  <a:pt x="0" y="5267467"/>
                </a:lnTo>
                <a:lnTo>
                  <a:pt x="0" y="0"/>
                </a:lnTo>
                <a:close/>
              </a:path>
            </a:pathLst>
          </a:custGeom>
          <a:blipFill>
            <a:blip r:embed="rId8"/>
            <a:stretch>
              <a:fillRect l="0" t="0" r="0" b="0"/>
            </a:stretch>
          </a:blipFill>
        </p:spPr>
      </p:sp>
      <p:sp>
        <p:nvSpPr>
          <p:cNvPr name="Freeform 7" id="7"/>
          <p:cNvSpPr/>
          <p:nvPr/>
        </p:nvSpPr>
        <p:spPr>
          <a:xfrm flipH="false" flipV="false" rot="0">
            <a:off x="15080250" y="203479"/>
            <a:ext cx="2835733" cy="8488543"/>
          </a:xfrm>
          <a:custGeom>
            <a:avLst/>
            <a:gdLst/>
            <a:ahLst/>
            <a:cxnLst/>
            <a:rect r="r" b="b" t="t" l="l"/>
            <a:pathLst>
              <a:path h="8488543" w="2835733">
                <a:moveTo>
                  <a:pt x="0" y="0"/>
                </a:moveTo>
                <a:lnTo>
                  <a:pt x="2835733" y="0"/>
                </a:lnTo>
                <a:lnTo>
                  <a:pt x="2835733" y="8488543"/>
                </a:lnTo>
                <a:lnTo>
                  <a:pt x="0" y="8488543"/>
                </a:lnTo>
                <a:lnTo>
                  <a:pt x="0" y="0"/>
                </a:lnTo>
                <a:close/>
              </a:path>
            </a:pathLst>
          </a:custGeom>
          <a:blipFill>
            <a:blip r:embed="rId9"/>
            <a:stretch>
              <a:fillRect l="0" t="0" r="0" b="0"/>
            </a:stretch>
          </a:blipFill>
        </p:spPr>
      </p:sp>
      <p:sp>
        <p:nvSpPr>
          <p:cNvPr name="TextBox 8" id="8"/>
          <p:cNvSpPr txBox="true"/>
          <p:nvPr/>
        </p:nvSpPr>
        <p:spPr>
          <a:xfrm rot="0">
            <a:off x="1028700" y="413029"/>
            <a:ext cx="7555850" cy="985083"/>
          </a:xfrm>
          <a:prstGeom prst="rect">
            <a:avLst/>
          </a:prstGeom>
        </p:spPr>
        <p:txBody>
          <a:bodyPr anchor="t" rtlCol="false" tIns="0" lIns="0" bIns="0" rIns="0">
            <a:spAutoFit/>
          </a:bodyPr>
          <a:lstStyle/>
          <a:p>
            <a:pPr algn="l" marL="0" indent="0" lvl="0">
              <a:lnSpc>
                <a:spcPts val="6443"/>
              </a:lnSpc>
            </a:pPr>
            <a:r>
              <a:rPr lang="en-US" sz="7858">
                <a:solidFill>
                  <a:srgbClr val="000000"/>
                </a:solidFill>
                <a:latin typeface="Poppins Light"/>
                <a:ea typeface="Poppins Light"/>
                <a:cs typeface="Poppins Light"/>
                <a:sym typeface="Poppins Light"/>
              </a:rPr>
              <a:t>Hasil Profiling I</a:t>
            </a:r>
          </a:p>
        </p:txBody>
      </p:sp>
      <p:sp>
        <p:nvSpPr>
          <p:cNvPr name="TextBox 9" id="9"/>
          <p:cNvSpPr txBox="true"/>
          <p:nvPr/>
        </p:nvSpPr>
        <p:spPr>
          <a:xfrm rot="0">
            <a:off x="2980087" y="2445524"/>
            <a:ext cx="4556380" cy="1477317"/>
          </a:xfrm>
          <a:prstGeom prst="rect">
            <a:avLst/>
          </a:prstGeom>
        </p:spPr>
        <p:txBody>
          <a:bodyPr anchor="t" rtlCol="false" tIns="0" lIns="0" bIns="0" rIns="0">
            <a:spAutoFit/>
          </a:bodyPr>
          <a:lstStyle/>
          <a:p>
            <a:pPr algn="l" marL="0" indent="0" lvl="0">
              <a:lnSpc>
                <a:spcPts val="3035"/>
              </a:lnSpc>
            </a:pPr>
            <a:r>
              <a:rPr lang="en-US" sz="2317">
                <a:solidFill>
                  <a:srgbClr val="545454"/>
                </a:solidFill>
                <a:latin typeface="Poppins Light"/>
                <a:ea typeface="Poppins Light"/>
                <a:cs typeface="Poppins Light"/>
                <a:sym typeface="Poppins Light"/>
              </a:rPr>
              <a:t>0 missing value pada seluruh 12.330 baris, sehingga data 100% lengkap.</a:t>
            </a:r>
          </a:p>
          <a:p>
            <a:pPr algn="l" marL="0" indent="0" lvl="0">
              <a:lnSpc>
                <a:spcPts val="3035"/>
              </a:lnSpc>
            </a:pPr>
          </a:p>
        </p:txBody>
      </p:sp>
      <p:sp>
        <p:nvSpPr>
          <p:cNvPr name="TextBox 10" id="10"/>
          <p:cNvSpPr txBox="true"/>
          <p:nvPr/>
        </p:nvSpPr>
        <p:spPr>
          <a:xfrm rot="0">
            <a:off x="2980087" y="5109379"/>
            <a:ext cx="10389906" cy="741521"/>
          </a:xfrm>
          <a:prstGeom prst="rect">
            <a:avLst/>
          </a:prstGeom>
        </p:spPr>
        <p:txBody>
          <a:bodyPr anchor="t" rtlCol="false" tIns="0" lIns="0" bIns="0" rIns="0">
            <a:spAutoFit/>
          </a:bodyPr>
          <a:lstStyle/>
          <a:p>
            <a:pPr algn="l" marL="0" indent="0" lvl="0">
              <a:lnSpc>
                <a:spcPts val="3035"/>
              </a:lnSpc>
            </a:pPr>
            <a:r>
              <a:rPr lang="en-US" sz="2317">
                <a:solidFill>
                  <a:srgbClr val="545454"/>
                </a:solidFill>
                <a:latin typeface="Poppins Light"/>
                <a:ea typeface="Poppins Light"/>
                <a:cs typeface="Poppins Light"/>
                <a:sym typeface="Poppins Light"/>
              </a:rPr>
              <a:t>Tidak ditemukan indikasi kesalahan internal. Validasi penuh memerlukan ground truth eksternal.</a:t>
            </a:r>
          </a:p>
        </p:txBody>
      </p:sp>
      <p:sp>
        <p:nvSpPr>
          <p:cNvPr name="TextBox 11" id="11"/>
          <p:cNvSpPr txBox="true"/>
          <p:nvPr/>
        </p:nvSpPr>
        <p:spPr>
          <a:xfrm rot="0">
            <a:off x="2980087" y="1909712"/>
            <a:ext cx="9483486" cy="460857"/>
          </a:xfrm>
          <a:prstGeom prst="rect">
            <a:avLst/>
          </a:prstGeom>
        </p:spPr>
        <p:txBody>
          <a:bodyPr anchor="t" rtlCol="false" tIns="0" lIns="0" bIns="0" rIns="0">
            <a:spAutoFit/>
          </a:bodyPr>
          <a:lstStyle/>
          <a:p>
            <a:pPr algn="l" marL="0" indent="0" lvl="0">
              <a:lnSpc>
                <a:spcPts val="3541"/>
              </a:lnSpc>
              <a:spcBef>
                <a:spcPct val="0"/>
              </a:spcBef>
            </a:pPr>
            <a:r>
              <a:rPr lang="en-US" sz="2703" strike="noStrike" u="none">
                <a:solidFill>
                  <a:srgbClr val="2E2E72"/>
                </a:solidFill>
                <a:latin typeface="Poppins Light"/>
                <a:ea typeface="Poppins Light"/>
                <a:cs typeface="Poppins Light"/>
                <a:sym typeface="Poppins Light"/>
              </a:rPr>
              <a:t>Completeness</a:t>
            </a:r>
          </a:p>
        </p:txBody>
      </p:sp>
      <p:sp>
        <p:nvSpPr>
          <p:cNvPr name="TextBox 12" id="12"/>
          <p:cNvSpPr txBox="true"/>
          <p:nvPr/>
        </p:nvSpPr>
        <p:spPr>
          <a:xfrm rot="0">
            <a:off x="2980087" y="4647999"/>
            <a:ext cx="9483486" cy="460857"/>
          </a:xfrm>
          <a:prstGeom prst="rect">
            <a:avLst/>
          </a:prstGeom>
        </p:spPr>
        <p:txBody>
          <a:bodyPr anchor="t" rtlCol="false" tIns="0" lIns="0" bIns="0" rIns="0">
            <a:spAutoFit/>
          </a:bodyPr>
          <a:lstStyle/>
          <a:p>
            <a:pPr algn="l" marL="0" indent="0" lvl="0">
              <a:lnSpc>
                <a:spcPts val="3541"/>
              </a:lnSpc>
              <a:spcBef>
                <a:spcPct val="0"/>
              </a:spcBef>
            </a:pPr>
            <a:r>
              <a:rPr lang="en-US" sz="2703">
                <a:solidFill>
                  <a:srgbClr val="FFB547"/>
                </a:solidFill>
                <a:latin typeface="Poppins Light"/>
                <a:ea typeface="Poppins Light"/>
                <a:cs typeface="Poppins Light"/>
                <a:sym typeface="Poppins Light"/>
              </a:rPr>
              <a:t>Accuracy</a:t>
            </a:r>
          </a:p>
        </p:txBody>
      </p:sp>
      <p:sp>
        <p:nvSpPr>
          <p:cNvPr name="TextBox 13" id="13"/>
          <p:cNvSpPr txBox="true"/>
          <p:nvPr/>
        </p:nvSpPr>
        <p:spPr>
          <a:xfrm rot="0">
            <a:off x="2980087" y="7364969"/>
            <a:ext cx="10389906" cy="741521"/>
          </a:xfrm>
          <a:prstGeom prst="rect">
            <a:avLst/>
          </a:prstGeom>
        </p:spPr>
        <p:txBody>
          <a:bodyPr anchor="t" rtlCol="false" tIns="0" lIns="0" bIns="0" rIns="0">
            <a:spAutoFit/>
          </a:bodyPr>
          <a:lstStyle/>
          <a:p>
            <a:pPr algn="l" marL="0" indent="0" lvl="0">
              <a:lnSpc>
                <a:spcPts val="3035"/>
              </a:lnSpc>
            </a:pPr>
            <a:r>
              <a:rPr lang="en-US" sz="2317">
                <a:solidFill>
                  <a:srgbClr val="545454"/>
                </a:solidFill>
                <a:latin typeface="Poppins Light"/>
                <a:ea typeface="Poppins Light"/>
                <a:cs typeface="Poppins Light"/>
                <a:sym typeface="Poppins Light"/>
              </a:rPr>
              <a:t>Format kategori dan Boolean konsisten. Month, VisitorType, Weekend, dan Revenue tidak menunjukkan ketidakkonsistenan.</a:t>
            </a:r>
          </a:p>
        </p:txBody>
      </p:sp>
      <p:sp>
        <p:nvSpPr>
          <p:cNvPr name="TextBox 14" id="14"/>
          <p:cNvSpPr txBox="true"/>
          <p:nvPr/>
        </p:nvSpPr>
        <p:spPr>
          <a:xfrm rot="0">
            <a:off x="2980087" y="6942212"/>
            <a:ext cx="9483486" cy="460857"/>
          </a:xfrm>
          <a:prstGeom prst="rect">
            <a:avLst/>
          </a:prstGeom>
        </p:spPr>
        <p:txBody>
          <a:bodyPr anchor="t" rtlCol="false" tIns="0" lIns="0" bIns="0" rIns="0">
            <a:spAutoFit/>
          </a:bodyPr>
          <a:lstStyle/>
          <a:p>
            <a:pPr algn="l" marL="0" indent="0" lvl="0">
              <a:lnSpc>
                <a:spcPts val="3541"/>
              </a:lnSpc>
              <a:spcBef>
                <a:spcPct val="0"/>
              </a:spcBef>
            </a:pPr>
            <a:r>
              <a:rPr lang="en-US" sz="2703">
                <a:solidFill>
                  <a:srgbClr val="2E2E72"/>
                </a:solidFill>
                <a:latin typeface="Poppins Light"/>
                <a:ea typeface="Poppins Light"/>
                <a:cs typeface="Poppins Light"/>
                <a:sym typeface="Poppins Light"/>
              </a:rPr>
              <a:t>Consistency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80166" y="-2326049"/>
            <a:ext cx="7417732" cy="7417732"/>
          </a:xfrm>
          <a:custGeom>
            <a:avLst/>
            <a:gdLst/>
            <a:ahLst/>
            <a:cxnLst/>
            <a:rect r="r" b="b" t="t" l="l"/>
            <a:pathLst>
              <a:path h="7417732" w="7417732">
                <a:moveTo>
                  <a:pt x="0" y="0"/>
                </a:moveTo>
                <a:lnTo>
                  <a:pt x="7417732" y="0"/>
                </a:lnTo>
                <a:lnTo>
                  <a:pt x="7417732" y="7417732"/>
                </a:lnTo>
                <a:lnTo>
                  <a:pt x="0" y="7417732"/>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823847"/>
            <a:ext cx="660985" cy="462690"/>
          </a:xfrm>
          <a:custGeom>
            <a:avLst/>
            <a:gdLst/>
            <a:ahLst/>
            <a:cxnLst/>
            <a:rect r="r" b="b" t="t" l="l"/>
            <a:pathLst>
              <a:path h="462690" w="660985">
                <a:moveTo>
                  <a:pt x="0" y="0"/>
                </a:moveTo>
                <a:lnTo>
                  <a:pt x="660985" y="0"/>
                </a:lnTo>
                <a:lnTo>
                  <a:pt x="660985" y="462690"/>
                </a:lnTo>
                <a:lnTo>
                  <a:pt x="0" y="4626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8229600"/>
            <a:ext cx="2057400" cy="2057400"/>
          </a:xfrm>
          <a:custGeom>
            <a:avLst/>
            <a:gdLst/>
            <a:ahLst/>
            <a:cxnLst/>
            <a:rect r="r" b="b" t="t" l="l"/>
            <a:pathLst>
              <a:path h="2057400" w="2057400">
                <a:moveTo>
                  <a:pt x="0" y="0"/>
                </a:moveTo>
                <a:lnTo>
                  <a:pt x="2057400" y="0"/>
                </a:lnTo>
                <a:lnTo>
                  <a:pt x="2057400" y="2057400"/>
                </a:lnTo>
                <a:lnTo>
                  <a:pt x="0" y="2057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AutoShape 5" id="5"/>
          <p:cNvSpPr/>
          <p:nvPr/>
        </p:nvSpPr>
        <p:spPr>
          <a:xfrm>
            <a:off x="12882773" y="1305587"/>
            <a:ext cx="949220" cy="0"/>
          </a:xfrm>
          <a:prstGeom prst="line">
            <a:avLst/>
          </a:prstGeom>
          <a:ln cap="flat" w="38100">
            <a:solidFill>
              <a:srgbClr val="FFB547"/>
            </a:solidFill>
            <a:prstDash val="solid"/>
            <a:headEnd type="none" len="sm" w="sm"/>
            <a:tailEnd type="none" len="sm" w="sm"/>
          </a:ln>
        </p:spPr>
      </p:sp>
      <p:sp>
        <p:nvSpPr>
          <p:cNvPr name="Freeform 6" id="6"/>
          <p:cNvSpPr/>
          <p:nvPr/>
        </p:nvSpPr>
        <p:spPr>
          <a:xfrm flipH="false" flipV="false" rot="0">
            <a:off x="8756755" y="6100426"/>
            <a:ext cx="9301057" cy="3014748"/>
          </a:xfrm>
          <a:custGeom>
            <a:avLst/>
            <a:gdLst/>
            <a:ahLst/>
            <a:cxnLst/>
            <a:rect r="r" b="b" t="t" l="l"/>
            <a:pathLst>
              <a:path h="3014748" w="9301057">
                <a:moveTo>
                  <a:pt x="0" y="0"/>
                </a:moveTo>
                <a:lnTo>
                  <a:pt x="9301057" y="0"/>
                </a:lnTo>
                <a:lnTo>
                  <a:pt x="9301057" y="3014748"/>
                </a:lnTo>
                <a:lnTo>
                  <a:pt x="0" y="3014748"/>
                </a:lnTo>
                <a:lnTo>
                  <a:pt x="0" y="0"/>
                </a:lnTo>
                <a:close/>
              </a:path>
            </a:pathLst>
          </a:custGeom>
          <a:blipFill>
            <a:blip r:embed="rId8"/>
            <a:stretch>
              <a:fillRect l="0" t="0" r="0" b="0"/>
            </a:stretch>
          </a:blipFill>
        </p:spPr>
      </p:sp>
      <p:sp>
        <p:nvSpPr>
          <p:cNvPr name="Freeform 7" id="7"/>
          <p:cNvSpPr/>
          <p:nvPr/>
        </p:nvSpPr>
        <p:spPr>
          <a:xfrm flipH="false" flipV="false" rot="0">
            <a:off x="13546677" y="2720325"/>
            <a:ext cx="4511135" cy="3237226"/>
          </a:xfrm>
          <a:custGeom>
            <a:avLst/>
            <a:gdLst/>
            <a:ahLst/>
            <a:cxnLst/>
            <a:rect r="r" b="b" t="t" l="l"/>
            <a:pathLst>
              <a:path h="3237226" w="4511135">
                <a:moveTo>
                  <a:pt x="0" y="0"/>
                </a:moveTo>
                <a:lnTo>
                  <a:pt x="4511135" y="0"/>
                </a:lnTo>
                <a:lnTo>
                  <a:pt x="4511135" y="3237226"/>
                </a:lnTo>
                <a:lnTo>
                  <a:pt x="0" y="3237226"/>
                </a:lnTo>
                <a:lnTo>
                  <a:pt x="0" y="0"/>
                </a:lnTo>
                <a:close/>
              </a:path>
            </a:pathLst>
          </a:custGeom>
          <a:blipFill>
            <a:blip r:embed="rId9"/>
            <a:stretch>
              <a:fillRect l="0" t="0" r="0" b="0"/>
            </a:stretch>
          </a:blipFill>
        </p:spPr>
      </p:sp>
      <p:sp>
        <p:nvSpPr>
          <p:cNvPr name="Freeform 8" id="8"/>
          <p:cNvSpPr/>
          <p:nvPr/>
        </p:nvSpPr>
        <p:spPr>
          <a:xfrm flipH="false" flipV="false" rot="0">
            <a:off x="8756755" y="3374602"/>
            <a:ext cx="4695275" cy="2582949"/>
          </a:xfrm>
          <a:custGeom>
            <a:avLst/>
            <a:gdLst/>
            <a:ahLst/>
            <a:cxnLst/>
            <a:rect r="r" b="b" t="t" l="l"/>
            <a:pathLst>
              <a:path h="2582949" w="4695275">
                <a:moveTo>
                  <a:pt x="0" y="0"/>
                </a:moveTo>
                <a:lnTo>
                  <a:pt x="4695275" y="0"/>
                </a:lnTo>
                <a:lnTo>
                  <a:pt x="4695275" y="2582949"/>
                </a:lnTo>
                <a:lnTo>
                  <a:pt x="0" y="2582949"/>
                </a:lnTo>
                <a:lnTo>
                  <a:pt x="0" y="0"/>
                </a:lnTo>
                <a:close/>
              </a:path>
            </a:pathLst>
          </a:custGeom>
          <a:blipFill>
            <a:blip r:embed="rId10"/>
            <a:stretch>
              <a:fillRect l="0" t="0" r="0" b="0"/>
            </a:stretch>
          </a:blipFill>
        </p:spPr>
      </p:sp>
      <p:sp>
        <p:nvSpPr>
          <p:cNvPr name="TextBox 9" id="9"/>
          <p:cNvSpPr txBox="true"/>
          <p:nvPr/>
        </p:nvSpPr>
        <p:spPr>
          <a:xfrm rot="0">
            <a:off x="2268595" y="2548875"/>
            <a:ext cx="6393513" cy="1024082"/>
          </a:xfrm>
          <a:prstGeom prst="rect">
            <a:avLst/>
          </a:prstGeom>
        </p:spPr>
        <p:txBody>
          <a:bodyPr anchor="t" rtlCol="false" tIns="0" lIns="0" bIns="0" rIns="0">
            <a:spAutoFit/>
          </a:bodyPr>
          <a:lstStyle/>
          <a:p>
            <a:pPr algn="l" marL="0" indent="0" lvl="0">
              <a:lnSpc>
                <a:spcPts val="2099"/>
              </a:lnSpc>
            </a:pPr>
            <a:r>
              <a:rPr lang="en-US" sz="1602">
                <a:solidFill>
                  <a:srgbClr val="545454"/>
                </a:solidFill>
                <a:latin typeface="Poppins Light"/>
                <a:ea typeface="Poppins Light"/>
                <a:cs typeface="Poppins Light"/>
                <a:sym typeface="Poppins Light"/>
              </a:rPr>
              <a:t>N</a:t>
            </a:r>
            <a:r>
              <a:rPr lang="en-US" sz="1602">
                <a:solidFill>
                  <a:srgbClr val="545454"/>
                </a:solidFill>
                <a:latin typeface="Poppins Light"/>
                <a:ea typeface="Poppins Light"/>
                <a:cs typeface="Poppins Light"/>
                <a:sym typeface="Poppins Light"/>
              </a:rPr>
              <a:t>ilai numerik dan kategori berada dalam rentang yang diperiksa. Tidak ditemukan nilai yang melanggar aturan atau format.</a:t>
            </a:r>
          </a:p>
          <a:p>
            <a:pPr algn="l" marL="0" indent="0" lvl="0">
              <a:lnSpc>
                <a:spcPts val="2099"/>
              </a:lnSpc>
            </a:pPr>
          </a:p>
        </p:txBody>
      </p:sp>
      <p:sp>
        <p:nvSpPr>
          <p:cNvPr name="TextBox 10" id="10"/>
          <p:cNvSpPr txBox="true"/>
          <p:nvPr/>
        </p:nvSpPr>
        <p:spPr>
          <a:xfrm rot="0">
            <a:off x="2268595" y="4249354"/>
            <a:ext cx="6393513" cy="515132"/>
          </a:xfrm>
          <a:prstGeom prst="rect">
            <a:avLst/>
          </a:prstGeom>
        </p:spPr>
        <p:txBody>
          <a:bodyPr anchor="t" rtlCol="false" tIns="0" lIns="0" bIns="0" rIns="0">
            <a:spAutoFit/>
          </a:bodyPr>
          <a:lstStyle/>
          <a:p>
            <a:pPr algn="l" marL="0" indent="0" lvl="0">
              <a:lnSpc>
                <a:spcPts val="2099"/>
              </a:lnSpc>
            </a:pPr>
            <a:r>
              <a:rPr lang="en-US" sz="1602">
                <a:solidFill>
                  <a:srgbClr val="545454"/>
                </a:solidFill>
                <a:latin typeface="Poppins Light"/>
                <a:ea typeface="Poppins Light"/>
                <a:cs typeface="Poppins Light"/>
                <a:sym typeface="Poppins Light"/>
              </a:rPr>
              <a:t>Ditemukan</a:t>
            </a:r>
            <a:r>
              <a:rPr lang="en-US" sz="1602">
                <a:solidFill>
                  <a:srgbClr val="545454"/>
                </a:solidFill>
                <a:latin typeface="Poppins Light"/>
                <a:ea typeface="Poppins Light"/>
                <a:cs typeface="Poppins Light"/>
                <a:sym typeface="Poppins Light"/>
              </a:rPr>
              <a:t> 125 exact duplicate dari 12.330 baris, atau sekitar 1,01% dari total data.</a:t>
            </a:r>
          </a:p>
        </p:txBody>
      </p:sp>
      <p:sp>
        <p:nvSpPr>
          <p:cNvPr name="TextBox 11" id="11"/>
          <p:cNvSpPr txBox="true"/>
          <p:nvPr/>
        </p:nvSpPr>
        <p:spPr>
          <a:xfrm rot="0">
            <a:off x="2268595" y="2094224"/>
            <a:ext cx="3022225" cy="351684"/>
          </a:xfrm>
          <a:prstGeom prst="rect">
            <a:avLst/>
          </a:prstGeom>
        </p:spPr>
        <p:txBody>
          <a:bodyPr anchor="t" rtlCol="false" tIns="0" lIns="0" bIns="0" rIns="0">
            <a:spAutoFit/>
          </a:bodyPr>
          <a:lstStyle/>
          <a:p>
            <a:pPr algn="l" marL="0" indent="0" lvl="0">
              <a:lnSpc>
                <a:spcPts val="2749"/>
              </a:lnSpc>
            </a:pPr>
            <a:r>
              <a:rPr lang="en-US" sz="2098">
                <a:solidFill>
                  <a:srgbClr val="2E2E72"/>
                </a:solidFill>
                <a:latin typeface="Poppins Light"/>
                <a:ea typeface="Poppins Light"/>
                <a:cs typeface="Poppins Light"/>
                <a:sym typeface="Poppins Light"/>
              </a:rPr>
              <a:t>Validity</a:t>
            </a:r>
          </a:p>
        </p:txBody>
      </p:sp>
      <p:sp>
        <p:nvSpPr>
          <p:cNvPr name="TextBox 12" id="12"/>
          <p:cNvSpPr txBox="true"/>
          <p:nvPr/>
        </p:nvSpPr>
        <p:spPr>
          <a:xfrm rot="0">
            <a:off x="1687079" y="2079299"/>
            <a:ext cx="1032381" cy="882001"/>
          </a:xfrm>
          <a:prstGeom prst="rect">
            <a:avLst/>
          </a:prstGeom>
        </p:spPr>
        <p:txBody>
          <a:bodyPr anchor="t" rtlCol="false" tIns="0" lIns="0" bIns="0" rIns="0">
            <a:spAutoFit/>
          </a:bodyPr>
          <a:lstStyle/>
          <a:p>
            <a:pPr algn="l" marL="0" indent="0" lvl="0">
              <a:lnSpc>
                <a:spcPts val="6610"/>
              </a:lnSpc>
            </a:pPr>
            <a:r>
              <a:rPr lang="en-US" sz="5046">
                <a:solidFill>
                  <a:srgbClr val="FFB547"/>
                </a:solidFill>
                <a:latin typeface="Poppins Light"/>
                <a:ea typeface="Poppins Light"/>
                <a:cs typeface="Poppins Light"/>
                <a:sym typeface="Poppins Light"/>
              </a:rPr>
              <a:t>4</a:t>
            </a:r>
          </a:p>
        </p:txBody>
      </p:sp>
      <p:sp>
        <p:nvSpPr>
          <p:cNvPr name="TextBox 13" id="13"/>
          <p:cNvSpPr txBox="true"/>
          <p:nvPr/>
        </p:nvSpPr>
        <p:spPr>
          <a:xfrm rot="0">
            <a:off x="1687079" y="3882485"/>
            <a:ext cx="1034987" cy="882001"/>
          </a:xfrm>
          <a:prstGeom prst="rect">
            <a:avLst/>
          </a:prstGeom>
        </p:spPr>
        <p:txBody>
          <a:bodyPr anchor="t" rtlCol="false" tIns="0" lIns="0" bIns="0" rIns="0">
            <a:spAutoFit/>
          </a:bodyPr>
          <a:lstStyle/>
          <a:p>
            <a:pPr algn="l" marL="0" indent="0" lvl="0">
              <a:lnSpc>
                <a:spcPts val="6610"/>
              </a:lnSpc>
            </a:pPr>
            <a:r>
              <a:rPr lang="en-US" sz="5046">
                <a:solidFill>
                  <a:srgbClr val="2E2E72"/>
                </a:solidFill>
                <a:latin typeface="Poppins Light"/>
                <a:ea typeface="Poppins Light"/>
                <a:cs typeface="Poppins Light"/>
                <a:sym typeface="Poppins Light"/>
              </a:rPr>
              <a:t>5</a:t>
            </a:r>
          </a:p>
        </p:txBody>
      </p:sp>
      <p:sp>
        <p:nvSpPr>
          <p:cNvPr name="TextBox 14" id="14"/>
          <p:cNvSpPr txBox="true"/>
          <p:nvPr/>
        </p:nvSpPr>
        <p:spPr>
          <a:xfrm rot="0">
            <a:off x="2268595" y="3783371"/>
            <a:ext cx="3022225" cy="351684"/>
          </a:xfrm>
          <a:prstGeom prst="rect">
            <a:avLst/>
          </a:prstGeom>
        </p:spPr>
        <p:txBody>
          <a:bodyPr anchor="t" rtlCol="false" tIns="0" lIns="0" bIns="0" rIns="0">
            <a:spAutoFit/>
          </a:bodyPr>
          <a:lstStyle/>
          <a:p>
            <a:pPr algn="l" marL="0" indent="0" lvl="0">
              <a:lnSpc>
                <a:spcPts val="2749"/>
              </a:lnSpc>
            </a:pPr>
            <a:r>
              <a:rPr lang="en-US" sz="2098">
                <a:solidFill>
                  <a:srgbClr val="FFB547"/>
                </a:solidFill>
                <a:latin typeface="Poppins Light"/>
                <a:ea typeface="Poppins Light"/>
                <a:cs typeface="Poppins Light"/>
                <a:sym typeface="Poppins Light"/>
              </a:rPr>
              <a:t>Uniqueness</a:t>
            </a:r>
          </a:p>
        </p:txBody>
      </p:sp>
      <p:sp>
        <p:nvSpPr>
          <p:cNvPr name="TextBox 15" id="15"/>
          <p:cNvSpPr txBox="true"/>
          <p:nvPr/>
        </p:nvSpPr>
        <p:spPr>
          <a:xfrm rot="0">
            <a:off x="2268595" y="5928976"/>
            <a:ext cx="6393513" cy="769607"/>
          </a:xfrm>
          <a:prstGeom prst="rect">
            <a:avLst/>
          </a:prstGeom>
        </p:spPr>
        <p:txBody>
          <a:bodyPr anchor="t" rtlCol="false" tIns="0" lIns="0" bIns="0" rIns="0">
            <a:spAutoFit/>
          </a:bodyPr>
          <a:lstStyle/>
          <a:p>
            <a:pPr algn="l" marL="0" indent="0" lvl="0">
              <a:lnSpc>
                <a:spcPts val="2099"/>
              </a:lnSpc>
            </a:pPr>
            <a:r>
              <a:rPr lang="en-US" sz="1602">
                <a:solidFill>
                  <a:srgbClr val="545454"/>
                </a:solidFill>
                <a:latin typeface="Poppins Light"/>
                <a:ea typeface="Poppins Light"/>
                <a:cs typeface="Poppins Light"/>
                <a:sym typeface="Poppins Light"/>
              </a:rPr>
              <a:t>Memiliki atribut</a:t>
            </a:r>
            <a:r>
              <a:rPr lang="en-US" sz="1602">
                <a:solidFill>
                  <a:srgbClr val="545454"/>
                </a:solidFill>
                <a:latin typeface="Poppins Light"/>
                <a:ea typeface="Poppins Light"/>
                <a:cs typeface="Poppins Light"/>
                <a:sym typeface="Poppins Light"/>
              </a:rPr>
              <a:t> Month dan Weekend, tetapi tidak tersedia timestamp individual. Januari dan April tidak terdapat dalam dataset.</a:t>
            </a:r>
          </a:p>
        </p:txBody>
      </p:sp>
      <p:sp>
        <p:nvSpPr>
          <p:cNvPr name="TextBox 16" id="16"/>
          <p:cNvSpPr txBox="true"/>
          <p:nvPr/>
        </p:nvSpPr>
        <p:spPr>
          <a:xfrm rot="0">
            <a:off x="2268595" y="5472517"/>
            <a:ext cx="3022225" cy="351684"/>
          </a:xfrm>
          <a:prstGeom prst="rect">
            <a:avLst/>
          </a:prstGeom>
        </p:spPr>
        <p:txBody>
          <a:bodyPr anchor="t" rtlCol="false" tIns="0" lIns="0" bIns="0" rIns="0">
            <a:spAutoFit/>
          </a:bodyPr>
          <a:lstStyle/>
          <a:p>
            <a:pPr algn="l" marL="0" indent="0" lvl="0">
              <a:lnSpc>
                <a:spcPts val="2749"/>
              </a:lnSpc>
            </a:pPr>
            <a:r>
              <a:rPr lang="en-US" sz="2098">
                <a:solidFill>
                  <a:srgbClr val="2E2E72"/>
                </a:solidFill>
                <a:latin typeface="Poppins Light"/>
                <a:ea typeface="Poppins Light"/>
                <a:cs typeface="Poppins Light"/>
                <a:sym typeface="Poppins Light"/>
              </a:rPr>
              <a:t>Timeliness</a:t>
            </a:r>
          </a:p>
        </p:txBody>
      </p:sp>
      <p:sp>
        <p:nvSpPr>
          <p:cNvPr name="TextBox 17" id="17"/>
          <p:cNvSpPr txBox="true"/>
          <p:nvPr/>
        </p:nvSpPr>
        <p:spPr>
          <a:xfrm rot="0">
            <a:off x="1689685" y="7729543"/>
            <a:ext cx="7454315" cy="1272262"/>
          </a:xfrm>
          <a:prstGeom prst="rect">
            <a:avLst/>
          </a:prstGeom>
        </p:spPr>
        <p:txBody>
          <a:bodyPr anchor="t" rtlCol="false" tIns="0" lIns="0" bIns="0" rIns="0">
            <a:spAutoFit/>
          </a:bodyPr>
          <a:lstStyle/>
          <a:p>
            <a:pPr algn="l" marL="0" indent="0" lvl="0">
              <a:lnSpc>
                <a:spcPts val="2623"/>
              </a:lnSpc>
            </a:pPr>
            <a:r>
              <a:rPr lang="en-US" sz="2002">
                <a:solidFill>
                  <a:srgbClr val="545454"/>
                </a:solidFill>
                <a:latin typeface="Poppins Light"/>
                <a:ea typeface="Poppins Light"/>
                <a:cs typeface="Poppins Light"/>
                <a:sym typeface="Poppins Light"/>
              </a:rPr>
              <a:t>Validity menunjukkan hasil yang baik. Uniqueness perlu diperhatikan karena terdapat 125 duplicate records, sedangkan Timeliness terbatas karena informasi waktu tidak lengkap.</a:t>
            </a:r>
          </a:p>
        </p:txBody>
      </p:sp>
      <p:sp>
        <p:nvSpPr>
          <p:cNvPr name="TextBox 18" id="18"/>
          <p:cNvSpPr txBox="true"/>
          <p:nvPr/>
        </p:nvSpPr>
        <p:spPr>
          <a:xfrm rot="0">
            <a:off x="1689685" y="7152139"/>
            <a:ext cx="3775666" cy="439385"/>
          </a:xfrm>
          <a:prstGeom prst="rect">
            <a:avLst/>
          </a:prstGeom>
        </p:spPr>
        <p:txBody>
          <a:bodyPr anchor="t" rtlCol="false" tIns="0" lIns="0" bIns="0" rIns="0">
            <a:spAutoFit/>
          </a:bodyPr>
          <a:lstStyle/>
          <a:p>
            <a:pPr algn="l" marL="0" indent="0" lvl="0">
              <a:lnSpc>
                <a:spcPts val="3434"/>
              </a:lnSpc>
            </a:pPr>
            <a:r>
              <a:rPr lang="en-US" sz="2621">
                <a:solidFill>
                  <a:srgbClr val="FFB547"/>
                </a:solidFill>
                <a:latin typeface="Poppins Light"/>
                <a:ea typeface="Poppins Light"/>
                <a:cs typeface="Poppins Light"/>
                <a:sym typeface="Poppins Light"/>
              </a:rPr>
              <a:t>Kesimpulan</a:t>
            </a:r>
          </a:p>
        </p:txBody>
      </p:sp>
      <p:sp>
        <p:nvSpPr>
          <p:cNvPr name="TextBox 19" id="19"/>
          <p:cNvSpPr txBox="true"/>
          <p:nvPr/>
        </p:nvSpPr>
        <p:spPr>
          <a:xfrm rot="0">
            <a:off x="2004485" y="913638"/>
            <a:ext cx="3783942" cy="296718"/>
          </a:xfrm>
          <a:prstGeom prst="rect">
            <a:avLst/>
          </a:prstGeom>
        </p:spPr>
        <p:txBody>
          <a:bodyPr anchor="t" rtlCol="false" tIns="0" lIns="0" bIns="0" rIns="0">
            <a:spAutoFit/>
          </a:bodyPr>
          <a:lstStyle/>
          <a:p>
            <a:pPr algn="l" marL="0" indent="0" lvl="0">
              <a:lnSpc>
                <a:spcPts val="1966"/>
              </a:lnSpc>
            </a:pPr>
            <a:r>
              <a:rPr lang="en-US" sz="2398">
                <a:solidFill>
                  <a:srgbClr val="000000"/>
                </a:solidFill>
                <a:latin typeface="Poppins Light"/>
                <a:ea typeface="Poppins Light"/>
                <a:cs typeface="Poppins Light"/>
                <a:sym typeface="Poppins Light"/>
              </a:rPr>
              <a:t>Sebastian Abe Santoso</a:t>
            </a:r>
          </a:p>
        </p:txBody>
      </p:sp>
      <p:sp>
        <p:nvSpPr>
          <p:cNvPr name="TextBox 20" id="20"/>
          <p:cNvSpPr txBox="true"/>
          <p:nvPr/>
        </p:nvSpPr>
        <p:spPr>
          <a:xfrm rot="0">
            <a:off x="14789139" y="940130"/>
            <a:ext cx="2470161" cy="296718"/>
          </a:xfrm>
          <a:prstGeom prst="rect">
            <a:avLst/>
          </a:prstGeom>
        </p:spPr>
        <p:txBody>
          <a:bodyPr anchor="t" rtlCol="false" tIns="0" lIns="0" bIns="0" rIns="0">
            <a:spAutoFit/>
          </a:bodyPr>
          <a:lstStyle/>
          <a:p>
            <a:pPr algn="ctr" marL="0" indent="0" lvl="0">
              <a:lnSpc>
                <a:spcPts val="1966"/>
              </a:lnSpc>
            </a:pPr>
            <a:r>
              <a:rPr lang="en-US" sz="2398">
                <a:solidFill>
                  <a:srgbClr val="000000"/>
                </a:solidFill>
                <a:latin typeface="Poppins Light"/>
                <a:ea typeface="Poppins Light"/>
                <a:cs typeface="Poppins Light"/>
                <a:sym typeface="Poppins Light"/>
              </a:rPr>
              <a:t>Kesimpulan</a:t>
            </a:r>
          </a:p>
        </p:txBody>
      </p:sp>
      <p:sp>
        <p:nvSpPr>
          <p:cNvPr name="TextBox 21" id="21"/>
          <p:cNvSpPr txBox="true"/>
          <p:nvPr/>
        </p:nvSpPr>
        <p:spPr>
          <a:xfrm rot="0">
            <a:off x="12122303" y="940130"/>
            <a:ext cx="2470161" cy="296718"/>
          </a:xfrm>
          <a:prstGeom prst="rect">
            <a:avLst/>
          </a:prstGeom>
        </p:spPr>
        <p:txBody>
          <a:bodyPr anchor="t" rtlCol="false" tIns="0" lIns="0" bIns="0" rIns="0">
            <a:spAutoFit/>
          </a:bodyPr>
          <a:lstStyle/>
          <a:p>
            <a:pPr algn="ctr" marL="0" indent="0" lvl="0">
              <a:lnSpc>
                <a:spcPts val="1966"/>
              </a:lnSpc>
            </a:pPr>
            <a:r>
              <a:rPr lang="en-US" sz="2398">
                <a:solidFill>
                  <a:srgbClr val="000000"/>
                </a:solidFill>
                <a:latin typeface="Poppins Light"/>
                <a:ea typeface="Poppins Light"/>
                <a:cs typeface="Poppins Light"/>
                <a:sym typeface="Poppins Light"/>
              </a:rPr>
              <a:t>NASA FIRMS</a:t>
            </a:r>
          </a:p>
        </p:txBody>
      </p:sp>
      <p:sp>
        <p:nvSpPr>
          <p:cNvPr name="TextBox 22" id="22"/>
          <p:cNvSpPr txBox="true"/>
          <p:nvPr/>
        </p:nvSpPr>
        <p:spPr>
          <a:xfrm rot="0">
            <a:off x="9455467" y="940130"/>
            <a:ext cx="2470161" cy="296718"/>
          </a:xfrm>
          <a:prstGeom prst="rect">
            <a:avLst/>
          </a:prstGeom>
        </p:spPr>
        <p:txBody>
          <a:bodyPr anchor="t" rtlCol="false" tIns="0" lIns="0" bIns="0" rIns="0">
            <a:spAutoFit/>
          </a:bodyPr>
          <a:lstStyle/>
          <a:p>
            <a:pPr algn="ctr" marL="0" indent="0" lvl="0">
              <a:lnSpc>
                <a:spcPts val="1966"/>
              </a:lnSpc>
            </a:pPr>
            <a:r>
              <a:rPr lang="en-US" sz="2398">
                <a:solidFill>
                  <a:srgbClr val="000000"/>
                </a:solidFill>
                <a:latin typeface="Poppins Light"/>
                <a:ea typeface="Poppins Light"/>
                <a:cs typeface="Poppins Light"/>
                <a:sym typeface="Poppins Light"/>
              </a:rPr>
              <a:t>Beranda</a:t>
            </a:r>
          </a:p>
        </p:txBody>
      </p:sp>
      <p:sp>
        <p:nvSpPr>
          <p:cNvPr name="TextBox 23" id="23"/>
          <p:cNvSpPr txBox="true"/>
          <p:nvPr/>
        </p:nvSpPr>
        <p:spPr>
          <a:xfrm rot="0">
            <a:off x="1689685" y="5485590"/>
            <a:ext cx="1032381" cy="882001"/>
          </a:xfrm>
          <a:prstGeom prst="rect">
            <a:avLst/>
          </a:prstGeom>
        </p:spPr>
        <p:txBody>
          <a:bodyPr anchor="t" rtlCol="false" tIns="0" lIns="0" bIns="0" rIns="0">
            <a:spAutoFit/>
          </a:bodyPr>
          <a:lstStyle/>
          <a:p>
            <a:pPr algn="l" marL="0" indent="0" lvl="0">
              <a:lnSpc>
                <a:spcPts val="6610"/>
              </a:lnSpc>
            </a:pPr>
            <a:r>
              <a:rPr lang="en-US" sz="5046">
                <a:solidFill>
                  <a:srgbClr val="FFB547"/>
                </a:solidFill>
                <a:latin typeface="Poppins Light"/>
                <a:ea typeface="Poppins Light"/>
                <a:cs typeface="Poppins Light"/>
                <a:sym typeface="Poppins Light"/>
              </a:rPr>
              <a:t>6</a:t>
            </a:r>
          </a:p>
        </p:txBody>
      </p:sp>
      <p:sp>
        <p:nvSpPr>
          <p:cNvPr name="TextBox 24" id="24"/>
          <p:cNvSpPr txBox="true"/>
          <p:nvPr/>
        </p:nvSpPr>
        <p:spPr>
          <a:xfrm rot="0">
            <a:off x="10054068" y="1592367"/>
            <a:ext cx="7555850" cy="985083"/>
          </a:xfrm>
          <a:prstGeom prst="rect">
            <a:avLst/>
          </a:prstGeom>
        </p:spPr>
        <p:txBody>
          <a:bodyPr anchor="t" rtlCol="false" tIns="0" lIns="0" bIns="0" rIns="0">
            <a:spAutoFit/>
          </a:bodyPr>
          <a:lstStyle/>
          <a:p>
            <a:pPr algn="l" marL="0" indent="0" lvl="0">
              <a:lnSpc>
                <a:spcPts val="6443"/>
              </a:lnSpc>
            </a:pPr>
            <a:r>
              <a:rPr lang="en-US" sz="7858">
                <a:solidFill>
                  <a:srgbClr val="000000"/>
                </a:solidFill>
                <a:latin typeface="Poppins Light"/>
                <a:ea typeface="Poppins Light"/>
                <a:cs typeface="Poppins Light"/>
                <a:sym typeface="Poppins Light"/>
              </a:rPr>
              <a:t>Hasil Profiling 2</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80166" y="5445854"/>
            <a:ext cx="7417732" cy="7417732"/>
          </a:xfrm>
          <a:custGeom>
            <a:avLst/>
            <a:gdLst/>
            <a:ahLst/>
            <a:cxnLst/>
            <a:rect r="r" b="b" t="t" l="l"/>
            <a:pathLst>
              <a:path h="7417732" w="7417732">
                <a:moveTo>
                  <a:pt x="0" y="0"/>
                </a:moveTo>
                <a:lnTo>
                  <a:pt x="7417732" y="0"/>
                </a:lnTo>
                <a:lnTo>
                  <a:pt x="7417732" y="7417733"/>
                </a:lnTo>
                <a:lnTo>
                  <a:pt x="0" y="7417733"/>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189185" y="-1189185"/>
            <a:ext cx="2378369" cy="2378369"/>
          </a:xfrm>
          <a:custGeom>
            <a:avLst/>
            <a:gdLst/>
            <a:ahLst/>
            <a:cxnLst/>
            <a:rect r="r" b="b" t="t" l="l"/>
            <a:pathLst>
              <a:path h="2378369" w="2378369">
                <a:moveTo>
                  <a:pt x="0" y="0"/>
                </a:moveTo>
                <a:lnTo>
                  <a:pt x="2378370" y="0"/>
                </a:lnTo>
                <a:lnTo>
                  <a:pt x="2378370" y="2378370"/>
                </a:lnTo>
                <a:lnTo>
                  <a:pt x="0" y="237837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aphicFrame>
        <p:nvGraphicFramePr>
          <p:cNvPr name="Object 4" id="4"/>
          <p:cNvGraphicFramePr/>
          <p:nvPr/>
        </p:nvGraphicFramePr>
        <p:xfrm>
          <a:off x="329154" y="3158516"/>
          <a:ext cx="5657850" cy="4400550"/>
        </p:xfrm>
        <a:graphic>
          <a:graphicData uri="http://schemas.openxmlformats.org/presentationml/2006/ole">
            <p:oleObj imgW="6781800" imgH="55245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sp>
        <p:nvSpPr>
          <p:cNvPr name="TextBox 5" id="5"/>
          <p:cNvSpPr txBox="true"/>
          <p:nvPr/>
        </p:nvSpPr>
        <p:spPr>
          <a:xfrm rot="0">
            <a:off x="2921024" y="578416"/>
            <a:ext cx="13601279" cy="1788933"/>
          </a:xfrm>
          <a:prstGeom prst="rect">
            <a:avLst/>
          </a:prstGeom>
        </p:spPr>
        <p:txBody>
          <a:bodyPr anchor="t" rtlCol="false" tIns="0" lIns="0" bIns="0" rIns="0">
            <a:spAutoFit/>
          </a:bodyPr>
          <a:lstStyle/>
          <a:p>
            <a:pPr algn="ctr" marL="0" indent="0" lvl="0">
              <a:lnSpc>
                <a:spcPts val="6443"/>
              </a:lnSpc>
            </a:pPr>
            <a:r>
              <a:rPr lang="en-US" sz="7858">
                <a:solidFill>
                  <a:srgbClr val="000000"/>
                </a:solidFill>
                <a:latin typeface="Poppins Light"/>
                <a:ea typeface="Poppins Light"/>
                <a:cs typeface="Poppins Light"/>
                <a:sym typeface="Poppins Light"/>
              </a:rPr>
              <a:t>Perbandingan NASA FIRMS vs Online Shoppers</a:t>
            </a:r>
          </a:p>
        </p:txBody>
      </p:sp>
      <p:sp>
        <p:nvSpPr>
          <p:cNvPr name="TextBox 6" id="6"/>
          <p:cNvSpPr txBox="true"/>
          <p:nvPr/>
        </p:nvSpPr>
        <p:spPr>
          <a:xfrm rot="0">
            <a:off x="4654189" y="2463953"/>
            <a:ext cx="10134950" cy="351663"/>
          </a:xfrm>
          <a:prstGeom prst="rect">
            <a:avLst/>
          </a:prstGeom>
        </p:spPr>
        <p:txBody>
          <a:bodyPr anchor="t" rtlCol="false" tIns="0" lIns="0" bIns="0" rIns="0">
            <a:spAutoFit/>
          </a:bodyPr>
          <a:lstStyle/>
          <a:p>
            <a:pPr algn="ctr" marL="0" indent="0" lvl="0">
              <a:lnSpc>
                <a:spcPts val="2750"/>
              </a:lnSpc>
            </a:pPr>
            <a:r>
              <a:rPr lang="en-US" sz="2099">
                <a:solidFill>
                  <a:srgbClr val="545454"/>
                </a:solidFill>
                <a:latin typeface="Poppins Light"/>
                <a:ea typeface="Poppins Light"/>
                <a:cs typeface="Poppins Light"/>
                <a:sym typeface="Poppins Light"/>
              </a:rPr>
              <a:t>Berdasarkan </a:t>
            </a:r>
            <a:r>
              <a:rPr lang="en-US" sz="2099">
                <a:solidFill>
                  <a:srgbClr val="545454"/>
                </a:solidFill>
                <a:latin typeface="Poppins Light"/>
                <a:ea typeface="Poppins Light"/>
                <a:cs typeface="Poppins Light"/>
                <a:sym typeface="Poppins Light"/>
              </a:rPr>
              <a:t>enam dimensi kualitas data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004485" y="307816"/>
            <a:ext cx="12587979" cy="1948179"/>
          </a:xfrm>
          <a:prstGeom prst="rect">
            <a:avLst/>
          </a:prstGeom>
        </p:spPr>
        <p:txBody>
          <a:bodyPr anchor="t" rtlCol="false" tIns="0" lIns="0" bIns="0" rIns="0">
            <a:spAutoFit/>
          </a:bodyPr>
          <a:lstStyle/>
          <a:p>
            <a:pPr algn="l" marL="0" indent="0" lvl="0">
              <a:lnSpc>
                <a:spcPts val="12707"/>
              </a:lnSpc>
            </a:pPr>
            <a:r>
              <a:rPr lang="en-US" sz="15497">
                <a:solidFill>
                  <a:srgbClr val="000000"/>
                </a:solidFill>
                <a:latin typeface="Poppins Light"/>
                <a:ea typeface="Poppins Light"/>
                <a:cs typeface="Poppins Light"/>
                <a:sym typeface="Poppins Light"/>
              </a:rPr>
              <a:t>Conclusion</a:t>
            </a:r>
          </a:p>
        </p:txBody>
      </p:sp>
      <p:sp>
        <p:nvSpPr>
          <p:cNvPr name="Freeform 3" id="3"/>
          <p:cNvSpPr/>
          <p:nvPr/>
        </p:nvSpPr>
        <p:spPr>
          <a:xfrm flipH="false" flipV="false" rot="0">
            <a:off x="-237014" y="-3452213"/>
            <a:ext cx="7417732" cy="7417732"/>
          </a:xfrm>
          <a:custGeom>
            <a:avLst/>
            <a:gdLst/>
            <a:ahLst/>
            <a:cxnLst/>
            <a:rect r="r" b="b" t="t" l="l"/>
            <a:pathLst>
              <a:path h="7417732" w="7417732">
                <a:moveTo>
                  <a:pt x="0" y="0"/>
                </a:moveTo>
                <a:lnTo>
                  <a:pt x="7417732" y="0"/>
                </a:lnTo>
                <a:lnTo>
                  <a:pt x="7417732" y="7417733"/>
                </a:lnTo>
                <a:lnTo>
                  <a:pt x="0" y="7417733"/>
                </a:lnTo>
                <a:lnTo>
                  <a:pt x="0" y="0"/>
                </a:lnTo>
                <a:close/>
              </a:path>
            </a:pathLst>
          </a:custGeom>
          <a:blipFill>
            <a:blip r:embed="rId2">
              <a:alphaModFix amt="5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9557" y="-2710923"/>
            <a:ext cx="2059114" cy="4114800"/>
          </a:xfrm>
          <a:custGeom>
            <a:avLst/>
            <a:gdLst/>
            <a:ahLst/>
            <a:cxnLst/>
            <a:rect r="r" b="b" t="t" l="l"/>
            <a:pathLst>
              <a:path h="4114800" w="2059114">
                <a:moveTo>
                  <a:pt x="0" y="0"/>
                </a:moveTo>
                <a:lnTo>
                  <a:pt x="2059114" y="0"/>
                </a:lnTo>
                <a:lnTo>
                  <a:pt x="205911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2004485" y="2036004"/>
            <a:ext cx="2470161" cy="219992"/>
          </a:xfrm>
          <a:prstGeom prst="rect">
            <a:avLst/>
          </a:prstGeom>
        </p:spPr>
        <p:txBody>
          <a:bodyPr anchor="t" rtlCol="false" tIns="0" lIns="0" bIns="0" rIns="0">
            <a:spAutoFit/>
          </a:bodyPr>
          <a:lstStyle/>
          <a:p>
            <a:pPr algn="ctr" marL="0" indent="0" lvl="0">
              <a:lnSpc>
                <a:spcPts val="1472"/>
              </a:lnSpc>
            </a:pPr>
            <a:r>
              <a:rPr lang="en-US" b="true" sz="1795">
                <a:solidFill>
                  <a:srgbClr val="000000"/>
                </a:solidFill>
                <a:latin typeface="Poppins Bold"/>
                <a:ea typeface="Poppins Bold"/>
                <a:cs typeface="Poppins Bold"/>
                <a:sym typeface="Poppins Bold"/>
              </a:rPr>
              <a:t>data profiling</a:t>
            </a:r>
          </a:p>
        </p:txBody>
      </p:sp>
      <p:sp>
        <p:nvSpPr>
          <p:cNvPr name="TextBox 6" id="6"/>
          <p:cNvSpPr txBox="true"/>
          <p:nvPr/>
        </p:nvSpPr>
        <p:spPr>
          <a:xfrm rot="0">
            <a:off x="8847184" y="5624727"/>
            <a:ext cx="7844343" cy="991235"/>
          </a:xfrm>
          <a:prstGeom prst="rect">
            <a:avLst/>
          </a:prstGeom>
        </p:spPr>
        <p:txBody>
          <a:bodyPr anchor="t" rtlCol="false" tIns="0" lIns="0" bIns="0" rIns="0">
            <a:spAutoFit/>
          </a:bodyPr>
          <a:lstStyle/>
          <a:p>
            <a:pPr algn="just" marL="0" indent="0" lvl="0">
              <a:lnSpc>
                <a:spcPts val="2620"/>
              </a:lnSpc>
            </a:pPr>
            <a:r>
              <a:rPr lang="en-US" b="true" sz="2000">
                <a:solidFill>
                  <a:srgbClr val="545454"/>
                </a:solidFill>
                <a:latin typeface="Poppins Bold"/>
                <a:ea typeface="Poppins Bold"/>
                <a:cs typeface="Poppins Bold"/>
                <a:sym typeface="Poppins Bold"/>
              </a:rPr>
              <a:t>K</a:t>
            </a:r>
            <a:r>
              <a:rPr lang="en-US" b="true" sz="2000">
                <a:solidFill>
                  <a:srgbClr val="545454"/>
                </a:solidFill>
                <a:latin typeface="Poppins Bold"/>
                <a:ea typeface="Poppins Bold"/>
                <a:cs typeface="Poppins Bold"/>
                <a:sym typeface="Poppins Bold"/>
              </a:rPr>
              <a:t>edua dataset memiliki kualitas internal yang cukup baik berdasarkan enam dimensi yang diperiksa. Perbedaan utama terlihat pada aspek Uniqueness dan Timeliness.</a:t>
            </a:r>
          </a:p>
        </p:txBody>
      </p:sp>
      <p:sp>
        <p:nvSpPr>
          <p:cNvPr name="TextBox 7" id="7"/>
          <p:cNvSpPr txBox="true"/>
          <p:nvPr/>
        </p:nvSpPr>
        <p:spPr>
          <a:xfrm rot="0">
            <a:off x="454131" y="3700042"/>
            <a:ext cx="7844343" cy="1962785"/>
          </a:xfrm>
          <a:prstGeom prst="rect">
            <a:avLst/>
          </a:prstGeom>
        </p:spPr>
        <p:txBody>
          <a:bodyPr anchor="t" rtlCol="false" tIns="0" lIns="0" bIns="0" rIns="0">
            <a:spAutoFit/>
          </a:bodyPr>
          <a:lstStyle/>
          <a:p>
            <a:pPr algn="just">
              <a:lnSpc>
                <a:spcPts val="2620"/>
              </a:lnSpc>
            </a:pPr>
            <a:r>
              <a:rPr lang="en-US" sz="2000" b="true">
                <a:solidFill>
                  <a:srgbClr val="545454"/>
                </a:solidFill>
                <a:latin typeface="Poppins Bold"/>
                <a:ea typeface="Poppins Bold"/>
                <a:cs typeface="Poppins Bold"/>
                <a:sym typeface="Poppins Bold"/>
              </a:rPr>
              <a:t>NASA FIRMS</a:t>
            </a:r>
          </a:p>
          <a:p>
            <a:pPr algn="just" marL="0" indent="0" lvl="0">
              <a:lnSpc>
                <a:spcPts val="2620"/>
              </a:lnSpc>
            </a:pPr>
            <a:r>
              <a:rPr lang="en-US" sz="2000">
                <a:solidFill>
                  <a:srgbClr val="545454"/>
                </a:solidFill>
                <a:latin typeface="Poppins"/>
                <a:ea typeface="Poppins"/>
                <a:cs typeface="Poppins"/>
                <a:sym typeface="Poppins"/>
              </a:rPr>
              <a:t>Tidak ditemukan missing value maupun exact duplicate. Dataset memiliki informasi tanggal dan waktu untuk setiap observasi sehingga dapat digunakan untuk analisis temporal, tetapi terdapat </a:t>
            </a:r>
            <a:r>
              <a:rPr lang="en-US" sz="2000">
                <a:solidFill>
                  <a:srgbClr val="545454"/>
                </a:solidFill>
                <a:latin typeface="Poppins"/>
                <a:ea typeface="Poppins"/>
                <a:cs typeface="Poppins"/>
                <a:sym typeface="Poppins"/>
              </a:rPr>
              <a:t>gap </a:t>
            </a:r>
            <a:r>
              <a:rPr lang="en-US" sz="2000">
                <a:solidFill>
                  <a:srgbClr val="545454"/>
                </a:solidFill>
                <a:latin typeface="Poppins"/>
                <a:ea typeface="Poppins"/>
                <a:cs typeface="Poppins"/>
                <a:sym typeface="Poppins"/>
              </a:rPr>
              <a:t>hingg</a:t>
            </a:r>
            <a:r>
              <a:rPr lang="en-US" sz="2000">
                <a:solidFill>
                  <a:srgbClr val="545454"/>
                </a:solidFill>
                <a:latin typeface="Poppins"/>
                <a:ea typeface="Poppins"/>
                <a:cs typeface="Poppins"/>
                <a:sym typeface="Poppins"/>
              </a:rPr>
              <a:t>a 37 hari</a:t>
            </a:r>
            <a:r>
              <a:rPr lang="en-US" sz="2000">
                <a:solidFill>
                  <a:srgbClr val="545454"/>
                </a:solidFill>
                <a:latin typeface="Poppins"/>
                <a:ea typeface="Poppins"/>
                <a:cs typeface="Poppins"/>
                <a:sym typeface="Poppins"/>
              </a:rPr>
              <a:t> dan </a:t>
            </a:r>
            <a:r>
              <a:rPr lang="en-US" sz="2000">
                <a:solidFill>
                  <a:srgbClr val="545454"/>
                </a:solidFill>
                <a:latin typeface="Poppins"/>
                <a:ea typeface="Poppins"/>
                <a:cs typeface="Poppins"/>
                <a:sym typeface="Poppins"/>
              </a:rPr>
              <a:t>ketidakmerataan observasi</a:t>
            </a:r>
            <a:r>
              <a:rPr lang="en-US" sz="2000">
                <a:solidFill>
                  <a:srgbClr val="545454"/>
                </a:solidFill>
                <a:latin typeface="Poppins"/>
                <a:ea typeface="Poppins"/>
                <a:cs typeface="Poppins"/>
                <a:sym typeface="Poppins"/>
              </a:rPr>
              <a:t>.</a:t>
            </a:r>
          </a:p>
        </p:txBody>
      </p:sp>
      <p:sp>
        <p:nvSpPr>
          <p:cNvPr name="TextBox 8" id="8"/>
          <p:cNvSpPr txBox="true"/>
          <p:nvPr/>
        </p:nvSpPr>
        <p:spPr>
          <a:xfrm rot="0">
            <a:off x="8847184" y="3860274"/>
            <a:ext cx="7844343" cy="1315085"/>
          </a:xfrm>
          <a:prstGeom prst="rect">
            <a:avLst/>
          </a:prstGeom>
        </p:spPr>
        <p:txBody>
          <a:bodyPr anchor="t" rtlCol="false" tIns="0" lIns="0" bIns="0" rIns="0">
            <a:spAutoFit/>
          </a:bodyPr>
          <a:lstStyle/>
          <a:p>
            <a:pPr algn="just">
              <a:lnSpc>
                <a:spcPts val="2620"/>
              </a:lnSpc>
            </a:pPr>
            <a:r>
              <a:rPr lang="en-US" sz="2000" b="true">
                <a:solidFill>
                  <a:srgbClr val="545454"/>
                </a:solidFill>
                <a:latin typeface="Poppins Bold"/>
                <a:ea typeface="Poppins Bold"/>
                <a:cs typeface="Poppins Bold"/>
                <a:sym typeface="Poppins Bold"/>
              </a:rPr>
              <a:t>Online Shoppers</a:t>
            </a:r>
          </a:p>
          <a:p>
            <a:pPr algn="just" marL="0" indent="0" lvl="0">
              <a:lnSpc>
                <a:spcPts val="2620"/>
              </a:lnSpc>
            </a:pPr>
            <a:r>
              <a:rPr lang="en-US" sz="2000">
                <a:solidFill>
                  <a:srgbClr val="545454"/>
                </a:solidFill>
                <a:latin typeface="Poppins"/>
                <a:ea typeface="Poppins"/>
                <a:cs typeface="Poppins"/>
                <a:sym typeface="Poppins"/>
              </a:rPr>
              <a:t>Tidak ditemukan missing value dan format data konsisten. Namun, terdapat </a:t>
            </a:r>
            <a:r>
              <a:rPr lang="en-US" b="true" sz="2000">
                <a:solidFill>
                  <a:srgbClr val="545454"/>
                </a:solidFill>
                <a:latin typeface="Poppins Bold"/>
                <a:ea typeface="Poppins Bold"/>
                <a:cs typeface="Poppins Bold"/>
                <a:sym typeface="Poppins Bold"/>
              </a:rPr>
              <a:t>125 exact duplicate records</a:t>
            </a:r>
            <a:r>
              <a:rPr lang="en-US" sz="2000">
                <a:solidFill>
                  <a:srgbClr val="545454"/>
                </a:solidFill>
                <a:latin typeface="Poppins"/>
                <a:ea typeface="Poppins"/>
                <a:cs typeface="Poppins"/>
                <a:sym typeface="Poppins"/>
              </a:rPr>
              <a:t> dan </a:t>
            </a:r>
            <a:r>
              <a:rPr lang="en-US" b="true" sz="2000">
                <a:solidFill>
                  <a:srgbClr val="545454"/>
                </a:solidFill>
                <a:latin typeface="Poppins Bold"/>
                <a:ea typeface="Poppins Bold"/>
                <a:cs typeface="Poppins Bold"/>
                <a:sym typeface="Poppins Bold"/>
              </a:rPr>
              <a:t>informasi waktu terbatas</a:t>
            </a:r>
            <a:r>
              <a:rPr lang="en-US" sz="2000">
                <a:solidFill>
                  <a:srgbClr val="545454"/>
                </a:solidFill>
                <a:latin typeface="Poppins"/>
                <a:ea typeface="Poppins"/>
                <a:cs typeface="Poppins"/>
                <a:sym typeface="Poppins"/>
              </a:rPr>
              <a:t> karena tidak tersedia timestamp individual.</a:t>
            </a:r>
          </a:p>
        </p:txBody>
      </p:sp>
      <p:sp>
        <p:nvSpPr>
          <p:cNvPr name="TextBox 9" id="9"/>
          <p:cNvSpPr txBox="true"/>
          <p:nvPr/>
        </p:nvSpPr>
        <p:spPr>
          <a:xfrm rot="0">
            <a:off x="454131" y="5948577"/>
            <a:ext cx="7844343" cy="2610485"/>
          </a:xfrm>
          <a:prstGeom prst="rect">
            <a:avLst/>
          </a:prstGeom>
        </p:spPr>
        <p:txBody>
          <a:bodyPr anchor="t" rtlCol="false" tIns="0" lIns="0" bIns="0" rIns="0">
            <a:spAutoFit/>
          </a:bodyPr>
          <a:lstStyle/>
          <a:p>
            <a:pPr algn="just" marL="0" indent="0" lvl="0">
              <a:lnSpc>
                <a:spcPts val="2620"/>
              </a:lnSpc>
            </a:pPr>
            <a:r>
              <a:rPr lang="en-US" sz="2000">
                <a:solidFill>
                  <a:srgbClr val="545454"/>
                </a:solidFill>
                <a:latin typeface="Poppins"/>
                <a:ea typeface="Poppins"/>
                <a:cs typeface="Poppins"/>
                <a:sym typeface="Poppins"/>
              </a:rPr>
              <a:t>Secara keseluruhan, kedua dataset dapat digunakan untuk analisis lebih lanjut dengan memperhatikan keterbatasan masing-masing. NASA FIRMS dapat digunakan untuk menganalisis pola dan perubahan kejadian active fire berdasarkan lokasi dan waktu, sedangkan Online Shoppers dapat digunakan untuk menganalisis karakteristik sesi pengguna dan hubungannya dengan kemungkinan terjadinya transaksi.</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70020F"/>
        </a:solidFill>
      </p:bgPr>
    </p:bg>
    <p:spTree>
      <p:nvGrpSpPr>
        <p:cNvPr id="1" name=""/>
        <p:cNvGrpSpPr/>
        <p:nvPr/>
      </p:nvGrpSpPr>
      <p:grpSpPr>
        <a:xfrm>
          <a:off x="0" y="0"/>
          <a:ext cx="0" cy="0"/>
          <a:chOff x="0" y="0"/>
          <a:chExt cx="0" cy="0"/>
        </a:xfrm>
      </p:grpSpPr>
      <p:sp>
        <p:nvSpPr>
          <p:cNvPr name="TextBox 2" id="2"/>
          <p:cNvSpPr txBox="true"/>
          <p:nvPr/>
        </p:nvSpPr>
        <p:spPr>
          <a:xfrm rot="0">
            <a:off x="611464" y="382313"/>
            <a:ext cx="16907479" cy="4143375"/>
          </a:xfrm>
          <a:prstGeom prst="rect">
            <a:avLst/>
          </a:prstGeom>
        </p:spPr>
        <p:txBody>
          <a:bodyPr anchor="t" rtlCol="false" tIns="0" lIns="0" bIns="0" rIns="0">
            <a:spAutoFit/>
          </a:bodyPr>
          <a:lstStyle/>
          <a:p>
            <a:pPr algn="l">
              <a:lnSpc>
                <a:spcPts val="10200"/>
              </a:lnSpc>
            </a:pPr>
            <a:r>
              <a:rPr lang="en-US" b="true" sz="12000" spc="-588">
                <a:solidFill>
                  <a:srgbClr val="FEDEE1"/>
                </a:solidFill>
                <a:latin typeface="Poppins Bold"/>
                <a:ea typeface="Poppins Bold"/>
                <a:cs typeface="Poppins Bold"/>
                <a:sym typeface="Poppins Bold"/>
              </a:rPr>
              <a:t>DATA TRANSFORMATION &amp; FEATURE ENGINEERING</a:t>
            </a:r>
          </a:p>
        </p:txBody>
      </p:sp>
      <p:sp>
        <p:nvSpPr>
          <p:cNvPr name="TextBox 3" id="3"/>
          <p:cNvSpPr txBox="true"/>
          <p:nvPr/>
        </p:nvSpPr>
        <p:spPr>
          <a:xfrm rot="0">
            <a:off x="11034657" y="3504342"/>
            <a:ext cx="9280892" cy="11178730"/>
          </a:xfrm>
          <a:prstGeom prst="rect">
            <a:avLst/>
          </a:prstGeom>
        </p:spPr>
        <p:txBody>
          <a:bodyPr anchor="t" rtlCol="false" tIns="0" lIns="0" bIns="0" rIns="0">
            <a:spAutoFit/>
          </a:bodyPr>
          <a:lstStyle/>
          <a:p>
            <a:pPr algn="l">
              <a:lnSpc>
                <a:spcPts val="28405"/>
              </a:lnSpc>
            </a:pPr>
            <a:r>
              <a:rPr lang="en-US" sz="33418" spc="-1637">
                <a:solidFill>
                  <a:srgbClr val="000000">
                    <a:alpha val="14902"/>
                  </a:srgbClr>
                </a:solidFill>
                <a:latin typeface="Anton"/>
                <a:ea typeface="Anton"/>
                <a:cs typeface="Anton"/>
                <a:sym typeface="Anton"/>
              </a:rPr>
              <a:t>SADSADSADSAD</a:t>
            </a:r>
          </a:p>
        </p:txBody>
      </p:sp>
      <p:sp>
        <p:nvSpPr>
          <p:cNvPr name="TextBox 4" id="4"/>
          <p:cNvSpPr txBox="true"/>
          <p:nvPr/>
        </p:nvSpPr>
        <p:spPr>
          <a:xfrm rot="0">
            <a:off x="11991935" y="8927127"/>
            <a:ext cx="5291729" cy="405943"/>
          </a:xfrm>
          <a:prstGeom prst="rect">
            <a:avLst/>
          </a:prstGeom>
        </p:spPr>
        <p:txBody>
          <a:bodyPr anchor="t" rtlCol="false" tIns="0" lIns="0" bIns="0" rIns="0">
            <a:spAutoFit/>
          </a:bodyPr>
          <a:lstStyle/>
          <a:p>
            <a:pPr algn="r">
              <a:lnSpc>
                <a:spcPts val="3007"/>
              </a:lnSpc>
            </a:pPr>
            <a:r>
              <a:rPr lang="en-US" b="true" sz="2919" spc="116">
                <a:solidFill>
                  <a:srgbClr val="FFFFFF"/>
                </a:solidFill>
                <a:latin typeface="Arial Unicode Bold"/>
                <a:ea typeface="Arial Unicode Bold"/>
                <a:cs typeface="Arial Unicode Bold"/>
                <a:sym typeface="Arial Unicode Bold"/>
              </a:rPr>
              <a:t>DATA ANALITIK</a:t>
            </a:r>
          </a:p>
        </p:txBody>
      </p:sp>
      <p:sp>
        <p:nvSpPr>
          <p:cNvPr name="TextBox 5" id="5"/>
          <p:cNvSpPr txBox="true"/>
          <p:nvPr/>
        </p:nvSpPr>
        <p:spPr>
          <a:xfrm rot="0">
            <a:off x="611464" y="8660427"/>
            <a:ext cx="2183428" cy="228600"/>
          </a:xfrm>
          <a:prstGeom prst="rect">
            <a:avLst/>
          </a:prstGeom>
        </p:spPr>
        <p:txBody>
          <a:bodyPr anchor="t" rtlCol="false" tIns="0" lIns="0" bIns="0" rIns="0">
            <a:spAutoFit/>
          </a:bodyPr>
          <a:lstStyle/>
          <a:p>
            <a:pPr algn="l">
              <a:lnSpc>
                <a:spcPts val="1800"/>
              </a:lnSpc>
            </a:pPr>
            <a:r>
              <a:rPr lang="en-US" sz="1500" spc="-15" b="true">
                <a:solidFill>
                  <a:srgbClr val="FFFFFF"/>
                </a:solidFill>
                <a:latin typeface="Arial Unicode Bold"/>
                <a:ea typeface="Arial Unicode Bold"/>
                <a:cs typeface="Arial Unicode Bold"/>
                <a:sym typeface="Arial Unicode Bold"/>
              </a:rPr>
              <a:t>Sebastian Abe Santoso</a:t>
            </a:r>
          </a:p>
        </p:txBody>
      </p:sp>
      <p:sp>
        <p:nvSpPr>
          <p:cNvPr name="TextBox 6" id="6"/>
          <p:cNvSpPr txBox="true"/>
          <p:nvPr/>
        </p:nvSpPr>
        <p:spPr>
          <a:xfrm rot="0">
            <a:off x="611464" y="8889027"/>
            <a:ext cx="1590715" cy="228600"/>
          </a:xfrm>
          <a:prstGeom prst="rect">
            <a:avLst/>
          </a:prstGeom>
        </p:spPr>
        <p:txBody>
          <a:bodyPr anchor="t" rtlCol="false" tIns="0" lIns="0" bIns="0" rIns="0">
            <a:spAutoFit/>
          </a:bodyPr>
          <a:lstStyle/>
          <a:p>
            <a:pPr algn="l">
              <a:lnSpc>
                <a:spcPts val="1800"/>
              </a:lnSpc>
            </a:pPr>
            <a:r>
              <a:rPr lang="en-US" sz="1500" spc="-15" b="true">
                <a:solidFill>
                  <a:srgbClr val="FFFFFF"/>
                </a:solidFill>
                <a:latin typeface="Arial Unicode Bold"/>
                <a:ea typeface="Arial Unicode Bold"/>
                <a:cs typeface="Arial Unicode Bold"/>
                <a:sym typeface="Arial Unicode Bold"/>
              </a:rPr>
              <a:t>2410817210002</a:t>
            </a:r>
          </a:p>
        </p:txBody>
      </p:sp>
      <p:sp>
        <p:nvSpPr>
          <p:cNvPr name="TextBox 7" id="7"/>
          <p:cNvSpPr txBox="true"/>
          <p:nvPr/>
        </p:nvSpPr>
        <p:spPr>
          <a:xfrm rot="0">
            <a:off x="690261" y="4437658"/>
            <a:ext cx="16907479" cy="511175"/>
          </a:xfrm>
          <a:prstGeom prst="rect">
            <a:avLst/>
          </a:prstGeom>
        </p:spPr>
        <p:txBody>
          <a:bodyPr anchor="t" rtlCol="false" tIns="0" lIns="0" bIns="0" rIns="0">
            <a:spAutoFit/>
          </a:bodyPr>
          <a:lstStyle/>
          <a:p>
            <a:pPr algn="l">
              <a:lnSpc>
                <a:spcPts val="3399"/>
              </a:lnSpc>
            </a:pPr>
            <a:r>
              <a:rPr lang="en-US" sz="3999" spc="-195">
                <a:solidFill>
                  <a:srgbClr val="FEDEE1"/>
                </a:solidFill>
                <a:latin typeface="Poppins"/>
                <a:ea typeface="Poppins"/>
                <a:cs typeface="Poppins"/>
                <a:sym typeface="Poppins"/>
              </a:rPr>
              <a:t>NASA FIRMS &amp; ONLINE SHOPPER DATASET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70020F"/>
        </a:solidFill>
      </p:bgPr>
    </p:bg>
    <p:spTree>
      <p:nvGrpSpPr>
        <p:cNvPr id="1" name=""/>
        <p:cNvGrpSpPr/>
        <p:nvPr/>
      </p:nvGrpSpPr>
      <p:grpSpPr>
        <a:xfrm>
          <a:off x="0" y="0"/>
          <a:ext cx="0" cy="0"/>
          <a:chOff x="0" y="0"/>
          <a:chExt cx="0" cy="0"/>
        </a:xfrm>
      </p:grpSpPr>
      <p:sp>
        <p:nvSpPr>
          <p:cNvPr name="Freeform 2" id="2"/>
          <p:cNvSpPr/>
          <p:nvPr/>
        </p:nvSpPr>
        <p:spPr>
          <a:xfrm flipH="false" flipV="false" rot="0">
            <a:off x="432831" y="2280807"/>
            <a:ext cx="8242581" cy="4509412"/>
          </a:xfrm>
          <a:custGeom>
            <a:avLst/>
            <a:gdLst/>
            <a:ahLst/>
            <a:cxnLst/>
            <a:rect r="r" b="b" t="t" l="l"/>
            <a:pathLst>
              <a:path h="4509412" w="8242581">
                <a:moveTo>
                  <a:pt x="0" y="0"/>
                </a:moveTo>
                <a:lnTo>
                  <a:pt x="8242581" y="0"/>
                </a:lnTo>
                <a:lnTo>
                  <a:pt x="8242581" y="4509412"/>
                </a:lnTo>
                <a:lnTo>
                  <a:pt x="0" y="4509412"/>
                </a:lnTo>
                <a:lnTo>
                  <a:pt x="0" y="0"/>
                </a:lnTo>
                <a:close/>
              </a:path>
            </a:pathLst>
          </a:custGeom>
          <a:blipFill>
            <a:blip r:embed="rId2"/>
            <a:stretch>
              <a:fillRect l="0" t="-2588" r="0" b="0"/>
            </a:stretch>
          </a:blipFill>
        </p:spPr>
      </p:sp>
      <p:sp>
        <p:nvSpPr>
          <p:cNvPr name="Freeform 3" id="3"/>
          <p:cNvSpPr/>
          <p:nvPr/>
        </p:nvSpPr>
        <p:spPr>
          <a:xfrm flipH="false" flipV="false" rot="0">
            <a:off x="8886571" y="2280807"/>
            <a:ext cx="8822214" cy="4612926"/>
          </a:xfrm>
          <a:custGeom>
            <a:avLst/>
            <a:gdLst/>
            <a:ahLst/>
            <a:cxnLst/>
            <a:rect r="r" b="b" t="t" l="l"/>
            <a:pathLst>
              <a:path h="4612926" w="8822214">
                <a:moveTo>
                  <a:pt x="0" y="0"/>
                </a:moveTo>
                <a:lnTo>
                  <a:pt x="8822214" y="0"/>
                </a:lnTo>
                <a:lnTo>
                  <a:pt x="8822214" y="4612926"/>
                </a:lnTo>
                <a:lnTo>
                  <a:pt x="0" y="4612926"/>
                </a:lnTo>
                <a:lnTo>
                  <a:pt x="0" y="0"/>
                </a:lnTo>
                <a:close/>
              </a:path>
            </a:pathLst>
          </a:custGeom>
          <a:blipFill>
            <a:blip r:embed="rId3"/>
            <a:stretch>
              <a:fillRect l="-418" t="-706" r="0" b="0"/>
            </a:stretch>
          </a:blipFill>
        </p:spPr>
      </p:sp>
      <p:sp>
        <p:nvSpPr>
          <p:cNvPr name="TextBox 4" id="4"/>
          <p:cNvSpPr txBox="true"/>
          <p:nvPr/>
        </p:nvSpPr>
        <p:spPr>
          <a:xfrm rot="0">
            <a:off x="432831" y="1892050"/>
            <a:ext cx="2387652" cy="356316"/>
          </a:xfrm>
          <a:prstGeom prst="rect">
            <a:avLst/>
          </a:prstGeom>
        </p:spPr>
        <p:txBody>
          <a:bodyPr anchor="t" rtlCol="false" tIns="0" lIns="0" bIns="0" rIns="0">
            <a:spAutoFit/>
          </a:bodyPr>
          <a:lstStyle/>
          <a:p>
            <a:pPr algn="l">
              <a:lnSpc>
                <a:spcPts val="2818"/>
              </a:lnSpc>
            </a:pPr>
            <a:r>
              <a:rPr lang="en-US" sz="2348" spc="-23">
                <a:solidFill>
                  <a:srgbClr val="FEDEE1"/>
                </a:solidFill>
                <a:latin typeface="Anton"/>
                <a:ea typeface="Anton"/>
                <a:cs typeface="Anton"/>
                <a:sym typeface="Anton"/>
              </a:rPr>
              <a:t>NASA FIRMS</a:t>
            </a:r>
          </a:p>
        </p:txBody>
      </p:sp>
      <p:sp>
        <p:nvSpPr>
          <p:cNvPr name="TextBox 5" id="5"/>
          <p:cNvSpPr txBox="true"/>
          <p:nvPr/>
        </p:nvSpPr>
        <p:spPr>
          <a:xfrm rot="0">
            <a:off x="351821" y="6915150"/>
            <a:ext cx="8323591" cy="3143250"/>
          </a:xfrm>
          <a:prstGeom prst="rect">
            <a:avLst/>
          </a:prstGeom>
        </p:spPr>
        <p:txBody>
          <a:bodyPr anchor="t" rtlCol="false" tIns="0" lIns="0" bIns="0" rIns="0">
            <a:spAutoFit/>
          </a:bodyPr>
          <a:lstStyle/>
          <a:p>
            <a:pPr algn="just" marL="302259" indent="-151129" lvl="1">
              <a:lnSpc>
                <a:spcPts val="1679"/>
              </a:lnSpc>
              <a:buFont typeface="Arial"/>
              <a:buChar char="•"/>
            </a:pPr>
            <a:r>
              <a:rPr lang="en-US" sz="1399" spc="-13">
                <a:solidFill>
                  <a:srgbClr val="FFFFFF"/>
                </a:solidFill>
                <a:latin typeface="Arial Unicode"/>
                <a:ea typeface="Arial Unicode"/>
                <a:cs typeface="Arial Unicode"/>
                <a:sym typeface="Arial Unicode"/>
              </a:rPr>
              <a:t>Distribusi latitude dan longitude memiliki beberapa puncak karena titik api terkonsentrasi di wilayah tertentu. Ini sesuai kondisi geografis.</a:t>
            </a:r>
          </a:p>
          <a:p>
            <a:pPr algn="just" marL="302259" indent="-151129" lvl="1">
              <a:lnSpc>
                <a:spcPts val="1679"/>
              </a:lnSpc>
              <a:buFont typeface="Arial"/>
              <a:buChar char="•"/>
            </a:pPr>
            <a:r>
              <a:rPr lang="en-US" sz="1399" spc="-13">
                <a:solidFill>
                  <a:srgbClr val="FFFFFF"/>
                </a:solidFill>
                <a:latin typeface="Arial Unicode"/>
                <a:ea typeface="Arial Unicode"/>
                <a:cs typeface="Arial Unicode"/>
                <a:sym typeface="Arial Unicode"/>
              </a:rPr>
              <a:t>Sebagian besar nilai brightness berada di kisaran 320-350, dengan ekor pendek ke arah nilai yang lebih rendah.</a:t>
            </a:r>
          </a:p>
          <a:p>
            <a:pPr algn="just" marL="302259" indent="-151129" lvl="1">
              <a:lnSpc>
                <a:spcPts val="1679"/>
              </a:lnSpc>
              <a:buFont typeface="Arial"/>
              <a:buChar char="•"/>
            </a:pPr>
            <a:r>
              <a:rPr lang="en-US" sz="1399" spc="-13">
                <a:solidFill>
                  <a:srgbClr val="FFFFFF"/>
                </a:solidFill>
                <a:latin typeface="Arial Unicode"/>
                <a:ea typeface="Arial Unicode"/>
                <a:cs typeface="Arial Unicode"/>
                <a:sym typeface="Arial Unicode"/>
              </a:rPr>
              <a:t>S</a:t>
            </a:r>
            <a:r>
              <a:rPr lang="en-US" sz="1399" spc="-13">
                <a:solidFill>
                  <a:srgbClr val="FFFFFF"/>
                </a:solidFill>
                <a:latin typeface="Arial Unicode"/>
                <a:ea typeface="Arial Unicode"/>
                <a:cs typeface="Arial Unicode"/>
                <a:sym typeface="Arial Unicode"/>
              </a:rPr>
              <a:t>can dan track berbentuk sangat miring ke kanan. Sebagian besar nilai kecil (sekitar 0,4), dengan sedikit nilai besar. Kedua fitur ini menggambarkan ukuran piksel satelit, yang membesar di tepi area pantauan.</a:t>
            </a:r>
          </a:p>
          <a:p>
            <a:pPr algn="just" marL="302259" indent="-151129" lvl="1">
              <a:lnSpc>
                <a:spcPts val="1679"/>
              </a:lnSpc>
              <a:buFont typeface="Arial"/>
              <a:buChar char="•"/>
            </a:pPr>
            <a:r>
              <a:rPr lang="en-US" sz="1399" spc="-13">
                <a:solidFill>
                  <a:srgbClr val="FFFFFF"/>
                </a:solidFill>
                <a:latin typeface="Arial Unicode"/>
                <a:ea typeface="Arial Unicode"/>
                <a:cs typeface="Arial Unicode"/>
                <a:sym typeface="Arial Unicode"/>
              </a:rPr>
              <a:t>acq_time: Bimodal, dengan dua kelompok di sekitar 600 dan 1800. Ini sesuai dengan dua kali lintasan satelit per hari (pagi dan sore).</a:t>
            </a:r>
          </a:p>
          <a:p>
            <a:pPr algn="just" marL="302259" indent="-151129" lvl="1">
              <a:lnSpc>
                <a:spcPts val="1679"/>
              </a:lnSpc>
              <a:buFont typeface="Arial"/>
              <a:buChar char="•"/>
            </a:pPr>
            <a:r>
              <a:rPr lang="en-US" sz="1399" spc="-13">
                <a:solidFill>
                  <a:srgbClr val="FFFFFF"/>
                </a:solidFill>
                <a:latin typeface="Arial Unicode"/>
                <a:ea typeface="Arial Unicode"/>
                <a:cs typeface="Arial Unicode"/>
                <a:sym typeface="Arial Unicode"/>
              </a:rPr>
              <a:t>bright_t31: Mendekati distribusi normal di sekitar 300, dengan sedikit pencilan.</a:t>
            </a:r>
          </a:p>
          <a:p>
            <a:pPr algn="just" marL="302259" indent="-151129" lvl="1">
              <a:lnSpc>
                <a:spcPts val="1679"/>
              </a:lnSpc>
              <a:buFont typeface="Arial"/>
              <a:buChar char="•"/>
            </a:pPr>
            <a:r>
              <a:rPr lang="en-US" sz="1399" spc="-13">
                <a:solidFill>
                  <a:srgbClr val="FFFFFF"/>
                </a:solidFill>
                <a:latin typeface="Arial Unicode"/>
                <a:ea typeface="Arial Unicode"/>
                <a:cs typeface="Arial Unicode"/>
                <a:sym typeface="Arial Unicode"/>
              </a:rPr>
              <a:t>frp: Hampir semua nilai mendekati nol dengan ekor kanan yang sangat panjang (skewness 9,11)</a:t>
            </a:r>
            <a:r>
              <a:rPr lang="en-US" sz="1399" spc="-13">
                <a:solidFill>
                  <a:srgbClr val="FFFFFF"/>
                </a:solidFill>
                <a:latin typeface="Arial Unicode"/>
                <a:ea typeface="Arial Unicode"/>
                <a:cs typeface="Arial Unicode"/>
                <a:sym typeface="Arial Unicode"/>
              </a:rPr>
              <a:t>.</a:t>
            </a:r>
          </a:p>
          <a:p>
            <a:pPr algn="just" marL="302259" indent="-151129" lvl="1">
              <a:lnSpc>
                <a:spcPts val="1679"/>
              </a:lnSpc>
              <a:buFont typeface="Arial"/>
              <a:buChar char="•"/>
            </a:pPr>
            <a:r>
              <a:rPr lang="en-US" sz="1399" spc="-13">
                <a:solidFill>
                  <a:srgbClr val="FFFFFF"/>
                </a:solidFill>
                <a:latin typeface="Arial Unicode"/>
                <a:ea typeface="Arial Unicode"/>
                <a:cs typeface="Arial Unicode"/>
                <a:sym typeface="Arial Unicode"/>
              </a:rPr>
              <a:t>acq_month: Puncaknya pada Agustus-Oktober, yang bertepatan dengan musim kemarau dan kebakaran.</a:t>
            </a:r>
          </a:p>
          <a:p>
            <a:pPr algn="just" marL="302259" indent="-151129" lvl="1">
              <a:lnSpc>
                <a:spcPts val="1679"/>
              </a:lnSpc>
              <a:buFont typeface="Arial"/>
              <a:buChar char="•"/>
            </a:pPr>
            <a:r>
              <a:rPr lang="en-US" sz="1399" spc="-13">
                <a:solidFill>
                  <a:srgbClr val="FFFFFF"/>
                </a:solidFill>
                <a:latin typeface="Arial Unicode"/>
                <a:ea typeface="Arial Unicode"/>
                <a:cs typeface="Arial Unicode"/>
                <a:sym typeface="Arial Unicode"/>
              </a:rPr>
              <a:t>version dan type: Hampir konstan. version hanya memiliki satu nilai sehingga tidak informatif dan dapat dihapus. type didominasi nilai 0 dan sebaiknya diperlakukan sebagai data kategorikal.</a:t>
            </a:r>
          </a:p>
        </p:txBody>
      </p:sp>
      <p:sp>
        <p:nvSpPr>
          <p:cNvPr name="TextBox 6" id="6"/>
          <p:cNvSpPr txBox="true"/>
          <p:nvPr/>
        </p:nvSpPr>
        <p:spPr>
          <a:xfrm rot="0">
            <a:off x="351821" y="420697"/>
            <a:ext cx="16907479" cy="1282699"/>
          </a:xfrm>
          <a:prstGeom prst="rect">
            <a:avLst/>
          </a:prstGeom>
        </p:spPr>
        <p:txBody>
          <a:bodyPr anchor="t" rtlCol="false" tIns="0" lIns="0" bIns="0" rIns="0">
            <a:spAutoFit/>
          </a:bodyPr>
          <a:lstStyle/>
          <a:p>
            <a:pPr algn="l">
              <a:lnSpc>
                <a:spcPts val="8499"/>
              </a:lnSpc>
            </a:pPr>
            <a:r>
              <a:rPr lang="en-US" b="true" sz="9999" spc="-489">
                <a:solidFill>
                  <a:srgbClr val="FEDEE1"/>
                </a:solidFill>
                <a:latin typeface="Poppins Bold"/>
                <a:ea typeface="Poppins Bold"/>
                <a:cs typeface="Poppins Bold"/>
                <a:sym typeface="Poppins Bold"/>
              </a:rPr>
              <a:t>ANALISIS DISTRIBUSI DATA</a:t>
            </a:r>
          </a:p>
        </p:txBody>
      </p:sp>
      <p:sp>
        <p:nvSpPr>
          <p:cNvPr name="TextBox 7" id="7"/>
          <p:cNvSpPr txBox="true"/>
          <p:nvPr/>
        </p:nvSpPr>
        <p:spPr>
          <a:xfrm rot="0">
            <a:off x="8886571" y="6915150"/>
            <a:ext cx="8822214" cy="2095500"/>
          </a:xfrm>
          <a:prstGeom prst="rect">
            <a:avLst/>
          </a:prstGeom>
        </p:spPr>
        <p:txBody>
          <a:bodyPr anchor="t" rtlCol="false" tIns="0" lIns="0" bIns="0" rIns="0">
            <a:spAutoFit/>
          </a:bodyPr>
          <a:lstStyle/>
          <a:p>
            <a:pPr algn="just" marL="302259" indent="-151129" lvl="1">
              <a:lnSpc>
                <a:spcPts val="1679"/>
              </a:lnSpc>
              <a:buFont typeface="Arial"/>
              <a:buChar char="•"/>
            </a:pPr>
            <a:r>
              <a:rPr lang="en-US" sz="1399" spc="-13">
                <a:solidFill>
                  <a:srgbClr val="FFFFFF"/>
                </a:solidFill>
                <a:latin typeface="Arial Unicode"/>
                <a:ea typeface="Arial Unicode"/>
                <a:cs typeface="Arial Unicode"/>
                <a:sym typeface="Arial Unicode"/>
              </a:rPr>
              <a:t>Administrative, Informational, ProductRelated beserta kolom _Duration: </a:t>
            </a:r>
            <a:r>
              <a:rPr lang="en-US" sz="1399" spc="-13">
                <a:solidFill>
                  <a:srgbClr val="FFFFFF"/>
                </a:solidFill>
                <a:latin typeface="Arial Unicode"/>
                <a:ea typeface="Arial Unicode"/>
                <a:cs typeface="Arial Unicode"/>
                <a:sym typeface="Arial Unicode"/>
              </a:rPr>
              <a:t>S</a:t>
            </a:r>
            <a:r>
              <a:rPr lang="en-US" sz="1399" spc="-13">
                <a:solidFill>
                  <a:srgbClr val="FFFFFF"/>
                </a:solidFill>
                <a:latin typeface="Arial Unicode"/>
                <a:ea typeface="Arial Unicode"/>
                <a:cs typeface="Arial Unicode"/>
                <a:sym typeface="Arial Unicode"/>
              </a:rPr>
              <a:t>angat miring ke kanan. Sebagian besar pengunjung membuka sedikit halaman dan menghabiskan waktu singkat, sedangkan sebagian kecil sangat aktif. Banyak nilai menumpuk di 0, yaitu pengunjung yang tidak membuka jenis halaman tersebut.</a:t>
            </a:r>
          </a:p>
          <a:p>
            <a:pPr algn="just" marL="302259" indent="-151129" lvl="1">
              <a:lnSpc>
                <a:spcPts val="1679"/>
              </a:lnSpc>
              <a:buFont typeface="Arial"/>
              <a:buChar char="•"/>
            </a:pPr>
            <a:r>
              <a:rPr lang="en-US" sz="1399" spc="-13">
                <a:solidFill>
                  <a:srgbClr val="FFFFFF"/>
                </a:solidFill>
                <a:latin typeface="Arial Unicode"/>
                <a:ea typeface="Arial Unicode"/>
                <a:cs typeface="Arial Unicode"/>
                <a:sym typeface="Arial Unicode"/>
              </a:rPr>
              <a:t>BounceRates dan ExitRates: Miring ke kanan dan terkonsentrasi di dekat nol.</a:t>
            </a:r>
          </a:p>
          <a:p>
            <a:pPr algn="just" marL="302259" indent="-151129" lvl="1">
              <a:lnSpc>
                <a:spcPts val="1679"/>
              </a:lnSpc>
              <a:buFont typeface="Arial"/>
              <a:buChar char="•"/>
            </a:pPr>
            <a:r>
              <a:rPr lang="en-US" sz="1399" spc="-13">
                <a:solidFill>
                  <a:srgbClr val="FFFFFF"/>
                </a:solidFill>
                <a:latin typeface="Arial Unicode"/>
                <a:ea typeface="Arial Unicode"/>
                <a:cs typeface="Arial Unicode"/>
                <a:sym typeface="Arial Unicode"/>
              </a:rPr>
              <a:t>PageValues dan SpecialDay: Hampir seluruhnya bernilai 0. Nilai non-nol hanya muncul pada kunjungan yang mengarah ke pembeli</a:t>
            </a:r>
            <a:r>
              <a:rPr lang="en-US" sz="1399" spc="-13">
                <a:solidFill>
                  <a:srgbClr val="FFFFFF"/>
                </a:solidFill>
                <a:latin typeface="Arial Unicode"/>
                <a:ea typeface="Arial Unicode"/>
                <a:cs typeface="Arial Unicode"/>
                <a:sym typeface="Arial Unicode"/>
              </a:rPr>
              <a:t>an atau pada hari-hari menjelang hari spesial.</a:t>
            </a:r>
          </a:p>
          <a:p>
            <a:pPr algn="just" marL="302259" indent="-151129" lvl="1">
              <a:lnSpc>
                <a:spcPts val="1679"/>
              </a:lnSpc>
              <a:buFont typeface="Arial"/>
              <a:buChar char="•"/>
            </a:pPr>
            <a:r>
              <a:rPr lang="en-US" sz="1399" spc="-13">
                <a:solidFill>
                  <a:srgbClr val="FFFFFF"/>
                </a:solidFill>
                <a:latin typeface="Arial Unicode"/>
                <a:ea typeface="Arial Unicode"/>
                <a:cs typeface="Arial Unicode"/>
                <a:sym typeface="Arial Unicode"/>
              </a:rPr>
              <a:t>OperatingSystems, Browser, Region, TrafficType: Sebenarnya data kategorikal yang disimpan sebagai angka. Histogramnya hanya menunjukkan frekuensi kategori, bukan distribusi kontinu.</a:t>
            </a:r>
          </a:p>
          <a:p>
            <a:pPr algn="just" marL="302259" indent="-151129" lvl="1">
              <a:lnSpc>
                <a:spcPts val="1679"/>
              </a:lnSpc>
              <a:buFont typeface="Arial"/>
              <a:buChar char="•"/>
            </a:pPr>
            <a:r>
              <a:rPr lang="en-US" sz="1399" spc="-13">
                <a:solidFill>
                  <a:srgbClr val="FFFFFF"/>
                </a:solidFill>
                <a:latin typeface="Arial Unicode"/>
                <a:ea typeface="Arial Unicode"/>
                <a:cs typeface="Arial Unicode"/>
                <a:sym typeface="Arial Unicode"/>
              </a:rPr>
              <a:t>TotalPages dan TotalDuration: Miring ke kanan (skewness TotalDuration 7,528).</a:t>
            </a:r>
          </a:p>
          <a:p>
            <a:pPr algn="just">
              <a:lnSpc>
                <a:spcPts val="1679"/>
              </a:lnSpc>
            </a:pPr>
          </a:p>
        </p:txBody>
      </p:sp>
      <p:sp>
        <p:nvSpPr>
          <p:cNvPr name="TextBox 8" id="8"/>
          <p:cNvSpPr txBox="true"/>
          <p:nvPr/>
        </p:nvSpPr>
        <p:spPr>
          <a:xfrm rot="0">
            <a:off x="8886571" y="1892050"/>
            <a:ext cx="2387652" cy="356316"/>
          </a:xfrm>
          <a:prstGeom prst="rect">
            <a:avLst/>
          </a:prstGeom>
        </p:spPr>
        <p:txBody>
          <a:bodyPr anchor="t" rtlCol="false" tIns="0" lIns="0" bIns="0" rIns="0">
            <a:spAutoFit/>
          </a:bodyPr>
          <a:lstStyle/>
          <a:p>
            <a:pPr algn="l">
              <a:lnSpc>
                <a:spcPts val="2818"/>
              </a:lnSpc>
            </a:pPr>
            <a:r>
              <a:rPr lang="en-US" sz="2348" spc="-23">
                <a:solidFill>
                  <a:srgbClr val="FEDEE1"/>
                </a:solidFill>
                <a:latin typeface="Anton"/>
                <a:ea typeface="Anton"/>
                <a:cs typeface="Anton"/>
                <a:sym typeface="Anton"/>
              </a:rPr>
              <a:t>ONLINE SHOPPERS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70020F"/>
        </a:solidFill>
      </p:bgPr>
    </p:bg>
    <p:spTree>
      <p:nvGrpSpPr>
        <p:cNvPr id="1" name=""/>
        <p:cNvGrpSpPr/>
        <p:nvPr/>
      </p:nvGrpSpPr>
      <p:grpSpPr>
        <a:xfrm>
          <a:off x="0" y="0"/>
          <a:ext cx="0" cy="0"/>
          <a:chOff x="0" y="0"/>
          <a:chExt cx="0" cy="0"/>
        </a:xfrm>
      </p:grpSpPr>
      <p:sp>
        <p:nvSpPr>
          <p:cNvPr name="Freeform 2" id="2"/>
          <p:cNvSpPr/>
          <p:nvPr/>
        </p:nvSpPr>
        <p:spPr>
          <a:xfrm flipH="false" flipV="false" rot="0">
            <a:off x="432831" y="2448391"/>
            <a:ext cx="8695803" cy="2531375"/>
          </a:xfrm>
          <a:custGeom>
            <a:avLst/>
            <a:gdLst/>
            <a:ahLst/>
            <a:cxnLst/>
            <a:rect r="r" b="b" t="t" l="l"/>
            <a:pathLst>
              <a:path h="2531375" w="8695803">
                <a:moveTo>
                  <a:pt x="0" y="0"/>
                </a:moveTo>
                <a:lnTo>
                  <a:pt x="8695804" y="0"/>
                </a:lnTo>
                <a:lnTo>
                  <a:pt x="8695804" y="2531375"/>
                </a:lnTo>
                <a:lnTo>
                  <a:pt x="0" y="2531375"/>
                </a:lnTo>
                <a:lnTo>
                  <a:pt x="0" y="0"/>
                </a:lnTo>
                <a:close/>
              </a:path>
            </a:pathLst>
          </a:custGeom>
          <a:blipFill>
            <a:blip r:embed="rId2"/>
            <a:stretch>
              <a:fillRect l="0" t="0" r="0" b="-135949"/>
            </a:stretch>
          </a:blipFill>
        </p:spPr>
      </p:sp>
      <p:sp>
        <p:nvSpPr>
          <p:cNvPr name="TextBox 3" id="3"/>
          <p:cNvSpPr txBox="true"/>
          <p:nvPr/>
        </p:nvSpPr>
        <p:spPr>
          <a:xfrm rot="0">
            <a:off x="432831" y="1892050"/>
            <a:ext cx="2387652" cy="356316"/>
          </a:xfrm>
          <a:prstGeom prst="rect">
            <a:avLst/>
          </a:prstGeom>
        </p:spPr>
        <p:txBody>
          <a:bodyPr anchor="t" rtlCol="false" tIns="0" lIns="0" bIns="0" rIns="0">
            <a:spAutoFit/>
          </a:bodyPr>
          <a:lstStyle/>
          <a:p>
            <a:pPr algn="l">
              <a:lnSpc>
                <a:spcPts val="2818"/>
              </a:lnSpc>
            </a:pPr>
            <a:r>
              <a:rPr lang="en-US" sz="2348" spc="-23">
                <a:solidFill>
                  <a:srgbClr val="FEDEE1"/>
                </a:solidFill>
                <a:latin typeface="Anton"/>
                <a:ea typeface="Anton"/>
                <a:cs typeface="Anton"/>
                <a:sym typeface="Anton"/>
              </a:rPr>
              <a:t>NASA FIRMS</a:t>
            </a:r>
          </a:p>
        </p:txBody>
      </p:sp>
      <p:sp>
        <p:nvSpPr>
          <p:cNvPr name="TextBox 4" id="4"/>
          <p:cNvSpPr txBox="true"/>
          <p:nvPr/>
        </p:nvSpPr>
        <p:spPr>
          <a:xfrm rot="0">
            <a:off x="432831" y="5179791"/>
            <a:ext cx="8453739" cy="1857375"/>
          </a:xfrm>
          <a:prstGeom prst="rect">
            <a:avLst/>
          </a:prstGeom>
        </p:spPr>
        <p:txBody>
          <a:bodyPr anchor="t" rtlCol="false" tIns="0" lIns="0" bIns="0" rIns="0">
            <a:spAutoFit/>
          </a:bodyPr>
          <a:lstStyle/>
          <a:p>
            <a:pPr algn="just">
              <a:lnSpc>
                <a:spcPts val="2999"/>
              </a:lnSpc>
            </a:pPr>
            <a:r>
              <a:rPr lang="en-US" sz="2499" spc="-24">
                <a:solidFill>
                  <a:srgbClr val="FFFFFF"/>
                </a:solidFill>
                <a:latin typeface="Arial Unicode"/>
                <a:ea typeface="Arial Unicode"/>
                <a:cs typeface="Arial Unicode"/>
                <a:sym typeface="Arial Unicode"/>
              </a:rPr>
              <a:t>Meto</a:t>
            </a:r>
            <a:r>
              <a:rPr lang="en-US" sz="2499" spc="-24">
                <a:solidFill>
                  <a:srgbClr val="FFFFFF"/>
                </a:solidFill>
                <a:latin typeface="Arial Unicode"/>
                <a:ea typeface="Arial Unicode"/>
                <a:cs typeface="Arial Unicode"/>
                <a:sym typeface="Arial Unicode"/>
              </a:rPr>
              <a:t>de IQR mendeteksi nilai ekstrem pada beberapa fitur, terutama frp (131.365 outlier), brightness (793), dan bright_t31 (72.573). Nilai ekstrem pada frp dapat merepresentasikan intensitas kebakaran yang tinggi, sehingga tidak langsung dihapus.</a:t>
            </a:r>
          </a:p>
        </p:txBody>
      </p:sp>
      <p:sp>
        <p:nvSpPr>
          <p:cNvPr name="TextBox 5" id="5"/>
          <p:cNvSpPr txBox="true"/>
          <p:nvPr/>
        </p:nvSpPr>
        <p:spPr>
          <a:xfrm rot="0">
            <a:off x="351821" y="420697"/>
            <a:ext cx="16907479" cy="1282699"/>
          </a:xfrm>
          <a:prstGeom prst="rect">
            <a:avLst/>
          </a:prstGeom>
        </p:spPr>
        <p:txBody>
          <a:bodyPr anchor="t" rtlCol="false" tIns="0" lIns="0" bIns="0" rIns="0">
            <a:spAutoFit/>
          </a:bodyPr>
          <a:lstStyle/>
          <a:p>
            <a:pPr algn="l">
              <a:lnSpc>
                <a:spcPts val="8499"/>
              </a:lnSpc>
            </a:pPr>
            <a:r>
              <a:rPr lang="en-US" b="true" sz="9999" spc="-489">
                <a:solidFill>
                  <a:srgbClr val="FEDEE1"/>
                </a:solidFill>
                <a:latin typeface="Poppins Bold"/>
                <a:ea typeface="Poppins Bold"/>
                <a:cs typeface="Poppins Bold"/>
                <a:sym typeface="Poppins Bold"/>
              </a:rPr>
              <a:t>PEMERIKSAAN OUTLIER</a:t>
            </a:r>
          </a:p>
        </p:txBody>
      </p:sp>
      <p:sp>
        <p:nvSpPr>
          <p:cNvPr name="TextBox 6" id="6"/>
          <p:cNvSpPr txBox="true"/>
          <p:nvPr/>
        </p:nvSpPr>
        <p:spPr>
          <a:xfrm rot="0">
            <a:off x="9144000" y="5740846"/>
            <a:ext cx="8227216" cy="1857375"/>
          </a:xfrm>
          <a:prstGeom prst="rect">
            <a:avLst/>
          </a:prstGeom>
        </p:spPr>
        <p:txBody>
          <a:bodyPr anchor="t" rtlCol="false" tIns="0" lIns="0" bIns="0" rIns="0">
            <a:spAutoFit/>
          </a:bodyPr>
          <a:lstStyle/>
          <a:p>
            <a:pPr algn="just">
              <a:lnSpc>
                <a:spcPts val="2999"/>
              </a:lnSpc>
            </a:pPr>
            <a:r>
              <a:rPr lang="en-US" sz="2499" spc="-24">
                <a:solidFill>
                  <a:srgbClr val="FFFFFF"/>
                </a:solidFill>
                <a:latin typeface="Arial Unicode"/>
                <a:ea typeface="Arial Unicode"/>
                <a:cs typeface="Arial Unicode"/>
                <a:sym typeface="Arial Unicode"/>
              </a:rPr>
              <a:t>Metode IQR menemukan outlier pada fitur durasi dan aktivitas pengunjung, seperti Administrative_Duration (1.149), Informational (2.631), dan PageValues (2.730). Nilai tersebut perlu dievaluasi sebelum ditangani karena dapat mencerminkan perilaku pengunjung yang valid.</a:t>
            </a:r>
          </a:p>
        </p:txBody>
      </p:sp>
      <p:sp>
        <p:nvSpPr>
          <p:cNvPr name="TextBox 7" id="7"/>
          <p:cNvSpPr txBox="true"/>
          <p:nvPr/>
        </p:nvSpPr>
        <p:spPr>
          <a:xfrm rot="0">
            <a:off x="9128635" y="1892050"/>
            <a:ext cx="2387652" cy="356316"/>
          </a:xfrm>
          <a:prstGeom prst="rect">
            <a:avLst/>
          </a:prstGeom>
        </p:spPr>
        <p:txBody>
          <a:bodyPr anchor="t" rtlCol="false" tIns="0" lIns="0" bIns="0" rIns="0">
            <a:spAutoFit/>
          </a:bodyPr>
          <a:lstStyle/>
          <a:p>
            <a:pPr algn="l">
              <a:lnSpc>
                <a:spcPts val="2818"/>
              </a:lnSpc>
            </a:pPr>
            <a:r>
              <a:rPr lang="en-US" sz="2348" spc="-23">
                <a:solidFill>
                  <a:srgbClr val="FEDEE1"/>
                </a:solidFill>
                <a:latin typeface="Anton"/>
                <a:ea typeface="Anton"/>
                <a:cs typeface="Anton"/>
                <a:sym typeface="Anton"/>
              </a:rPr>
              <a:t>ONLINE SHOPPERS</a:t>
            </a:r>
          </a:p>
        </p:txBody>
      </p:sp>
      <p:sp>
        <p:nvSpPr>
          <p:cNvPr name="Freeform 8" id="8"/>
          <p:cNvSpPr/>
          <p:nvPr/>
        </p:nvSpPr>
        <p:spPr>
          <a:xfrm flipH="false" flipV="false" rot="0">
            <a:off x="9144000" y="2448391"/>
            <a:ext cx="8227216" cy="3205006"/>
          </a:xfrm>
          <a:custGeom>
            <a:avLst/>
            <a:gdLst/>
            <a:ahLst/>
            <a:cxnLst/>
            <a:rect r="r" b="b" t="t" l="l"/>
            <a:pathLst>
              <a:path h="3205006" w="8227216">
                <a:moveTo>
                  <a:pt x="0" y="0"/>
                </a:moveTo>
                <a:lnTo>
                  <a:pt x="8227216" y="0"/>
                </a:lnTo>
                <a:lnTo>
                  <a:pt x="8227216" y="3205005"/>
                </a:lnTo>
                <a:lnTo>
                  <a:pt x="0" y="3205005"/>
                </a:lnTo>
                <a:lnTo>
                  <a:pt x="0" y="0"/>
                </a:lnTo>
                <a:close/>
              </a:path>
            </a:pathLst>
          </a:custGeom>
          <a:blipFill>
            <a:blip r:embed="rId2"/>
            <a:stretch>
              <a:fillRect l="0" t="-76315" r="0" b="0"/>
            </a:stretch>
          </a:blipFill>
        </p:spPr>
      </p:sp>
      <p:sp>
        <p:nvSpPr>
          <p:cNvPr name="TextBox 9" id="9"/>
          <p:cNvSpPr txBox="true"/>
          <p:nvPr/>
        </p:nvSpPr>
        <p:spPr>
          <a:xfrm rot="0">
            <a:off x="432831" y="7780116"/>
            <a:ext cx="8453739" cy="371475"/>
          </a:xfrm>
          <a:prstGeom prst="rect">
            <a:avLst/>
          </a:prstGeom>
        </p:spPr>
        <p:txBody>
          <a:bodyPr anchor="t" rtlCol="false" tIns="0" lIns="0" bIns="0" rIns="0">
            <a:spAutoFit/>
          </a:bodyPr>
          <a:lstStyle/>
          <a:p>
            <a:pPr algn="just">
              <a:lnSpc>
                <a:spcPts val="2999"/>
              </a:lnSpc>
            </a:pPr>
            <a:r>
              <a:rPr lang="en-US" sz="2499" spc="-24">
                <a:solidFill>
                  <a:srgbClr val="FFFFFF"/>
                </a:solidFill>
                <a:latin typeface="Arial Unicode"/>
                <a:ea typeface="Arial Unicode"/>
                <a:cs typeface="Arial Unicode"/>
                <a:sym typeface="Arial Unicode"/>
              </a:rPr>
              <a:t>*outlier gk pasti eror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70020F"/>
        </a:solidFill>
      </p:bgPr>
    </p:bg>
    <p:spTree>
      <p:nvGrpSpPr>
        <p:cNvPr id="1" name=""/>
        <p:cNvGrpSpPr/>
        <p:nvPr/>
      </p:nvGrpSpPr>
      <p:grpSpPr>
        <a:xfrm>
          <a:off x="0" y="0"/>
          <a:ext cx="0" cy="0"/>
          <a:chOff x="0" y="0"/>
          <a:chExt cx="0" cy="0"/>
        </a:xfrm>
      </p:grpSpPr>
      <p:sp>
        <p:nvSpPr>
          <p:cNvPr name="TextBox 2" id="2"/>
          <p:cNvSpPr txBox="true"/>
          <p:nvPr/>
        </p:nvSpPr>
        <p:spPr>
          <a:xfrm rot="0">
            <a:off x="9132121" y="1700362"/>
            <a:ext cx="6161687" cy="356411"/>
          </a:xfrm>
          <a:prstGeom prst="rect">
            <a:avLst/>
          </a:prstGeom>
        </p:spPr>
        <p:txBody>
          <a:bodyPr anchor="t" rtlCol="false" tIns="0" lIns="0" bIns="0" rIns="0">
            <a:spAutoFit/>
          </a:bodyPr>
          <a:lstStyle/>
          <a:p>
            <a:pPr algn="l">
              <a:lnSpc>
                <a:spcPts val="2974"/>
              </a:lnSpc>
            </a:pPr>
            <a:r>
              <a:rPr lang="en-US" sz="2478" spc="-24">
                <a:solidFill>
                  <a:srgbClr val="FEDEE1"/>
                </a:solidFill>
                <a:latin typeface="Anton"/>
                <a:ea typeface="Anton"/>
                <a:cs typeface="Anton"/>
                <a:sym typeface="Anton"/>
              </a:rPr>
              <a:t>NASA FIRMS: FRP &amp; ONLINE SHOPPERS: TOTALDURATION</a:t>
            </a:r>
          </a:p>
        </p:txBody>
      </p:sp>
      <p:sp>
        <p:nvSpPr>
          <p:cNvPr name="Freeform 3" id="3"/>
          <p:cNvSpPr/>
          <p:nvPr/>
        </p:nvSpPr>
        <p:spPr>
          <a:xfrm flipH="false" flipV="false" rot="0">
            <a:off x="9132121" y="2066298"/>
            <a:ext cx="8367087" cy="4450245"/>
          </a:xfrm>
          <a:custGeom>
            <a:avLst/>
            <a:gdLst/>
            <a:ahLst/>
            <a:cxnLst/>
            <a:rect r="r" b="b" t="t" l="l"/>
            <a:pathLst>
              <a:path h="4450245" w="8367087">
                <a:moveTo>
                  <a:pt x="0" y="0"/>
                </a:moveTo>
                <a:lnTo>
                  <a:pt x="8367088" y="0"/>
                </a:lnTo>
                <a:lnTo>
                  <a:pt x="8367088" y="4450245"/>
                </a:lnTo>
                <a:lnTo>
                  <a:pt x="0" y="4450245"/>
                </a:lnTo>
                <a:lnTo>
                  <a:pt x="0" y="0"/>
                </a:lnTo>
                <a:close/>
              </a:path>
            </a:pathLst>
          </a:custGeom>
          <a:blipFill>
            <a:blip r:embed="rId2"/>
            <a:stretch>
              <a:fillRect l="0" t="0" r="0" b="0"/>
            </a:stretch>
          </a:blipFill>
        </p:spPr>
      </p:sp>
      <p:sp>
        <p:nvSpPr>
          <p:cNvPr name="Freeform 4" id="4"/>
          <p:cNvSpPr/>
          <p:nvPr/>
        </p:nvSpPr>
        <p:spPr>
          <a:xfrm flipH="false" flipV="false" rot="0">
            <a:off x="432831" y="2066298"/>
            <a:ext cx="8367087" cy="4450245"/>
          </a:xfrm>
          <a:custGeom>
            <a:avLst/>
            <a:gdLst/>
            <a:ahLst/>
            <a:cxnLst/>
            <a:rect r="r" b="b" t="t" l="l"/>
            <a:pathLst>
              <a:path h="4450245" w="8367087">
                <a:moveTo>
                  <a:pt x="0" y="0"/>
                </a:moveTo>
                <a:lnTo>
                  <a:pt x="8367088" y="0"/>
                </a:lnTo>
                <a:lnTo>
                  <a:pt x="8367088" y="4450245"/>
                </a:lnTo>
                <a:lnTo>
                  <a:pt x="0" y="4450245"/>
                </a:lnTo>
                <a:lnTo>
                  <a:pt x="0" y="0"/>
                </a:lnTo>
                <a:close/>
              </a:path>
            </a:pathLst>
          </a:custGeom>
          <a:blipFill>
            <a:blip r:embed="rId3"/>
            <a:stretch>
              <a:fillRect l="0" t="0" r="0" b="0"/>
            </a:stretch>
          </a:blipFill>
        </p:spPr>
      </p:sp>
      <p:grpSp>
        <p:nvGrpSpPr>
          <p:cNvPr name="Group 5" id="5"/>
          <p:cNvGrpSpPr/>
          <p:nvPr/>
        </p:nvGrpSpPr>
        <p:grpSpPr>
          <a:xfrm rot="0">
            <a:off x="432831" y="8231243"/>
            <a:ext cx="17158896" cy="1922407"/>
            <a:chOff x="0" y="0"/>
            <a:chExt cx="4519216" cy="506313"/>
          </a:xfrm>
        </p:grpSpPr>
        <p:sp>
          <p:nvSpPr>
            <p:cNvPr name="Freeform 6" id="6"/>
            <p:cNvSpPr/>
            <p:nvPr/>
          </p:nvSpPr>
          <p:spPr>
            <a:xfrm flipH="false" flipV="false" rot="0">
              <a:off x="0" y="0"/>
              <a:ext cx="4519216" cy="506313"/>
            </a:xfrm>
            <a:custGeom>
              <a:avLst/>
              <a:gdLst/>
              <a:ahLst/>
              <a:cxnLst/>
              <a:rect r="r" b="b" t="t" l="l"/>
              <a:pathLst>
                <a:path h="506313" w="4519216">
                  <a:moveTo>
                    <a:pt x="0" y="0"/>
                  </a:moveTo>
                  <a:lnTo>
                    <a:pt x="4519216" y="0"/>
                  </a:lnTo>
                  <a:lnTo>
                    <a:pt x="4519216" y="506313"/>
                  </a:lnTo>
                  <a:lnTo>
                    <a:pt x="0" y="506313"/>
                  </a:lnTo>
                  <a:close/>
                </a:path>
              </a:pathLst>
            </a:custGeom>
            <a:solidFill>
              <a:srgbClr val="2E2E72"/>
            </a:solidFill>
          </p:spPr>
        </p:sp>
        <p:sp>
          <p:nvSpPr>
            <p:cNvPr name="TextBox 7" id="7"/>
            <p:cNvSpPr txBox="true"/>
            <p:nvPr/>
          </p:nvSpPr>
          <p:spPr>
            <a:xfrm>
              <a:off x="0" y="-9525"/>
              <a:ext cx="4519216" cy="515838"/>
            </a:xfrm>
            <a:prstGeom prst="rect">
              <a:avLst/>
            </a:prstGeom>
          </p:spPr>
          <p:txBody>
            <a:bodyPr anchor="ctr" rtlCol="false" tIns="50800" lIns="50800" bIns="50800" rIns="50800"/>
            <a:lstStyle/>
            <a:p>
              <a:pPr algn="ctr">
                <a:lnSpc>
                  <a:spcPts val="2818"/>
                </a:lnSpc>
              </a:pPr>
            </a:p>
          </p:txBody>
        </p:sp>
      </p:grpSp>
      <p:sp>
        <p:nvSpPr>
          <p:cNvPr name="TextBox 8" id="8"/>
          <p:cNvSpPr txBox="true"/>
          <p:nvPr/>
        </p:nvSpPr>
        <p:spPr>
          <a:xfrm rot="0">
            <a:off x="432831" y="1700362"/>
            <a:ext cx="4575093" cy="356411"/>
          </a:xfrm>
          <a:prstGeom prst="rect">
            <a:avLst/>
          </a:prstGeom>
        </p:spPr>
        <p:txBody>
          <a:bodyPr anchor="t" rtlCol="false" tIns="0" lIns="0" bIns="0" rIns="0">
            <a:spAutoFit/>
          </a:bodyPr>
          <a:lstStyle/>
          <a:p>
            <a:pPr algn="l">
              <a:lnSpc>
                <a:spcPts val="2974"/>
              </a:lnSpc>
            </a:pPr>
            <a:r>
              <a:rPr lang="en-US" sz="2478" spc="-24">
                <a:solidFill>
                  <a:srgbClr val="FEDEE1"/>
                </a:solidFill>
                <a:latin typeface="Anton"/>
                <a:ea typeface="Anton"/>
                <a:cs typeface="Anton"/>
                <a:sym typeface="Anton"/>
              </a:rPr>
              <a:t>ONLINE SHOPPERS: TOTALDURATION</a:t>
            </a:r>
          </a:p>
        </p:txBody>
      </p:sp>
      <p:sp>
        <p:nvSpPr>
          <p:cNvPr name="TextBox 9" id="9"/>
          <p:cNvSpPr txBox="true"/>
          <p:nvPr/>
        </p:nvSpPr>
        <p:spPr>
          <a:xfrm rot="0">
            <a:off x="9132121" y="6602468"/>
            <a:ext cx="8361445" cy="1285875"/>
          </a:xfrm>
          <a:prstGeom prst="rect">
            <a:avLst/>
          </a:prstGeom>
        </p:spPr>
        <p:txBody>
          <a:bodyPr anchor="t" rtlCol="false" tIns="0" lIns="0" bIns="0" rIns="0">
            <a:spAutoFit/>
          </a:bodyPr>
          <a:lstStyle/>
          <a:p>
            <a:pPr algn="just">
              <a:lnSpc>
                <a:spcPts val="2039"/>
              </a:lnSpc>
            </a:pPr>
            <a:r>
              <a:rPr lang="en-US" sz="1699" spc="-16">
                <a:solidFill>
                  <a:srgbClr val="FFFFFF"/>
                </a:solidFill>
                <a:latin typeface="Arial Unicode"/>
                <a:ea typeface="Arial Unicode"/>
                <a:cs typeface="Arial Unicode"/>
                <a:sym typeface="Arial Unicode"/>
              </a:rPr>
              <a:t>Sebelum transformasi, frp memiliki skewness 9,11, yang berarti sangat miring ke kanan. Setelah transformasi log1p, skewness turun menjadi 0,725. Kemiringan berkurang secara signifikan, dan histogra</a:t>
            </a:r>
            <a:r>
              <a:rPr lang="en-US" sz="1699" spc="-16">
                <a:solidFill>
                  <a:srgbClr val="FFFFFF"/>
                </a:solidFill>
                <a:latin typeface="Arial Unicode"/>
                <a:ea typeface="Arial Unicode"/>
                <a:cs typeface="Arial Unicode"/>
                <a:sym typeface="Arial Unicode"/>
              </a:rPr>
              <a:t>m berubah dari tumpukan di dekat nol menjadi bentuk lonceng yang lebih simetris. Baris bawah menampilkan kembali TotalDuration sebelum dan sesudah log1p (data yang sama dengan sisi kiri) sebagai pembanding terhadap frp.</a:t>
            </a:r>
          </a:p>
        </p:txBody>
      </p:sp>
      <p:sp>
        <p:nvSpPr>
          <p:cNvPr name="TextBox 10" id="10"/>
          <p:cNvSpPr txBox="true"/>
          <p:nvPr/>
        </p:nvSpPr>
        <p:spPr>
          <a:xfrm rot="0">
            <a:off x="432831" y="688975"/>
            <a:ext cx="16907479" cy="831849"/>
          </a:xfrm>
          <a:prstGeom prst="rect">
            <a:avLst/>
          </a:prstGeom>
        </p:spPr>
        <p:txBody>
          <a:bodyPr anchor="t" rtlCol="false" tIns="0" lIns="0" bIns="0" rIns="0">
            <a:spAutoFit/>
          </a:bodyPr>
          <a:lstStyle/>
          <a:p>
            <a:pPr algn="l">
              <a:lnSpc>
                <a:spcPts val="5524"/>
              </a:lnSpc>
            </a:pPr>
            <a:r>
              <a:rPr lang="en-US" b="true" sz="6499" spc="-318">
                <a:solidFill>
                  <a:srgbClr val="FEDEE1"/>
                </a:solidFill>
                <a:latin typeface="Poppins Bold"/>
                <a:ea typeface="Poppins Bold"/>
                <a:cs typeface="Poppins Bold"/>
                <a:sym typeface="Poppins Bold"/>
              </a:rPr>
              <a:t>LOG TRANSFORMATION DAN SQUARE ROOT</a:t>
            </a:r>
          </a:p>
        </p:txBody>
      </p:sp>
      <p:sp>
        <p:nvSpPr>
          <p:cNvPr name="TextBox 11" id="11"/>
          <p:cNvSpPr txBox="true"/>
          <p:nvPr/>
        </p:nvSpPr>
        <p:spPr>
          <a:xfrm rot="0">
            <a:off x="432831" y="6602468"/>
            <a:ext cx="8367087" cy="1543050"/>
          </a:xfrm>
          <a:prstGeom prst="rect">
            <a:avLst/>
          </a:prstGeom>
        </p:spPr>
        <p:txBody>
          <a:bodyPr anchor="t" rtlCol="false" tIns="0" lIns="0" bIns="0" rIns="0">
            <a:spAutoFit/>
          </a:bodyPr>
          <a:lstStyle/>
          <a:p>
            <a:pPr algn="just">
              <a:lnSpc>
                <a:spcPts val="2039"/>
              </a:lnSpc>
            </a:pPr>
            <a:r>
              <a:rPr lang="en-US" sz="1699" spc="-16">
                <a:solidFill>
                  <a:srgbClr val="FFFFFF"/>
                </a:solidFill>
                <a:latin typeface="Arial Unicode"/>
                <a:ea typeface="Arial Unicode"/>
                <a:cs typeface="Arial Unicode"/>
                <a:sym typeface="Arial Unicode"/>
              </a:rPr>
              <a:t>Data asli TotalDuration memiliki skewness 7,528, yang berarti sangat miring ke kanan. Setelah transformasi log1p, skewness menjadi -1,528, sehingga distribusi terkoreksi berlebihan dan kini cukup miring ke kiri. Setelah transformasi akar kuadrat (sqrt), skewness menjadi 1,37. Distribusi masih miring ke kanan, tetapi lebih moderat. </a:t>
            </a:r>
            <a:r>
              <a:rPr lang="en-US" sz="1699" spc="-16">
                <a:solidFill>
                  <a:srgbClr val="FFFFFF"/>
                </a:solidFill>
                <a:latin typeface="Arial Unicode"/>
                <a:ea typeface="Arial Unicode"/>
                <a:cs typeface="Arial Unicode"/>
                <a:sym typeface="Arial Unicode"/>
              </a:rPr>
              <a:t>K</a:t>
            </a:r>
            <a:r>
              <a:rPr lang="en-US" sz="1699" spc="-16">
                <a:solidFill>
                  <a:srgbClr val="FFFFFF"/>
                </a:solidFill>
                <a:latin typeface="Arial Unicode"/>
                <a:ea typeface="Arial Unicode"/>
                <a:cs typeface="Arial Unicode"/>
                <a:sym typeface="Arial Unicode"/>
              </a:rPr>
              <a:t>emiringan dinilai dari jarak nilainya terhadap 0, buk</a:t>
            </a:r>
            <a:r>
              <a:rPr lang="en-US" sz="1699" spc="-16">
                <a:solidFill>
                  <a:srgbClr val="FFFFFF"/>
                </a:solidFill>
                <a:latin typeface="Arial Unicode"/>
                <a:ea typeface="Arial Unicode"/>
                <a:cs typeface="Arial Unicode"/>
                <a:sym typeface="Arial Unicode"/>
              </a:rPr>
              <a:t>an dari tandanya. Nilai 1,37 lebih kecil daripada -1,528, sehingga akar kuadrat sedikit lebih mendekati distribusi simetris.</a:t>
            </a:r>
          </a:p>
        </p:txBody>
      </p:sp>
      <p:sp>
        <p:nvSpPr>
          <p:cNvPr name="TextBox 12" id="12"/>
          <p:cNvSpPr txBox="true"/>
          <p:nvPr/>
        </p:nvSpPr>
        <p:spPr>
          <a:xfrm rot="0">
            <a:off x="525350" y="8271681"/>
            <a:ext cx="16907479" cy="1800225"/>
          </a:xfrm>
          <a:prstGeom prst="rect">
            <a:avLst/>
          </a:prstGeom>
        </p:spPr>
        <p:txBody>
          <a:bodyPr anchor="t" rtlCol="false" tIns="0" lIns="0" bIns="0" rIns="0">
            <a:spAutoFit/>
          </a:bodyPr>
          <a:lstStyle/>
          <a:p>
            <a:pPr algn="just">
              <a:lnSpc>
                <a:spcPts val="2039"/>
              </a:lnSpc>
            </a:pPr>
            <a:r>
              <a:rPr lang="en-US" sz="1699" spc="-16">
                <a:solidFill>
                  <a:srgbClr val="FFFFFF"/>
                </a:solidFill>
                <a:latin typeface="Arial Unicode"/>
                <a:ea typeface="Arial Unicode"/>
                <a:cs typeface="Arial Unicode"/>
                <a:sym typeface="Arial Unicode"/>
              </a:rPr>
              <a:t>Histogram log1p untuk TotalDuration tampak mirip bentuk lonceng. Namun, sekitar 600 sesi dengan durasi 0 tetap bernilai 0 setelah transformasi (log1p(0) = 0), sehingga membentuk kelompok tersendiri yang terpisah dari kelompok utama di kisaran 6-7. Kelompok ini berperan seperti ekor panjang di sisi kiri, yang membuat skewness</a:t>
            </a:r>
            <a:r>
              <a:rPr lang="en-US" sz="1699" spc="-16">
                <a:solidFill>
                  <a:srgbClr val="FFFFFF"/>
                </a:solidFill>
                <a:latin typeface="Arial Unicode"/>
                <a:ea typeface="Arial Unicode"/>
                <a:cs typeface="Arial Unicode"/>
                <a:sym typeface="Arial Unicode"/>
              </a:rPr>
              <a:t> bernilai negatif. Akar kuadrat lebih lembut dan tidak menciptakan lonjakan terpisah untuk nilai nol, tetapi masih menyisakan ekor kanan. Untuk frp, transformasi log1p sangat efektif. Untuk TotalDuration, log1p bukan pilihan terbaik karena akar kuadrat memberikan hasil yang lebih moderat, meskipun selisih keduanya tidak besar. Pemilihan transformasi sebaiknya didasarkan pada perbandingan skewness dan bentuk distribusi, bukan pada satu metode yang dianggap selalu terbaik.</a:t>
            </a:r>
          </a:p>
          <a:p>
            <a:pPr algn="just">
              <a:lnSpc>
                <a:spcPts val="2039"/>
              </a:lnSpc>
            </a:pPr>
            <a:r>
              <a:rPr lang="en-US" sz="1699" spc="-16">
                <a:solidFill>
                  <a:srgbClr val="FFFFFF"/>
                </a:solidFill>
                <a:latin typeface="Arial Unicode"/>
                <a:ea typeface="Arial Unicode"/>
                <a:cs typeface="Arial Unicode"/>
                <a:sym typeface="Arial Unicode"/>
              </a:rPr>
              <a:t>Catatan zero-inflation Lonjakan di nol pada TotalDuration tidak dapat diatasi oleh transformasi saja. Salah satu solusinya adalah menambahkan kolom penanda, misalnya HasDuration (0 atau 1).</a:t>
            </a:r>
          </a:p>
        </p:txBody>
      </p:sp>
      <p:sp>
        <p:nvSpPr>
          <p:cNvPr name="TextBox 13" id="13"/>
          <p:cNvSpPr txBox="true"/>
          <p:nvPr/>
        </p:nvSpPr>
        <p:spPr>
          <a:xfrm rot="0">
            <a:off x="2102558" y="3201497"/>
            <a:ext cx="4575093" cy="356411"/>
          </a:xfrm>
          <a:prstGeom prst="rect">
            <a:avLst/>
          </a:prstGeom>
        </p:spPr>
        <p:txBody>
          <a:bodyPr anchor="t" rtlCol="false" tIns="0" lIns="0" bIns="0" rIns="0">
            <a:spAutoFit/>
          </a:bodyPr>
          <a:lstStyle/>
          <a:p>
            <a:pPr algn="l">
              <a:lnSpc>
                <a:spcPts val="2974"/>
              </a:lnSpc>
            </a:pPr>
            <a:r>
              <a:rPr lang="en-US" sz="2478" spc="-24">
                <a:solidFill>
                  <a:srgbClr val="70020F"/>
                </a:solidFill>
                <a:latin typeface="Anton"/>
                <a:ea typeface="Anton"/>
                <a:cs typeface="Anton"/>
                <a:sym typeface="Anton"/>
              </a:rPr>
              <a:t>ASLI</a:t>
            </a:r>
          </a:p>
        </p:txBody>
      </p:sp>
      <p:sp>
        <p:nvSpPr>
          <p:cNvPr name="TextBox 14" id="14"/>
          <p:cNvSpPr txBox="true"/>
          <p:nvPr/>
        </p:nvSpPr>
        <p:spPr>
          <a:xfrm rot="0">
            <a:off x="5590668" y="2835561"/>
            <a:ext cx="4575093" cy="356411"/>
          </a:xfrm>
          <a:prstGeom prst="rect">
            <a:avLst/>
          </a:prstGeom>
        </p:spPr>
        <p:txBody>
          <a:bodyPr anchor="t" rtlCol="false" tIns="0" lIns="0" bIns="0" rIns="0">
            <a:spAutoFit/>
          </a:bodyPr>
          <a:lstStyle/>
          <a:p>
            <a:pPr algn="l">
              <a:lnSpc>
                <a:spcPts val="2974"/>
              </a:lnSpc>
            </a:pPr>
            <a:r>
              <a:rPr lang="en-US" sz="2478" spc="-24">
                <a:solidFill>
                  <a:srgbClr val="70020F"/>
                </a:solidFill>
                <a:latin typeface="Anton"/>
                <a:ea typeface="Anton"/>
                <a:cs typeface="Anton"/>
                <a:sym typeface="Anton"/>
              </a:rPr>
              <a:t>LOG1P</a:t>
            </a:r>
          </a:p>
        </p:txBody>
      </p:sp>
      <p:sp>
        <p:nvSpPr>
          <p:cNvPr name="TextBox 15" id="15"/>
          <p:cNvSpPr txBox="true"/>
          <p:nvPr/>
        </p:nvSpPr>
        <p:spPr>
          <a:xfrm rot="0">
            <a:off x="2648203" y="5155570"/>
            <a:ext cx="4575093" cy="356411"/>
          </a:xfrm>
          <a:prstGeom prst="rect">
            <a:avLst/>
          </a:prstGeom>
        </p:spPr>
        <p:txBody>
          <a:bodyPr anchor="t" rtlCol="false" tIns="0" lIns="0" bIns="0" rIns="0">
            <a:spAutoFit/>
          </a:bodyPr>
          <a:lstStyle/>
          <a:p>
            <a:pPr algn="l">
              <a:lnSpc>
                <a:spcPts val="2974"/>
              </a:lnSpc>
            </a:pPr>
            <a:r>
              <a:rPr lang="en-US" sz="2478" spc="-24">
                <a:solidFill>
                  <a:srgbClr val="70020F"/>
                </a:solidFill>
                <a:latin typeface="Anton"/>
                <a:ea typeface="Anton"/>
                <a:cs typeface="Anton"/>
                <a:sym typeface="Anton"/>
              </a:rPr>
              <a:t>SQRT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70020F"/>
        </a:solidFill>
      </p:bgPr>
    </p:bg>
    <p:spTree>
      <p:nvGrpSpPr>
        <p:cNvPr id="1" name=""/>
        <p:cNvGrpSpPr/>
        <p:nvPr/>
      </p:nvGrpSpPr>
      <p:grpSpPr>
        <a:xfrm>
          <a:off x="0" y="0"/>
          <a:ext cx="0" cy="0"/>
          <a:chOff x="0" y="0"/>
          <a:chExt cx="0" cy="0"/>
        </a:xfrm>
      </p:grpSpPr>
      <p:sp>
        <p:nvSpPr>
          <p:cNvPr name="Freeform 2" id="2"/>
          <p:cNvSpPr/>
          <p:nvPr/>
        </p:nvSpPr>
        <p:spPr>
          <a:xfrm flipH="false" flipV="false" rot="0">
            <a:off x="11439519" y="506244"/>
            <a:ext cx="6467044" cy="9274512"/>
          </a:xfrm>
          <a:custGeom>
            <a:avLst/>
            <a:gdLst/>
            <a:ahLst/>
            <a:cxnLst/>
            <a:rect r="r" b="b" t="t" l="l"/>
            <a:pathLst>
              <a:path h="9274512" w="6467044">
                <a:moveTo>
                  <a:pt x="0" y="0"/>
                </a:moveTo>
                <a:lnTo>
                  <a:pt x="6467043" y="0"/>
                </a:lnTo>
                <a:lnTo>
                  <a:pt x="6467043" y="9274512"/>
                </a:lnTo>
                <a:lnTo>
                  <a:pt x="0" y="9274512"/>
                </a:lnTo>
                <a:lnTo>
                  <a:pt x="0" y="0"/>
                </a:lnTo>
                <a:close/>
              </a:path>
            </a:pathLst>
          </a:custGeom>
          <a:blipFill>
            <a:blip r:embed="rId2"/>
            <a:stretch>
              <a:fillRect l="0" t="0" r="0" b="0"/>
            </a:stretch>
          </a:blipFill>
        </p:spPr>
      </p:sp>
      <p:sp>
        <p:nvSpPr>
          <p:cNvPr name="TextBox 3" id="3"/>
          <p:cNvSpPr txBox="true"/>
          <p:nvPr/>
        </p:nvSpPr>
        <p:spPr>
          <a:xfrm rot="0">
            <a:off x="457523" y="1520825"/>
            <a:ext cx="10409317" cy="1028700"/>
          </a:xfrm>
          <a:prstGeom prst="rect">
            <a:avLst/>
          </a:prstGeom>
        </p:spPr>
        <p:txBody>
          <a:bodyPr anchor="t" rtlCol="false" tIns="0" lIns="0" bIns="0" rIns="0">
            <a:spAutoFit/>
          </a:bodyPr>
          <a:lstStyle/>
          <a:p>
            <a:pPr algn="just">
              <a:lnSpc>
                <a:spcPts val="2039"/>
              </a:lnSpc>
            </a:pPr>
            <a:r>
              <a:rPr lang="en-US" sz="1699" spc="-16">
                <a:solidFill>
                  <a:srgbClr val="FFFFFF"/>
                </a:solidFill>
                <a:latin typeface="Arial Unicode"/>
                <a:ea typeface="Arial Unicode"/>
                <a:cs typeface="Arial Unicode"/>
                <a:sym typeface="Arial Unicode"/>
              </a:rPr>
              <a:t>Tiga metode dibandingkan:</a:t>
            </a:r>
          </a:p>
          <a:p>
            <a:pPr algn="just" marL="367027" indent="-183514" lvl="1">
              <a:lnSpc>
                <a:spcPts val="2039"/>
              </a:lnSpc>
              <a:buFont typeface="Arial"/>
              <a:buChar char="•"/>
            </a:pPr>
            <a:r>
              <a:rPr lang="en-US" sz="1699" spc="-16">
                <a:solidFill>
                  <a:srgbClr val="FFFFFF"/>
                </a:solidFill>
                <a:latin typeface="Arial Unicode"/>
                <a:ea typeface="Arial Unicode"/>
                <a:cs typeface="Arial Unicode"/>
                <a:sym typeface="Arial Unicode"/>
              </a:rPr>
              <a:t>MinMaxScaler: mengubah nilai ke rentang 0 sampai 1</a:t>
            </a:r>
          </a:p>
          <a:p>
            <a:pPr algn="just" marL="367027" indent="-183514" lvl="1">
              <a:lnSpc>
                <a:spcPts val="2039"/>
              </a:lnSpc>
              <a:buFont typeface="Arial"/>
              <a:buChar char="•"/>
            </a:pPr>
            <a:r>
              <a:rPr lang="en-US" sz="1699" spc="-16">
                <a:solidFill>
                  <a:srgbClr val="FFFFFF"/>
                </a:solidFill>
                <a:latin typeface="Arial Unicode"/>
                <a:ea typeface="Arial Unicode"/>
                <a:cs typeface="Arial Unicode"/>
                <a:sym typeface="Arial Unicode"/>
              </a:rPr>
              <a:t>StandardScaler: berdasarkan mean dan standar deviasi</a:t>
            </a:r>
          </a:p>
          <a:p>
            <a:pPr algn="just" marL="367027" indent="-183514" lvl="1">
              <a:lnSpc>
                <a:spcPts val="2039"/>
              </a:lnSpc>
              <a:buFont typeface="Arial"/>
              <a:buChar char="•"/>
            </a:pPr>
            <a:r>
              <a:rPr lang="en-US" sz="1699" spc="-16">
                <a:solidFill>
                  <a:srgbClr val="FFFFFF"/>
                </a:solidFill>
                <a:latin typeface="Arial Unicode"/>
                <a:ea typeface="Arial Unicode"/>
                <a:cs typeface="Arial Unicode"/>
                <a:sym typeface="Arial Unicode"/>
              </a:rPr>
              <a:t>RobustScaler: </a:t>
            </a:r>
            <a:r>
              <a:rPr lang="en-US" sz="1699" spc="-16">
                <a:solidFill>
                  <a:srgbClr val="FFFFFF"/>
                </a:solidFill>
                <a:latin typeface="Arial Unicode"/>
                <a:ea typeface="Arial Unicode"/>
                <a:cs typeface="Arial Unicode"/>
                <a:sym typeface="Arial Unicode"/>
              </a:rPr>
              <a:t>berdasarkan median dan IQR</a:t>
            </a:r>
          </a:p>
        </p:txBody>
      </p:sp>
      <p:sp>
        <p:nvSpPr>
          <p:cNvPr name="TextBox 4" id="4"/>
          <p:cNvSpPr txBox="true"/>
          <p:nvPr/>
        </p:nvSpPr>
        <p:spPr>
          <a:xfrm rot="0">
            <a:off x="432831" y="688975"/>
            <a:ext cx="16907479" cy="831849"/>
          </a:xfrm>
          <a:prstGeom prst="rect">
            <a:avLst/>
          </a:prstGeom>
        </p:spPr>
        <p:txBody>
          <a:bodyPr anchor="t" rtlCol="false" tIns="0" lIns="0" bIns="0" rIns="0">
            <a:spAutoFit/>
          </a:bodyPr>
          <a:lstStyle/>
          <a:p>
            <a:pPr algn="l">
              <a:lnSpc>
                <a:spcPts val="5524"/>
              </a:lnSpc>
            </a:pPr>
            <a:r>
              <a:rPr lang="en-US" b="true" sz="6499" spc="-318">
                <a:solidFill>
                  <a:srgbClr val="FEDEE1"/>
                </a:solidFill>
                <a:latin typeface="Poppins Bold"/>
                <a:ea typeface="Poppins Bold"/>
                <a:cs typeface="Poppins Bold"/>
                <a:sym typeface="Poppins Bold"/>
              </a:rPr>
              <a:t>METODE SCALING</a:t>
            </a:r>
          </a:p>
        </p:txBody>
      </p:sp>
      <p:sp>
        <p:nvSpPr>
          <p:cNvPr name="TextBox 5" id="5"/>
          <p:cNvSpPr txBox="true"/>
          <p:nvPr/>
        </p:nvSpPr>
        <p:spPr>
          <a:xfrm rot="0">
            <a:off x="457523" y="3243262"/>
            <a:ext cx="10409317" cy="1028700"/>
          </a:xfrm>
          <a:prstGeom prst="rect">
            <a:avLst/>
          </a:prstGeom>
        </p:spPr>
        <p:txBody>
          <a:bodyPr anchor="t" rtlCol="false" tIns="0" lIns="0" bIns="0" rIns="0">
            <a:spAutoFit/>
          </a:bodyPr>
          <a:lstStyle/>
          <a:p>
            <a:pPr algn="just" marL="367027" indent="-183514" lvl="1">
              <a:lnSpc>
                <a:spcPts val="2039"/>
              </a:lnSpc>
              <a:buFont typeface="Arial"/>
              <a:buChar char="•"/>
            </a:pPr>
            <a:r>
              <a:rPr lang="en-US" sz="1699" spc="-16">
                <a:solidFill>
                  <a:srgbClr val="FFFFFF"/>
                </a:solidFill>
                <a:latin typeface="Arial Unicode"/>
                <a:ea typeface="Arial Unicode"/>
                <a:cs typeface="Arial Unicode"/>
                <a:sym typeface="Arial Unicode"/>
              </a:rPr>
              <a:t>MinMax: frp terkompresi ke dekat 0 (median 0,004) karena satu kebakaran ekstrem (1.114)</a:t>
            </a:r>
          </a:p>
          <a:p>
            <a:pPr algn="just" marL="367027" indent="-183514" lvl="1">
              <a:lnSpc>
                <a:spcPts val="2039"/>
              </a:lnSpc>
              <a:buFont typeface="Arial"/>
              <a:buChar char="•"/>
            </a:pPr>
            <a:r>
              <a:rPr lang="en-US" sz="1699" spc="-16">
                <a:solidFill>
                  <a:srgbClr val="FFFFFF"/>
                </a:solidFill>
                <a:latin typeface="Arial Unicode"/>
                <a:ea typeface="Arial Unicode"/>
                <a:cs typeface="Arial Unicode"/>
                <a:sym typeface="Arial Unicode"/>
              </a:rPr>
              <a:t>Standard: frp maksimum 69,5, yaitu sekitar 70 standar deviasi dari rata-rata</a:t>
            </a:r>
          </a:p>
          <a:p>
            <a:pPr algn="just" marL="367027" indent="-183514" lvl="1">
              <a:lnSpc>
                <a:spcPts val="2039"/>
              </a:lnSpc>
              <a:buFont typeface="Arial"/>
              <a:buChar char="•"/>
            </a:pPr>
            <a:r>
              <a:rPr lang="en-US" sz="1699" spc="-16">
                <a:solidFill>
                  <a:srgbClr val="FFFFFF"/>
                </a:solidFill>
                <a:latin typeface="Arial Unicode"/>
                <a:ea typeface="Arial Unicode"/>
                <a:cs typeface="Arial Unicode"/>
                <a:sym typeface="Arial Unicode"/>
              </a:rPr>
              <a:t>Robust: median tepat 0, outlier tetap terlihat tanpa menekan data utama</a:t>
            </a:r>
          </a:p>
          <a:p>
            <a:pPr algn="just">
              <a:lnSpc>
                <a:spcPts val="2039"/>
              </a:lnSpc>
            </a:pPr>
          </a:p>
        </p:txBody>
      </p:sp>
      <p:sp>
        <p:nvSpPr>
          <p:cNvPr name="TextBox 6" id="6"/>
          <p:cNvSpPr txBox="true"/>
          <p:nvPr/>
        </p:nvSpPr>
        <p:spPr>
          <a:xfrm rot="0">
            <a:off x="457523" y="4729162"/>
            <a:ext cx="10409317" cy="1285875"/>
          </a:xfrm>
          <a:prstGeom prst="rect">
            <a:avLst/>
          </a:prstGeom>
        </p:spPr>
        <p:txBody>
          <a:bodyPr anchor="t" rtlCol="false" tIns="0" lIns="0" bIns="0" rIns="0">
            <a:spAutoFit/>
          </a:bodyPr>
          <a:lstStyle/>
          <a:p>
            <a:pPr algn="just" marL="367027" indent="-183514" lvl="1">
              <a:lnSpc>
                <a:spcPts val="2039"/>
              </a:lnSpc>
              <a:buFont typeface="Arial"/>
              <a:buChar char="•"/>
            </a:pPr>
            <a:r>
              <a:rPr lang="en-US" sz="1699" spc="-16">
                <a:solidFill>
                  <a:srgbClr val="FFFFFF"/>
                </a:solidFill>
                <a:latin typeface="Arial Unicode"/>
                <a:ea typeface="Arial Unicode"/>
                <a:cs typeface="Arial Unicode"/>
                <a:sym typeface="Arial Unicode"/>
              </a:rPr>
              <a:t>MinMax: mean hanya 0,016 sampai 0,024, data menumpuk dekat 0</a:t>
            </a:r>
          </a:p>
          <a:p>
            <a:pPr algn="just" marL="367027" indent="-183514" lvl="1">
              <a:lnSpc>
                <a:spcPts val="2039"/>
              </a:lnSpc>
              <a:buFont typeface="Arial"/>
              <a:buChar char="•"/>
            </a:pPr>
            <a:r>
              <a:rPr lang="en-US" sz="1699" spc="-16">
                <a:solidFill>
                  <a:srgbClr val="FFFFFF"/>
                </a:solidFill>
                <a:latin typeface="Arial Unicode"/>
                <a:ea typeface="Arial Unicode"/>
                <a:cs typeface="Arial Unicode"/>
                <a:sym typeface="Arial Unicode"/>
              </a:rPr>
              <a:t>Standard: maksimum sampai 33,6 (TotalDuration)</a:t>
            </a:r>
          </a:p>
          <a:p>
            <a:pPr algn="just" marL="367027" indent="-183514" lvl="1">
              <a:lnSpc>
                <a:spcPts val="2039"/>
              </a:lnSpc>
              <a:buFont typeface="Arial"/>
              <a:buChar char="•"/>
            </a:pPr>
            <a:r>
              <a:rPr lang="en-US" sz="1699" spc="-16">
                <a:solidFill>
                  <a:srgbClr val="FFFFFF"/>
                </a:solidFill>
                <a:latin typeface="Arial Unicode"/>
                <a:ea typeface="Arial Unicode"/>
                <a:cs typeface="Arial Unicode"/>
                <a:sym typeface="Arial Unicode"/>
              </a:rPr>
              <a:t>Robust: median 0, maksimum lebih besar (49,0) karena IQR kecil, ini wajar</a:t>
            </a:r>
          </a:p>
          <a:p>
            <a:pPr algn="just" marL="367027" indent="-183514" lvl="1">
              <a:lnSpc>
                <a:spcPts val="2039"/>
              </a:lnSpc>
              <a:buFont typeface="Arial"/>
              <a:buChar char="•"/>
            </a:pPr>
            <a:r>
              <a:rPr lang="en-US" sz="1699" spc="-16">
                <a:solidFill>
                  <a:srgbClr val="FFFFFF"/>
                </a:solidFill>
                <a:latin typeface="Arial Unicode"/>
                <a:ea typeface="Arial Unicode"/>
                <a:cs typeface="Arial Unicode"/>
                <a:sym typeface="Arial Unicode"/>
              </a:rPr>
              <a:t>Pengecualian PageValues: IQR = 0, sehingga Robust tidak berfungsi (maksimum tetap 361,76)</a:t>
            </a:r>
          </a:p>
          <a:p>
            <a:pPr algn="just">
              <a:lnSpc>
                <a:spcPts val="2039"/>
              </a:lnSpc>
            </a:pPr>
          </a:p>
        </p:txBody>
      </p:sp>
      <p:sp>
        <p:nvSpPr>
          <p:cNvPr name="TextBox 7" id="7"/>
          <p:cNvSpPr txBox="true"/>
          <p:nvPr/>
        </p:nvSpPr>
        <p:spPr>
          <a:xfrm rot="0">
            <a:off x="457523" y="2862262"/>
            <a:ext cx="8529820" cy="381000"/>
          </a:xfrm>
          <a:prstGeom prst="rect">
            <a:avLst/>
          </a:prstGeom>
        </p:spPr>
        <p:txBody>
          <a:bodyPr anchor="t" rtlCol="false" tIns="0" lIns="0" bIns="0" rIns="0">
            <a:spAutoFit/>
          </a:bodyPr>
          <a:lstStyle/>
          <a:p>
            <a:pPr algn="l">
              <a:lnSpc>
                <a:spcPts val="2550"/>
              </a:lnSpc>
            </a:pPr>
            <a:r>
              <a:rPr lang="en-US" b="true" sz="3000" spc="-147">
                <a:solidFill>
                  <a:srgbClr val="FEDEE1"/>
                </a:solidFill>
                <a:latin typeface="Poppins Bold"/>
                <a:ea typeface="Poppins Bold"/>
                <a:cs typeface="Poppins Bold"/>
                <a:sym typeface="Poppins Bold"/>
              </a:rPr>
              <a:t>NASA FIRMS (FRP, BRIGHTNESS, BRIGHT_T31)</a:t>
            </a:r>
          </a:p>
        </p:txBody>
      </p:sp>
      <p:sp>
        <p:nvSpPr>
          <p:cNvPr name="TextBox 8" id="8"/>
          <p:cNvSpPr txBox="true"/>
          <p:nvPr/>
        </p:nvSpPr>
        <p:spPr>
          <a:xfrm rot="0">
            <a:off x="457523" y="4348162"/>
            <a:ext cx="10981995" cy="381000"/>
          </a:xfrm>
          <a:prstGeom prst="rect">
            <a:avLst/>
          </a:prstGeom>
        </p:spPr>
        <p:txBody>
          <a:bodyPr anchor="t" rtlCol="false" tIns="0" lIns="0" bIns="0" rIns="0">
            <a:spAutoFit/>
          </a:bodyPr>
          <a:lstStyle/>
          <a:p>
            <a:pPr algn="l">
              <a:lnSpc>
                <a:spcPts val="2550"/>
              </a:lnSpc>
            </a:pPr>
            <a:r>
              <a:rPr lang="en-US" b="true" sz="3000" spc="-147">
                <a:solidFill>
                  <a:srgbClr val="FEDEE1"/>
                </a:solidFill>
                <a:latin typeface="Poppins Bold"/>
                <a:ea typeface="Poppins Bold"/>
                <a:cs typeface="Poppins Bold"/>
                <a:sym typeface="Poppins Bold"/>
              </a:rPr>
              <a:t>ONLINE SHOPPERS (DURASI, PAGEVALUES, TOTALDURATION)</a:t>
            </a:r>
          </a:p>
        </p:txBody>
      </p:sp>
      <p:sp>
        <p:nvSpPr>
          <p:cNvPr name="TextBox 9" id="9"/>
          <p:cNvSpPr txBox="true"/>
          <p:nvPr/>
        </p:nvSpPr>
        <p:spPr>
          <a:xfrm rot="0">
            <a:off x="432831" y="6453187"/>
            <a:ext cx="10409317" cy="1285875"/>
          </a:xfrm>
          <a:prstGeom prst="rect">
            <a:avLst/>
          </a:prstGeom>
        </p:spPr>
        <p:txBody>
          <a:bodyPr anchor="t" rtlCol="false" tIns="0" lIns="0" bIns="0" rIns="0">
            <a:spAutoFit/>
          </a:bodyPr>
          <a:lstStyle/>
          <a:p>
            <a:pPr algn="just" marL="367027" indent="-183514" lvl="1">
              <a:lnSpc>
                <a:spcPts val="2039"/>
              </a:lnSpc>
              <a:buFont typeface="Arial"/>
              <a:buChar char="•"/>
            </a:pPr>
            <a:r>
              <a:rPr lang="en-US" sz="1699" spc="-16">
                <a:solidFill>
                  <a:srgbClr val="FFFFFF"/>
                </a:solidFill>
                <a:latin typeface="Arial Unicode"/>
                <a:ea typeface="Arial Unicode"/>
                <a:cs typeface="Arial Unicode"/>
                <a:sym typeface="Arial Unicode"/>
              </a:rPr>
              <a:t>MinMax dan Standard paling terpengaruh outlier</a:t>
            </a:r>
          </a:p>
          <a:p>
            <a:pPr algn="just" marL="367027" indent="-183514" lvl="1">
              <a:lnSpc>
                <a:spcPts val="2039"/>
              </a:lnSpc>
              <a:buFont typeface="Arial"/>
              <a:buChar char="•"/>
            </a:pPr>
            <a:r>
              <a:rPr lang="en-US" sz="1699" spc="-16">
                <a:solidFill>
                  <a:srgbClr val="FFFFFF"/>
                </a:solidFill>
                <a:latin typeface="Arial Unicode"/>
                <a:ea typeface="Arial Unicode"/>
                <a:cs typeface="Arial Unicode"/>
                <a:sym typeface="Arial Unicode"/>
              </a:rPr>
              <a:t>Robust paling sesuai untuk frp dan fitur durasi</a:t>
            </a:r>
          </a:p>
          <a:p>
            <a:pPr algn="just" marL="367027" indent="-183514" lvl="1">
              <a:lnSpc>
                <a:spcPts val="2039"/>
              </a:lnSpc>
              <a:buFont typeface="Arial"/>
              <a:buChar char="•"/>
            </a:pPr>
            <a:r>
              <a:rPr lang="en-US" sz="1699" spc="-16">
                <a:solidFill>
                  <a:srgbClr val="FFFFFF"/>
                </a:solidFill>
                <a:latin typeface="Arial Unicode"/>
                <a:ea typeface="Arial Unicode"/>
                <a:cs typeface="Arial Unicode"/>
                <a:sym typeface="Arial Unicode"/>
              </a:rPr>
              <a:t>PageValues lebih tepat ditangani dengan log1p</a:t>
            </a:r>
          </a:p>
          <a:p>
            <a:pPr algn="just" marL="367027" indent="-183514" lvl="1">
              <a:lnSpc>
                <a:spcPts val="2039"/>
              </a:lnSpc>
              <a:buFont typeface="Arial"/>
              <a:buChar char="•"/>
            </a:pPr>
            <a:r>
              <a:rPr lang="en-US" sz="1699" spc="-16">
                <a:solidFill>
                  <a:srgbClr val="FFFFFF"/>
                </a:solidFill>
                <a:latin typeface="Arial Unicode"/>
                <a:ea typeface="Arial Unicode"/>
                <a:cs typeface="Arial Unicode"/>
                <a:sym typeface="Arial Unicode"/>
              </a:rPr>
              <a:t>Robust s</a:t>
            </a:r>
            <a:r>
              <a:rPr lang="en-US" sz="1699" spc="-16">
                <a:solidFill>
                  <a:srgbClr val="FFFFFF"/>
                </a:solidFill>
                <a:latin typeface="Arial Unicode"/>
                <a:ea typeface="Arial Unicode"/>
                <a:cs typeface="Arial Unicode"/>
                <a:sym typeface="Arial Unicode"/>
              </a:rPr>
              <a:t>caling diterapkan dan disimpan pada kolom terpilih di file akhir</a:t>
            </a:r>
          </a:p>
          <a:p>
            <a:pPr algn="just">
              <a:lnSpc>
                <a:spcPts val="2039"/>
              </a:lnSpc>
            </a:pPr>
          </a:p>
        </p:txBody>
      </p:sp>
      <p:sp>
        <p:nvSpPr>
          <p:cNvPr name="TextBox 10" id="10"/>
          <p:cNvSpPr txBox="true"/>
          <p:nvPr/>
        </p:nvSpPr>
        <p:spPr>
          <a:xfrm rot="0">
            <a:off x="432831" y="6072187"/>
            <a:ext cx="10981995" cy="381000"/>
          </a:xfrm>
          <a:prstGeom prst="rect">
            <a:avLst/>
          </a:prstGeom>
        </p:spPr>
        <p:txBody>
          <a:bodyPr anchor="t" rtlCol="false" tIns="0" lIns="0" bIns="0" rIns="0">
            <a:spAutoFit/>
          </a:bodyPr>
          <a:lstStyle/>
          <a:p>
            <a:pPr algn="l">
              <a:lnSpc>
                <a:spcPts val="2550"/>
              </a:lnSpc>
            </a:pPr>
            <a:r>
              <a:rPr lang="en-US" b="true" sz="3000" spc="-147">
                <a:solidFill>
                  <a:srgbClr val="FEDEE1"/>
                </a:solidFill>
                <a:latin typeface="Poppins Bold"/>
                <a:ea typeface="Poppins Bold"/>
                <a:cs typeface="Poppins Bold"/>
                <a:sym typeface="Poppins Bold"/>
              </a:rPr>
              <a:t>KESIMPULAN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70020F"/>
        </a:solidFill>
      </p:bgPr>
    </p:bg>
    <p:spTree>
      <p:nvGrpSpPr>
        <p:cNvPr id="1" name=""/>
        <p:cNvGrpSpPr/>
        <p:nvPr/>
      </p:nvGrpSpPr>
      <p:grpSpPr>
        <a:xfrm>
          <a:off x="0" y="0"/>
          <a:ext cx="0" cy="0"/>
          <a:chOff x="0" y="0"/>
          <a:chExt cx="0" cy="0"/>
        </a:xfrm>
      </p:grpSpPr>
      <p:sp>
        <p:nvSpPr>
          <p:cNvPr name="Freeform 2" id="2"/>
          <p:cNvSpPr/>
          <p:nvPr/>
        </p:nvSpPr>
        <p:spPr>
          <a:xfrm flipH="false" flipV="false" rot="0">
            <a:off x="11405709" y="536575"/>
            <a:ext cx="6383412" cy="9290231"/>
          </a:xfrm>
          <a:custGeom>
            <a:avLst/>
            <a:gdLst/>
            <a:ahLst/>
            <a:cxnLst/>
            <a:rect r="r" b="b" t="t" l="l"/>
            <a:pathLst>
              <a:path h="9290231" w="6383412">
                <a:moveTo>
                  <a:pt x="0" y="0"/>
                </a:moveTo>
                <a:lnTo>
                  <a:pt x="6383412" y="0"/>
                </a:lnTo>
                <a:lnTo>
                  <a:pt x="6383412" y="9290231"/>
                </a:lnTo>
                <a:lnTo>
                  <a:pt x="0" y="9290231"/>
                </a:lnTo>
                <a:lnTo>
                  <a:pt x="0" y="0"/>
                </a:lnTo>
                <a:close/>
              </a:path>
            </a:pathLst>
          </a:custGeom>
          <a:blipFill>
            <a:blip r:embed="rId2"/>
            <a:stretch>
              <a:fillRect l="0" t="0" r="0" b="0"/>
            </a:stretch>
          </a:blipFill>
        </p:spPr>
      </p:sp>
      <p:sp>
        <p:nvSpPr>
          <p:cNvPr name="TextBox 3" id="3"/>
          <p:cNvSpPr txBox="true"/>
          <p:nvPr/>
        </p:nvSpPr>
        <p:spPr>
          <a:xfrm rot="0">
            <a:off x="457523" y="1530350"/>
            <a:ext cx="10409317" cy="285750"/>
          </a:xfrm>
          <a:prstGeom prst="rect">
            <a:avLst/>
          </a:prstGeom>
        </p:spPr>
        <p:txBody>
          <a:bodyPr anchor="t" rtlCol="false" tIns="0" lIns="0" bIns="0" rIns="0">
            <a:spAutoFit/>
          </a:bodyPr>
          <a:lstStyle/>
          <a:p>
            <a:pPr algn="just">
              <a:lnSpc>
                <a:spcPts val="2399"/>
              </a:lnSpc>
            </a:pPr>
            <a:r>
              <a:rPr lang="en-US" sz="1999" spc="-19">
                <a:solidFill>
                  <a:srgbClr val="FFFFFF"/>
                </a:solidFill>
                <a:latin typeface="Arial Unicode"/>
                <a:ea typeface="Arial Unicode"/>
                <a:cs typeface="Arial Unicode"/>
                <a:sym typeface="Arial Unicode"/>
              </a:rPr>
              <a:t>Encod</a:t>
            </a:r>
            <a:r>
              <a:rPr lang="en-US" sz="1999" spc="-19">
                <a:solidFill>
                  <a:srgbClr val="FFFFFF"/>
                </a:solidFill>
                <a:latin typeface="Arial Unicode"/>
                <a:ea typeface="Arial Unicode"/>
                <a:cs typeface="Arial Unicode"/>
                <a:sym typeface="Arial Unicode"/>
              </a:rPr>
              <a:t>ing mengubah data kategorikal menjadi angka agar bisa dipakai dalam pemodelan.</a:t>
            </a:r>
          </a:p>
        </p:txBody>
      </p:sp>
      <p:sp>
        <p:nvSpPr>
          <p:cNvPr name="TextBox 4" id="4"/>
          <p:cNvSpPr txBox="true"/>
          <p:nvPr/>
        </p:nvSpPr>
        <p:spPr>
          <a:xfrm rot="0">
            <a:off x="432831" y="688975"/>
            <a:ext cx="16907479" cy="831849"/>
          </a:xfrm>
          <a:prstGeom prst="rect">
            <a:avLst/>
          </a:prstGeom>
        </p:spPr>
        <p:txBody>
          <a:bodyPr anchor="t" rtlCol="false" tIns="0" lIns="0" bIns="0" rIns="0">
            <a:spAutoFit/>
          </a:bodyPr>
          <a:lstStyle/>
          <a:p>
            <a:pPr algn="l">
              <a:lnSpc>
                <a:spcPts val="5524"/>
              </a:lnSpc>
            </a:pPr>
            <a:r>
              <a:rPr lang="en-US" b="true" sz="6499" spc="-318">
                <a:solidFill>
                  <a:srgbClr val="FEDEE1"/>
                </a:solidFill>
                <a:latin typeface="Poppins Bold"/>
                <a:ea typeface="Poppins Bold"/>
                <a:cs typeface="Poppins Bold"/>
                <a:sym typeface="Poppins Bold"/>
              </a:rPr>
              <a:t>ENCODING</a:t>
            </a:r>
          </a:p>
        </p:txBody>
      </p:sp>
      <p:sp>
        <p:nvSpPr>
          <p:cNvPr name="TextBox 5" id="5"/>
          <p:cNvSpPr txBox="true"/>
          <p:nvPr/>
        </p:nvSpPr>
        <p:spPr>
          <a:xfrm rot="0">
            <a:off x="457523" y="2637972"/>
            <a:ext cx="10409317" cy="876300"/>
          </a:xfrm>
          <a:prstGeom prst="rect">
            <a:avLst/>
          </a:prstGeom>
        </p:spPr>
        <p:txBody>
          <a:bodyPr anchor="t" rtlCol="false" tIns="0" lIns="0" bIns="0" rIns="0">
            <a:spAutoFit/>
          </a:bodyPr>
          <a:lstStyle/>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confidence: Ordinal Encoding (l = 0, n = 1, h = 2), karena kategorinya berurutan</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daynight: One-Hot Encoding (D, N)</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Hari dalam minggu: One-Hot Encoding (7 kolom)</a:t>
            </a:r>
          </a:p>
        </p:txBody>
      </p:sp>
      <p:sp>
        <p:nvSpPr>
          <p:cNvPr name="TextBox 6" id="6"/>
          <p:cNvSpPr txBox="true"/>
          <p:nvPr/>
        </p:nvSpPr>
        <p:spPr>
          <a:xfrm rot="0">
            <a:off x="457523" y="2247447"/>
            <a:ext cx="7835882" cy="381000"/>
          </a:xfrm>
          <a:prstGeom prst="rect">
            <a:avLst/>
          </a:prstGeom>
        </p:spPr>
        <p:txBody>
          <a:bodyPr anchor="t" rtlCol="false" tIns="0" lIns="0" bIns="0" rIns="0">
            <a:spAutoFit/>
          </a:bodyPr>
          <a:lstStyle/>
          <a:p>
            <a:pPr algn="l">
              <a:lnSpc>
                <a:spcPts val="2550"/>
              </a:lnSpc>
            </a:pPr>
            <a:r>
              <a:rPr lang="en-US" b="true" sz="3000" spc="-147">
                <a:solidFill>
                  <a:srgbClr val="FEDEE1"/>
                </a:solidFill>
                <a:latin typeface="Poppins Bold"/>
                <a:ea typeface="Poppins Bold"/>
                <a:cs typeface="Poppins Bold"/>
                <a:sym typeface="Poppins Bold"/>
              </a:rPr>
              <a:t>NASA FIRMS</a:t>
            </a:r>
          </a:p>
        </p:txBody>
      </p:sp>
      <p:sp>
        <p:nvSpPr>
          <p:cNvPr name="TextBox 7" id="7"/>
          <p:cNvSpPr txBox="true"/>
          <p:nvPr/>
        </p:nvSpPr>
        <p:spPr>
          <a:xfrm rot="0">
            <a:off x="432831" y="3750475"/>
            <a:ext cx="10409317" cy="381000"/>
          </a:xfrm>
          <a:prstGeom prst="rect">
            <a:avLst/>
          </a:prstGeom>
        </p:spPr>
        <p:txBody>
          <a:bodyPr anchor="t" rtlCol="false" tIns="0" lIns="0" bIns="0" rIns="0">
            <a:spAutoFit/>
          </a:bodyPr>
          <a:lstStyle/>
          <a:p>
            <a:pPr algn="l">
              <a:lnSpc>
                <a:spcPts val="2550"/>
              </a:lnSpc>
            </a:pPr>
            <a:r>
              <a:rPr lang="en-US" b="true" sz="3000" spc="-147">
                <a:solidFill>
                  <a:srgbClr val="FEDEE1"/>
                </a:solidFill>
                <a:latin typeface="Poppins Bold"/>
                <a:ea typeface="Poppins Bold"/>
                <a:cs typeface="Poppins Bold"/>
                <a:sym typeface="Poppins Bold"/>
              </a:rPr>
              <a:t>ONLINE SHOPPERS</a:t>
            </a:r>
          </a:p>
        </p:txBody>
      </p:sp>
      <p:sp>
        <p:nvSpPr>
          <p:cNvPr name="TextBox 8" id="8"/>
          <p:cNvSpPr txBox="true"/>
          <p:nvPr/>
        </p:nvSpPr>
        <p:spPr>
          <a:xfrm rot="0">
            <a:off x="432831" y="4141000"/>
            <a:ext cx="10409317" cy="876300"/>
          </a:xfrm>
          <a:prstGeom prst="rect">
            <a:avLst/>
          </a:prstGeom>
        </p:spPr>
        <p:txBody>
          <a:bodyPr anchor="t" rtlCol="false" tIns="0" lIns="0" bIns="0" rIns="0">
            <a:spAutoFit/>
          </a:bodyPr>
          <a:lstStyle/>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Month: One-Hot Encoding (10 kolom, data hanya mencakup 10 bulan)</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Vi</a:t>
            </a:r>
            <a:r>
              <a:rPr lang="en-US" sz="1999" spc="-19">
                <a:solidFill>
                  <a:srgbClr val="FFFFFF"/>
                </a:solidFill>
                <a:latin typeface="Arial Unicode"/>
                <a:ea typeface="Arial Unicode"/>
                <a:cs typeface="Arial Unicode"/>
                <a:sym typeface="Arial Unicode"/>
              </a:rPr>
              <a:t>sitorType: One-Hot Encoding (New, Returning, Other)</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Weekend, Revenue: sudah berbentuk True/False sehingga tidak perlu di-encod</a:t>
            </a:r>
          </a:p>
        </p:txBody>
      </p:sp>
      <p:sp>
        <p:nvSpPr>
          <p:cNvPr name="TextBox 9" id="9"/>
          <p:cNvSpPr txBox="true"/>
          <p:nvPr/>
        </p:nvSpPr>
        <p:spPr>
          <a:xfrm rot="0">
            <a:off x="432831" y="5255425"/>
            <a:ext cx="10409317" cy="381000"/>
          </a:xfrm>
          <a:prstGeom prst="rect">
            <a:avLst/>
          </a:prstGeom>
        </p:spPr>
        <p:txBody>
          <a:bodyPr anchor="t" rtlCol="false" tIns="0" lIns="0" bIns="0" rIns="0">
            <a:spAutoFit/>
          </a:bodyPr>
          <a:lstStyle/>
          <a:p>
            <a:pPr algn="l">
              <a:lnSpc>
                <a:spcPts val="2550"/>
              </a:lnSpc>
            </a:pPr>
            <a:r>
              <a:rPr lang="en-US" b="true" sz="3000" spc="-147">
                <a:solidFill>
                  <a:srgbClr val="FEDEE1"/>
                </a:solidFill>
                <a:latin typeface="Poppins Bold"/>
                <a:ea typeface="Poppins Bold"/>
                <a:cs typeface="Poppins Bold"/>
                <a:sym typeface="Poppins Bold"/>
              </a:rPr>
              <a:t>KESIMPULAN</a:t>
            </a:r>
          </a:p>
        </p:txBody>
      </p:sp>
      <p:sp>
        <p:nvSpPr>
          <p:cNvPr name="TextBox 10" id="10"/>
          <p:cNvSpPr txBox="true"/>
          <p:nvPr/>
        </p:nvSpPr>
        <p:spPr>
          <a:xfrm rot="0">
            <a:off x="432831" y="5645950"/>
            <a:ext cx="10409317" cy="3238500"/>
          </a:xfrm>
          <a:prstGeom prst="rect">
            <a:avLst/>
          </a:prstGeom>
        </p:spPr>
        <p:txBody>
          <a:bodyPr anchor="t" rtlCol="false" tIns="0" lIns="0" bIns="0" rIns="0">
            <a:spAutoFit/>
          </a:bodyPr>
          <a:lstStyle/>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Kolom yang tidak informatif (dapat dihapus): </a:t>
            </a:r>
            <a:r>
              <a:rPr lang="en-US" sz="1999" spc="-19">
                <a:solidFill>
                  <a:srgbClr val="FFFFFF"/>
                </a:solidFill>
                <a:latin typeface="Arial Unicode"/>
                <a:ea typeface="Arial Unicode"/>
                <a:cs typeface="Arial Unicode"/>
                <a:sym typeface="Arial Unicode"/>
              </a:rPr>
              <a:t>s</a:t>
            </a:r>
            <a:r>
              <a:rPr lang="en-US" sz="1999" spc="-19">
                <a:solidFill>
                  <a:srgbClr val="FFFFFF"/>
                </a:solidFill>
                <a:latin typeface="Arial Unicode"/>
                <a:ea typeface="Arial Unicode"/>
                <a:cs typeface="Arial Unicode"/>
                <a:sym typeface="Arial Unicode"/>
              </a:rPr>
              <a:t>atellite dan instrument hanya berisi satu nilai (“SNPP” di seluruh 1.408.321 baris), version selalu bernilai 2</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Kolom yang belum di-encode: type (NASA FIRMS) bertipe angka tetapi sebenarnya kategori. OperatingSystems, Browser, Region, dan TrafficType (Online Shoppers) adalah kode kategori yang tersimpan sebagai angka. Weekend dan Revenue sudah True/False, sehingga tidak perlu diubah. Revenue berperan sebagai target prediksi.</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confidence sangat tidak seimbang: sekitar 92,6% bernilai “n” (nominal), sedangkan “l” dan “h” jauh lebih sedikit</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Kolom One-Hot bersifat redundan, sehingga drop_first=True disarankan untuk model linear</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Hasil encoding disimpan pada file akhir</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70020F"/>
        </a:solidFill>
      </p:bgPr>
    </p:bg>
    <p:spTree>
      <p:nvGrpSpPr>
        <p:cNvPr id="1" name=""/>
        <p:cNvGrpSpPr/>
        <p:nvPr/>
      </p:nvGrpSpPr>
      <p:grpSpPr>
        <a:xfrm>
          <a:off x="0" y="0"/>
          <a:ext cx="0" cy="0"/>
          <a:chOff x="0" y="0"/>
          <a:chExt cx="0" cy="0"/>
        </a:xfrm>
      </p:grpSpPr>
      <p:sp>
        <p:nvSpPr>
          <p:cNvPr name="Freeform 2" id="2"/>
          <p:cNvSpPr/>
          <p:nvPr/>
        </p:nvSpPr>
        <p:spPr>
          <a:xfrm flipH="false" flipV="false" rot="0">
            <a:off x="13179924" y="558824"/>
            <a:ext cx="4518023" cy="4871250"/>
          </a:xfrm>
          <a:custGeom>
            <a:avLst/>
            <a:gdLst/>
            <a:ahLst/>
            <a:cxnLst/>
            <a:rect r="r" b="b" t="t" l="l"/>
            <a:pathLst>
              <a:path h="4871250" w="4518023">
                <a:moveTo>
                  <a:pt x="0" y="0"/>
                </a:moveTo>
                <a:lnTo>
                  <a:pt x="4518023" y="0"/>
                </a:lnTo>
                <a:lnTo>
                  <a:pt x="4518023" y="4871250"/>
                </a:lnTo>
                <a:lnTo>
                  <a:pt x="0" y="4871250"/>
                </a:lnTo>
                <a:lnTo>
                  <a:pt x="0" y="0"/>
                </a:lnTo>
                <a:close/>
              </a:path>
            </a:pathLst>
          </a:custGeom>
          <a:blipFill>
            <a:blip r:embed="rId2"/>
            <a:stretch>
              <a:fillRect l="0" t="0" r="0" b="0"/>
            </a:stretch>
          </a:blipFill>
        </p:spPr>
      </p:sp>
      <p:sp>
        <p:nvSpPr>
          <p:cNvPr name="Freeform 3" id="3"/>
          <p:cNvSpPr/>
          <p:nvPr/>
        </p:nvSpPr>
        <p:spPr>
          <a:xfrm flipH="false" flipV="false" rot="0">
            <a:off x="13179924" y="5658674"/>
            <a:ext cx="4518023" cy="4069502"/>
          </a:xfrm>
          <a:custGeom>
            <a:avLst/>
            <a:gdLst/>
            <a:ahLst/>
            <a:cxnLst/>
            <a:rect r="r" b="b" t="t" l="l"/>
            <a:pathLst>
              <a:path h="4069502" w="4518023">
                <a:moveTo>
                  <a:pt x="0" y="0"/>
                </a:moveTo>
                <a:lnTo>
                  <a:pt x="4518023" y="0"/>
                </a:lnTo>
                <a:lnTo>
                  <a:pt x="4518023" y="4069502"/>
                </a:lnTo>
                <a:lnTo>
                  <a:pt x="0" y="4069502"/>
                </a:lnTo>
                <a:lnTo>
                  <a:pt x="0" y="0"/>
                </a:lnTo>
                <a:close/>
              </a:path>
            </a:pathLst>
          </a:custGeom>
          <a:blipFill>
            <a:blip r:embed="rId3"/>
            <a:stretch>
              <a:fillRect l="0" t="0" r="0" b="0"/>
            </a:stretch>
          </a:blipFill>
        </p:spPr>
      </p:sp>
      <p:sp>
        <p:nvSpPr>
          <p:cNvPr name="TextBox 4" id="4"/>
          <p:cNvSpPr txBox="true"/>
          <p:nvPr/>
        </p:nvSpPr>
        <p:spPr>
          <a:xfrm rot="0">
            <a:off x="457523" y="1428297"/>
            <a:ext cx="10409317" cy="581025"/>
          </a:xfrm>
          <a:prstGeom prst="rect">
            <a:avLst/>
          </a:prstGeom>
        </p:spPr>
        <p:txBody>
          <a:bodyPr anchor="t" rtlCol="false" tIns="0" lIns="0" bIns="0" rIns="0">
            <a:spAutoFit/>
          </a:bodyPr>
          <a:lstStyle/>
          <a:p>
            <a:pPr algn="just">
              <a:lnSpc>
                <a:spcPts val="2399"/>
              </a:lnSpc>
            </a:pPr>
            <a:r>
              <a:rPr lang="en-US" sz="1999" spc="-19">
                <a:solidFill>
                  <a:srgbClr val="FFFFFF"/>
                </a:solidFill>
                <a:latin typeface="Arial Unicode"/>
                <a:ea typeface="Arial Unicode"/>
                <a:cs typeface="Arial Unicode"/>
                <a:sym typeface="Arial Unicode"/>
              </a:rPr>
              <a:t>F</a:t>
            </a:r>
            <a:r>
              <a:rPr lang="en-US" sz="1999" spc="-19">
                <a:solidFill>
                  <a:srgbClr val="FFFFFF"/>
                </a:solidFill>
                <a:latin typeface="Arial Unicode"/>
                <a:ea typeface="Arial Unicode"/>
                <a:cs typeface="Arial Unicode"/>
                <a:sym typeface="Arial Unicode"/>
              </a:rPr>
              <a:t>itur baru dibuat dari informasi yang sudah ada di dataset.</a:t>
            </a:r>
          </a:p>
          <a:p>
            <a:pPr algn="just">
              <a:lnSpc>
                <a:spcPts val="2399"/>
              </a:lnSpc>
            </a:pPr>
          </a:p>
        </p:txBody>
      </p:sp>
      <p:sp>
        <p:nvSpPr>
          <p:cNvPr name="TextBox 5" id="5"/>
          <p:cNvSpPr txBox="true"/>
          <p:nvPr/>
        </p:nvSpPr>
        <p:spPr>
          <a:xfrm rot="0">
            <a:off x="432831" y="688975"/>
            <a:ext cx="16907479" cy="831849"/>
          </a:xfrm>
          <a:prstGeom prst="rect">
            <a:avLst/>
          </a:prstGeom>
        </p:spPr>
        <p:txBody>
          <a:bodyPr anchor="t" rtlCol="false" tIns="0" lIns="0" bIns="0" rIns="0">
            <a:spAutoFit/>
          </a:bodyPr>
          <a:lstStyle/>
          <a:p>
            <a:pPr algn="l">
              <a:lnSpc>
                <a:spcPts val="5524"/>
              </a:lnSpc>
            </a:pPr>
            <a:r>
              <a:rPr lang="en-US" b="true" sz="6499" spc="-318">
                <a:solidFill>
                  <a:srgbClr val="FEDEE1"/>
                </a:solidFill>
                <a:latin typeface="Poppins Bold"/>
                <a:ea typeface="Poppins Bold"/>
                <a:cs typeface="Poppins Bold"/>
                <a:sym typeface="Poppins Bold"/>
              </a:rPr>
              <a:t>FEATURE ENGINEERING</a:t>
            </a:r>
          </a:p>
        </p:txBody>
      </p:sp>
      <p:sp>
        <p:nvSpPr>
          <p:cNvPr name="TextBox 6" id="6"/>
          <p:cNvSpPr txBox="true"/>
          <p:nvPr/>
        </p:nvSpPr>
        <p:spPr>
          <a:xfrm rot="0">
            <a:off x="457523" y="2637972"/>
            <a:ext cx="10409317" cy="876300"/>
          </a:xfrm>
          <a:prstGeom prst="rect">
            <a:avLst/>
          </a:prstGeom>
        </p:spPr>
        <p:txBody>
          <a:bodyPr anchor="t" rtlCol="false" tIns="0" lIns="0" bIns="0" rIns="0">
            <a:spAutoFit/>
          </a:bodyPr>
          <a:lstStyle/>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acq_month: bulan pengamatan yang diambil dari acq_date</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acq_day_of_week: hari dalam minggu dari acq_date</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Contoh: tanggal 2012-01-20 menjadi bulan 1 dan hari Friday</a:t>
            </a:r>
          </a:p>
        </p:txBody>
      </p:sp>
      <p:sp>
        <p:nvSpPr>
          <p:cNvPr name="TextBox 7" id="7"/>
          <p:cNvSpPr txBox="true"/>
          <p:nvPr/>
        </p:nvSpPr>
        <p:spPr>
          <a:xfrm rot="0">
            <a:off x="457523" y="2247447"/>
            <a:ext cx="7835882" cy="381000"/>
          </a:xfrm>
          <a:prstGeom prst="rect">
            <a:avLst/>
          </a:prstGeom>
        </p:spPr>
        <p:txBody>
          <a:bodyPr anchor="t" rtlCol="false" tIns="0" lIns="0" bIns="0" rIns="0">
            <a:spAutoFit/>
          </a:bodyPr>
          <a:lstStyle/>
          <a:p>
            <a:pPr algn="l">
              <a:lnSpc>
                <a:spcPts val="2550"/>
              </a:lnSpc>
            </a:pPr>
            <a:r>
              <a:rPr lang="en-US" b="true" sz="3000" spc="-147">
                <a:solidFill>
                  <a:srgbClr val="FEDEE1"/>
                </a:solidFill>
                <a:latin typeface="Poppins Bold"/>
                <a:ea typeface="Poppins Bold"/>
                <a:cs typeface="Poppins Bold"/>
                <a:sym typeface="Poppins Bold"/>
              </a:rPr>
              <a:t>NASA FIRMS</a:t>
            </a:r>
          </a:p>
        </p:txBody>
      </p:sp>
      <p:sp>
        <p:nvSpPr>
          <p:cNvPr name="TextBox 8" id="8"/>
          <p:cNvSpPr txBox="true"/>
          <p:nvPr/>
        </p:nvSpPr>
        <p:spPr>
          <a:xfrm rot="0">
            <a:off x="432831" y="3750475"/>
            <a:ext cx="10409317" cy="381000"/>
          </a:xfrm>
          <a:prstGeom prst="rect">
            <a:avLst/>
          </a:prstGeom>
        </p:spPr>
        <p:txBody>
          <a:bodyPr anchor="t" rtlCol="false" tIns="0" lIns="0" bIns="0" rIns="0">
            <a:spAutoFit/>
          </a:bodyPr>
          <a:lstStyle/>
          <a:p>
            <a:pPr algn="l">
              <a:lnSpc>
                <a:spcPts val="2550"/>
              </a:lnSpc>
            </a:pPr>
            <a:r>
              <a:rPr lang="en-US" b="true" sz="3000" spc="-147">
                <a:solidFill>
                  <a:srgbClr val="FEDEE1"/>
                </a:solidFill>
                <a:latin typeface="Poppins Bold"/>
                <a:ea typeface="Poppins Bold"/>
                <a:cs typeface="Poppins Bold"/>
                <a:sym typeface="Poppins Bold"/>
              </a:rPr>
              <a:t>ONLINE SHOPPERS</a:t>
            </a:r>
          </a:p>
        </p:txBody>
      </p:sp>
      <p:sp>
        <p:nvSpPr>
          <p:cNvPr name="TextBox 9" id="9"/>
          <p:cNvSpPr txBox="true"/>
          <p:nvPr/>
        </p:nvSpPr>
        <p:spPr>
          <a:xfrm rot="0">
            <a:off x="432831" y="4141000"/>
            <a:ext cx="10409317" cy="2352675"/>
          </a:xfrm>
          <a:prstGeom prst="rect">
            <a:avLst/>
          </a:prstGeom>
        </p:spPr>
        <p:txBody>
          <a:bodyPr anchor="t" rtlCol="false" tIns="0" lIns="0" bIns="0" rIns="0">
            <a:spAutoFit/>
          </a:bodyPr>
          <a:lstStyle/>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Duplikat dihapus lebih dulu, tersisa 12.205 baris</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TotalPages: jumlah Administrative, Informational, dan ProductRelated</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TotalDuration: jumlah ketiga kolom durasi</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PageGroup: Low (0 sampai 5 halaman), Med</a:t>
            </a:r>
            <a:r>
              <a:rPr lang="en-US" sz="1999" spc="-19">
                <a:solidFill>
                  <a:srgbClr val="FFFFFF"/>
                </a:solidFill>
                <a:latin typeface="Arial Unicode"/>
                <a:ea typeface="Arial Unicode"/>
                <a:cs typeface="Arial Unicode"/>
                <a:sym typeface="Arial Unicode"/>
              </a:rPr>
              <a:t>ium (6 </a:t>
            </a:r>
            <a:r>
              <a:rPr lang="en-US" sz="1999" spc="-19">
                <a:solidFill>
                  <a:srgbClr val="FFFFFF"/>
                </a:solidFill>
                <a:latin typeface="Arial Unicode"/>
                <a:ea typeface="Arial Unicode"/>
                <a:cs typeface="Arial Unicode"/>
                <a:sym typeface="Arial Unicode"/>
              </a:rPr>
              <a:t>sampai 20), High (di atas 20)</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High 6.079 (sekitar 50%), Medium 4.192 (sekitar 34%), Low 1.934 (sekitar 16%)</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ProductAdminInt</a:t>
            </a:r>
            <a:r>
              <a:rPr lang="en-US" sz="1999" spc="-19">
                <a:solidFill>
                  <a:srgbClr val="FFFFFF"/>
                </a:solidFill>
                <a:latin typeface="Arial Unicode"/>
                <a:ea typeface="Arial Unicode"/>
                <a:cs typeface="Arial Unicode"/>
                <a:sym typeface="Arial Unicode"/>
              </a:rPr>
              <a:t>eraction: ProductRelated × Administrative</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Median 10, rata-rata 138,56, maksimum 15.768</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Rata-rata jauh di atas median, sehingga distribusinya miring ke kanan</a:t>
            </a:r>
          </a:p>
        </p:txBody>
      </p:sp>
      <p:sp>
        <p:nvSpPr>
          <p:cNvPr name="TextBox 10" id="10"/>
          <p:cNvSpPr txBox="true"/>
          <p:nvPr/>
        </p:nvSpPr>
        <p:spPr>
          <a:xfrm rot="0">
            <a:off x="418510" y="6731800"/>
            <a:ext cx="10409317" cy="381000"/>
          </a:xfrm>
          <a:prstGeom prst="rect">
            <a:avLst/>
          </a:prstGeom>
        </p:spPr>
        <p:txBody>
          <a:bodyPr anchor="t" rtlCol="false" tIns="0" lIns="0" bIns="0" rIns="0">
            <a:spAutoFit/>
          </a:bodyPr>
          <a:lstStyle/>
          <a:p>
            <a:pPr algn="l">
              <a:lnSpc>
                <a:spcPts val="2550"/>
              </a:lnSpc>
            </a:pPr>
            <a:r>
              <a:rPr lang="en-US" b="true" sz="3000" spc="-147">
                <a:solidFill>
                  <a:srgbClr val="FEDEE1"/>
                </a:solidFill>
                <a:latin typeface="Poppins Bold"/>
                <a:ea typeface="Poppins Bold"/>
                <a:cs typeface="Poppins Bold"/>
                <a:sym typeface="Poppins Bold"/>
              </a:rPr>
              <a:t>KESIMPULAN</a:t>
            </a:r>
          </a:p>
        </p:txBody>
      </p:sp>
      <p:sp>
        <p:nvSpPr>
          <p:cNvPr name="TextBox 11" id="11"/>
          <p:cNvSpPr txBox="true"/>
          <p:nvPr/>
        </p:nvSpPr>
        <p:spPr>
          <a:xfrm rot="0">
            <a:off x="418510" y="7122325"/>
            <a:ext cx="10409317" cy="1762125"/>
          </a:xfrm>
          <a:prstGeom prst="rect">
            <a:avLst/>
          </a:prstGeom>
        </p:spPr>
        <p:txBody>
          <a:bodyPr anchor="t" rtlCol="false" tIns="0" lIns="0" bIns="0" rIns="0">
            <a:spAutoFit/>
          </a:bodyPr>
          <a:lstStyle/>
          <a:p>
            <a:pPr algn="just" marL="431796" indent="-215898" lvl="1">
              <a:lnSpc>
                <a:spcPts val="2399"/>
              </a:lnSpc>
              <a:buFont typeface="Arial"/>
              <a:buChar char="•"/>
            </a:pPr>
            <a:r>
              <a:rPr lang="en-US" b="true" sz="1999" spc="-19">
                <a:solidFill>
                  <a:srgbClr val="FFFFFF"/>
                </a:solidFill>
                <a:latin typeface="Arial Unicode Bold"/>
                <a:ea typeface="Arial Unicode Bold"/>
                <a:cs typeface="Arial Unicode Bold"/>
                <a:sym typeface="Arial Unicode Bold"/>
              </a:rPr>
              <a:t>Fitur berhasil dibuat: </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NASA FIRMS: acq_month dan acq_day_of_week memecah tanggal menjadi informasi musiman dan mingguan</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Online Shoppers: TotalPages, TotalDuration, PageGroup, dan ProductAdminInteraction merangkum aktivitas pengunjung</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Tidak ada nilai kosong pada PageGroup dan ProductAdminInteraction</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70020F"/>
        </a:solidFill>
      </p:bgPr>
    </p:bg>
    <p:spTree>
      <p:nvGrpSpPr>
        <p:cNvPr id="1" name=""/>
        <p:cNvGrpSpPr/>
        <p:nvPr/>
      </p:nvGrpSpPr>
      <p:grpSpPr>
        <a:xfrm>
          <a:off x="0" y="0"/>
          <a:ext cx="0" cy="0"/>
          <a:chOff x="0" y="0"/>
          <a:chExt cx="0" cy="0"/>
        </a:xfrm>
      </p:grpSpPr>
      <p:sp>
        <p:nvSpPr>
          <p:cNvPr name="TextBox 2" id="2"/>
          <p:cNvSpPr txBox="true"/>
          <p:nvPr/>
        </p:nvSpPr>
        <p:spPr>
          <a:xfrm rot="0">
            <a:off x="432831" y="688975"/>
            <a:ext cx="16907479" cy="831849"/>
          </a:xfrm>
          <a:prstGeom prst="rect">
            <a:avLst/>
          </a:prstGeom>
        </p:spPr>
        <p:txBody>
          <a:bodyPr anchor="t" rtlCol="false" tIns="0" lIns="0" bIns="0" rIns="0">
            <a:spAutoFit/>
          </a:bodyPr>
          <a:lstStyle/>
          <a:p>
            <a:pPr algn="l">
              <a:lnSpc>
                <a:spcPts val="5524"/>
              </a:lnSpc>
            </a:pPr>
            <a:r>
              <a:rPr lang="en-US" b="true" sz="6499" spc="-318">
                <a:solidFill>
                  <a:srgbClr val="FEDEE1"/>
                </a:solidFill>
                <a:latin typeface="Poppins Bold"/>
                <a:ea typeface="Poppins Bold"/>
                <a:cs typeface="Poppins Bold"/>
                <a:sym typeface="Poppins Bold"/>
              </a:rPr>
              <a:t>EVALUASI HASIL</a:t>
            </a:r>
          </a:p>
        </p:txBody>
      </p:sp>
      <p:sp>
        <p:nvSpPr>
          <p:cNvPr name="TextBox 3" id="3"/>
          <p:cNvSpPr txBox="true"/>
          <p:nvPr/>
        </p:nvSpPr>
        <p:spPr>
          <a:xfrm rot="0">
            <a:off x="432831" y="1628788"/>
            <a:ext cx="16796387" cy="7372350"/>
          </a:xfrm>
          <a:prstGeom prst="rect">
            <a:avLst/>
          </a:prstGeom>
        </p:spPr>
        <p:txBody>
          <a:bodyPr anchor="t" rtlCol="false" tIns="0" lIns="0" bIns="0" rIns="0">
            <a:spAutoFit/>
          </a:bodyPr>
          <a:lstStyle/>
          <a:p>
            <a:pPr algn="just">
              <a:lnSpc>
                <a:spcPts val="2399"/>
              </a:lnSpc>
            </a:pPr>
            <a:r>
              <a:rPr lang="en-US" sz="1999" spc="-19">
                <a:solidFill>
                  <a:srgbClr val="FFFFFF"/>
                </a:solidFill>
                <a:latin typeface="Arial Unicode"/>
                <a:ea typeface="Arial Unicode"/>
                <a:cs typeface="Arial Unicode"/>
                <a:sym typeface="Arial Unicode"/>
              </a:rPr>
              <a:t>Hasil dievaluasi dengan membandingkan skewness sebelum dan sesudah transformasi, serta dengan histogram.</a:t>
            </a:r>
          </a:p>
          <a:p>
            <a:pPr algn="just">
              <a:lnSpc>
                <a:spcPts val="2399"/>
              </a:lnSpc>
            </a:pPr>
          </a:p>
          <a:p>
            <a:pPr algn="just">
              <a:lnSpc>
                <a:spcPts val="2399"/>
              </a:lnSpc>
            </a:pP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frp (NASA </a:t>
            </a:r>
            <a:r>
              <a:rPr lang="en-US" sz="1999" spc="-19">
                <a:solidFill>
                  <a:srgbClr val="FFFFFF"/>
                </a:solidFill>
                <a:latin typeface="Arial Unicode"/>
                <a:ea typeface="Arial Unicode"/>
                <a:cs typeface="Arial Unicode"/>
                <a:sym typeface="Arial Unicode"/>
              </a:rPr>
              <a:t>FIRMS): skewness turun dar</a:t>
            </a:r>
            <a:r>
              <a:rPr lang="en-US" sz="1999" spc="-19">
                <a:solidFill>
                  <a:srgbClr val="FFFFFF"/>
                </a:solidFill>
                <a:latin typeface="Arial Unicode"/>
                <a:ea typeface="Arial Unicode"/>
                <a:cs typeface="Arial Unicode"/>
                <a:sym typeface="Arial Unicode"/>
              </a:rPr>
              <a:t>i 9,11 menjadi 0,725 dengan log1p</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TotalDuration (Online Shoppers): 7,528 menjadi -1,528 (log1p) dan 1,37 (sqrt). Keduanya mengurangi skewness, tetapi log1p terkoreksi berlebihan karena sekitar 600 sesi bernilai 0</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ProductRelated_Duration: 7,253 menjadi -1,427 (log1p)</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PageValues: 6,351 menjadi 1,790 (log1p)</a:t>
            </a:r>
          </a:p>
          <a:p>
            <a:pPr algn="just">
              <a:lnSpc>
                <a:spcPts val="2399"/>
              </a:lnSpc>
            </a:pPr>
          </a:p>
          <a:p>
            <a:pPr algn="just">
              <a:lnSpc>
                <a:spcPts val="2399"/>
              </a:lnSpc>
            </a:pP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Hanya mengubah rentang nilai, bukan bentuk distribusi</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RobustScaler paling sesuai untuk frp dan durasi, tetapi tidak berfungsi pada PageValues (IQR = 0)</a:t>
            </a:r>
          </a:p>
          <a:p>
            <a:pPr algn="just">
              <a:lnSpc>
                <a:spcPts val="2399"/>
              </a:lnSpc>
            </a:pPr>
          </a:p>
          <a:p>
            <a:pPr algn="just">
              <a:lnSpc>
                <a:spcPts val="2399"/>
              </a:lnSpc>
            </a:pP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confidence memakai ordinal encoding. daynight, hari, Month, dan VisitorType memakai one-hot encoding</a:t>
            </a:r>
          </a:p>
          <a:p>
            <a:pPr algn="just">
              <a:lnSpc>
                <a:spcPts val="2399"/>
              </a:lnSpc>
            </a:pPr>
          </a:p>
          <a:p>
            <a:pPr algn="just">
              <a:lnSpc>
                <a:spcPts val="2399"/>
              </a:lnSpc>
            </a:pP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Dibuat tanpa nilai kosong. ProductAdminInteraction banyak bernilai 0 dan miring ke kanan</a:t>
            </a:r>
          </a:p>
          <a:p>
            <a:pPr algn="just">
              <a:lnSpc>
                <a:spcPts val="2399"/>
              </a:lnSpc>
            </a:pPr>
          </a:p>
          <a:p>
            <a:pPr algn="just">
              <a:lnSpc>
                <a:spcPts val="2399"/>
              </a:lnSpc>
            </a:pP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Transformasi dan feature engineering membuat representasi data lebih sesuai untuk analisis</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Pilihan metode bergantung pada karakteristik fitur: log1p sangat efektif untuk frp, tetapi sqrt sedikit lebih baik untuk TotalDuration</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Tujuan transformasi bukan membuat semua distribusi normal, melainkan memperbaiki representasi data</a:t>
            </a:r>
          </a:p>
          <a:p>
            <a:pPr algn="just" marL="431796" indent="-215898" lvl="1">
              <a:lnSpc>
                <a:spcPts val="2399"/>
              </a:lnSpc>
              <a:buFont typeface="Arial"/>
              <a:buChar char="•"/>
            </a:pPr>
            <a:r>
              <a:rPr lang="en-US" sz="1999" spc="-19">
                <a:solidFill>
                  <a:srgbClr val="FFFFFF"/>
                </a:solidFill>
                <a:latin typeface="Arial Unicode"/>
                <a:ea typeface="Arial Unicode"/>
                <a:cs typeface="Arial Unicode"/>
                <a:sym typeface="Arial Unicode"/>
              </a:rPr>
              <a:t>Scaling dan encoding didemonstrasikan dan disimpan. Fitur baru dan kolom transformasi tersimpan di file akhir</a:t>
            </a:r>
          </a:p>
          <a:p>
            <a:pPr algn="just">
              <a:lnSpc>
                <a:spcPts val="2399"/>
              </a:lnSpc>
            </a:pPr>
          </a:p>
        </p:txBody>
      </p:sp>
      <p:sp>
        <p:nvSpPr>
          <p:cNvPr name="TextBox 4" id="4"/>
          <p:cNvSpPr txBox="true"/>
          <p:nvPr/>
        </p:nvSpPr>
        <p:spPr>
          <a:xfrm rot="0">
            <a:off x="432831" y="7178602"/>
            <a:ext cx="10409317" cy="381000"/>
          </a:xfrm>
          <a:prstGeom prst="rect">
            <a:avLst/>
          </a:prstGeom>
        </p:spPr>
        <p:txBody>
          <a:bodyPr anchor="t" rtlCol="false" tIns="0" lIns="0" bIns="0" rIns="0">
            <a:spAutoFit/>
          </a:bodyPr>
          <a:lstStyle/>
          <a:p>
            <a:pPr algn="l">
              <a:lnSpc>
                <a:spcPts val="2550"/>
              </a:lnSpc>
            </a:pPr>
            <a:r>
              <a:rPr lang="en-US" b="true" sz="3000" spc="-147">
                <a:solidFill>
                  <a:srgbClr val="FEDEE1"/>
                </a:solidFill>
                <a:latin typeface="Poppins Bold"/>
                <a:ea typeface="Poppins Bold"/>
                <a:cs typeface="Poppins Bold"/>
                <a:sym typeface="Poppins Bold"/>
              </a:rPr>
              <a:t>KESIMPULAN</a:t>
            </a:r>
          </a:p>
        </p:txBody>
      </p:sp>
      <p:sp>
        <p:nvSpPr>
          <p:cNvPr name="TextBox 5" id="5"/>
          <p:cNvSpPr txBox="true"/>
          <p:nvPr/>
        </p:nvSpPr>
        <p:spPr>
          <a:xfrm rot="0">
            <a:off x="432831" y="2086738"/>
            <a:ext cx="10409317" cy="381000"/>
          </a:xfrm>
          <a:prstGeom prst="rect">
            <a:avLst/>
          </a:prstGeom>
        </p:spPr>
        <p:txBody>
          <a:bodyPr anchor="t" rtlCol="false" tIns="0" lIns="0" bIns="0" rIns="0">
            <a:spAutoFit/>
          </a:bodyPr>
          <a:lstStyle/>
          <a:p>
            <a:pPr algn="l">
              <a:lnSpc>
                <a:spcPts val="2550"/>
              </a:lnSpc>
            </a:pPr>
            <a:r>
              <a:rPr lang="en-US" b="true" sz="3000" spc="-147">
                <a:solidFill>
                  <a:srgbClr val="FEDEE1"/>
                </a:solidFill>
                <a:latin typeface="Poppins Bold"/>
                <a:ea typeface="Poppins Bold"/>
                <a:cs typeface="Poppins Bold"/>
                <a:sym typeface="Poppins Bold"/>
              </a:rPr>
              <a:t>TRANSFORMASI</a:t>
            </a:r>
          </a:p>
        </p:txBody>
      </p:sp>
      <p:sp>
        <p:nvSpPr>
          <p:cNvPr name="TextBox 6" id="6"/>
          <p:cNvSpPr txBox="true"/>
          <p:nvPr/>
        </p:nvSpPr>
        <p:spPr>
          <a:xfrm rot="0">
            <a:off x="432831" y="4208778"/>
            <a:ext cx="10409317" cy="381000"/>
          </a:xfrm>
          <a:prstGeom prst="rect">
            <a:avLst/>
          </a:prstGeom>
        </p:spPr>
        <p:txBody>
          <a:bodyPr anchor="t" rtlCol="false" tIns="0" lIns="0" bIns="0" rIns="0">
            <a:spAutoFit/>
          </a:bodyPr>
          <a:lstStyle/>
          <a:p>
            <a:pPr algn="l">
              <a:lnSpc>
                <a:spcPts val="2550"/>
              </a:lnSpc>
            </a:pPr>
            <a:r>
              <a:rPr lang="en-US" b="true" sz="3000" spc="-147">
                <a:solidFill>
                  <a:srgbClr val="FEDEE1"/>
                </a:solidFill>
                <a:latin typeface="Poppins Bold"/>
                <a:ea typeface="Poppins Bold"/>
                <a:cs typeface="Poppins Bold"/>
                <a:sym typeface="Poppins Bold"/>
              </a:rPr>
              <a:t>SCALING</a:t>
            </a:r>
          </a:p>
        </p:txBody>
      </p:sp>
      <p:sp>
        <p:nvSpPr>
          <p:cNvPr name="TextBox 7" id="7"/>
          <p:cNvSpPr txBox="true"/>
          <p:nvPr/>
        </p:nvSpPr>
        <p:spPr>
          <a:xfrm rot="0">
            <a:off x="432831" y="5397696"/>
            <a:ext cx="10409317" cy="381000"/>
          </a:xfrm>
          <a:prstGeom prst="rect">
            <a:avLst/>
          </a:prstGeom>
        </p:spPr>
        <p:txBody>
          <a:bodyPr anchor="t" rtlCol="false" tIns="0" lIns="0" bIns="0" rIns="0">
            <a:spAutoFit/>
          </a:bodyPr>
          <a:lstStyle/>
          <a:p>
            <a:pPr algn="l">
              <a:lnSpc>
                <a:spcPts val="2550"/>
              </a:lnSpc>
            </a:pPr>
            <a:r>
              <a:rPr lang="en-US" b="true" sz="3000" spc="-147">
                <a:solidFill>
                  <a:srgbClr val="FEDEE1"/>
                </a:solidFill>
                <a:latin typeface="Poppins Bold"/>
                <a:ea typeface="Poppins Bold"/>
                <a:cs typeface="Poppins Bold"/>
                <a:sym typeface="Poppins Bold"/>
              </a:rPr>
              <a:t>ENCODING</a:t>
            </a:r>
          </a:p>
        </p:txBody>
      </p:sp>
      <p:sp>
        <p:nvSpPr>
          <p:cNvPr name="TextBox 8" id="8"/>
          <p:cNvSpPr txBox="true"/>
          <p:nvPr/>
        </p:nvSpPr>
        <p:spPr>
          <a:xfrm rot="0">
            <a:off x="432831" y="6340671"/>
            <a:ext cx="10409317" cy="381000"/>
          </a:xfrm>
          <a:prstGeom prst="rect">
            <a:avLst/>
          </a:prstGeom>
        </p:spPr>
        <p:txBody>
          <a:bodyPr anchor="t" rtlCol="false" tIns="0" lIns="0" bIns="0" rIns="0">
            <a:spAutoFit/>
          </a:bodyPr>
          <a:lstStyle/>
          <a:p>
            <a:pPr algn="l">
              <a:lnSpc>
                <a:spcPts val="2550"/>
              </a:lnSpc>
            </a:pPr>
            <a:r>
              <a:rPr lang="en-US" b="true" sz="3000" spc="-147">
                <a:solidFill>
                  <a:srgbClr val="FEDEE1"/>
                </a:solidFill>
                <a:latin typeface="Poppins Bold"/>
                <a:ea typeface="Poppins Bold"/>
                <a:cs typeface="Poppins Bold"/>
                <a:sym typeface="Poppins Bold"/>
              </a:rPr>
              <a:t>FEATURE ENGINEERNG</a:t>
            </a:r>
          </a:p>
        </p:txBody>
      </p:sp>
      <p:sp>
        <p:nvSpPr>
          <p:cNvPr name="TextBox 9" id="9"/>
          <p:cNvSpPr txBox="true"/>
          <p:nvPr/>
        </p:nvSpPr>
        <p:spPr>
          <a:xfrm rot="0">
            <a:off x="125413" y="9410700"/>
            <a:ext cx="16907479" cy="831849"/>
          </a:xfrm>
          <a:prstGeom prst="rect">
            <a:avLst/>
          </a:prstGeom>
        </p:spPr>
        <p:txBody>
          <a:bodyPr anchor="t" rtlCol="false" tIns="0" lIns="0" bIns="0" rIns="0">
            <a:spAutoFit/>
          </a:bodyPr>
          <a:lstStyle/>
          <a:p>
            <a:pPr algn="l">
              <a:lnSpc>
                <a:spcPts val="5524"/>
              </a:lnSpc>
            </a:pPr>
            <a:r>
              <a:rPr lang="en-US" b="true" sz="6499" spc="-318">
                <a:solidFill>
                  <a:srgbClr val="FEDEE1"/>
                </a:solidFill>
                <a:latin typeface="Poppins Bold"/>
                <a:ea typeface="Poppins Bold"/>
                <a:cs typeface="Poppins Bold"/>
                <a:sym typeface="Poppins Bold"/>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DAHWi333ajw</dc:identifier>
  <dcterms:modified xsi:type="dcterms:W3CDTF">2011-08-01T06:04:30Z</dcterms:modified>
  <cp:revision>1</cp:revision>
  <dc:title>Template-Based Presentation</dc:title>
</cp:coreProperties>
</file>