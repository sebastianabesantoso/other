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Bold" charset="1" panose="00000800000000000000"/>
      <p:regular r:id="rId17"/>
    </p:embeddedFont>
    <p:embeddedFont>
      <p:font typeface="Aileron" charset="1" panose="00000500000000000000"/>
      <p:regular r:id="rId18"/>
    </p:embeddedFont>
    <p:embeddedFont>
      <p:font typeface="Aileron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https://www.kaggle.com/datasets/sebastianabe/one-shot-llm-task-reliability"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png" Type="http://schemas.openxmlformats.org/officeDocument/2006/relationships/image"/><Relationship Id="rId12" Target="../media/image14.png" Type="http://schemas.openxmlformats.org/officeDocument/2006/relationships/image"/><Relationship Id="rId13" Target="../media/image15.png" Type="http://schemas.openxmlformats.org/officeDocument/2006/relationships/image"/><Relationship Id="rId14" Target="../media/image3.png" Type="http://schemas.openxmlformats.org/officeDocument/2006/relationships/image"/><Relationship Id="rId15" Target="https://www.kaggle.com/datasets/sebastianabe/one-shot-llm-task-reliability" TargetMode="External" Type="http://schemas.openxmlformats.org/officeDocument/2006/relationships/hyperlink"/><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3.png" Type="http://schemas.openxmlformats.org/officeDocument/2006/relationships/image"/><Relationship Id="rId4" Target="https://www.kaggle.com/datasets/sebastianabe/one-shot-llm-task-reliability"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kaggle.com/datasets/sebastianabe/one-shot-llm-task-reliability" TargetMode="External" Type="http://schemas.openxmlformats.org/officeDocument/2006/relationships/hyperlink"/><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 Id="rId9" Target="../media/image3.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3047107" y="2625851"/>
            <a:ext cx="12193786" cy="6153150"/>
          </a:xfrm>
          <a:prstGeom prst="rect">
            <a:avLst/>
          </a:prstGeom>
        </p:spPr>
        <p:txBody>
          <a:bodyPr anchor="t" rtlCol="false" tIns="0" lIns="0" bIns="0" rIns="0">
            <a:spAutoFit/>
          </a:bodyPr>
          <a:lstStyle/>
          <a:p>
            <a:pPr algn="ctr">
              <a:lnSpc>
                <a:spcPts val="11400"/>
              </a:lnSpc>
            </a:pPr>
            <a:r>
              <a:rPr lang="en-US" b="true" sz="15000">
                <a:solidFill>
                  <a:srgbClr val="ED3500"/>
                </a:solidFill>
                <a:latin typeface="Poppins Bold"/>
                <a:ea typeface="Poppins Bold"/>
                <a:cs typeface="Poppins Bold"/>
                <a:sym typeface="Poppins Bold"/>
              </a:rPr>
              <a:t>ONE-SHOT LLM TASK RELIABILITY</a:t>
            </a:r>
          </a:p>
          <a:p>
            <a:pPr algn="ctr">
              <a:lnSpc>
                <a:spcPts val="11400"/>
              </a:lnSpc>
            </a:pPr>
          </a:p>
        </p:txBody>
      </p:sp>
      <p:grpSp>
        <p:nvGrpSpPr>
          <p:cNvPr name="Group 3" id="3"/>
          <p:cNvGrpSpPr/>
          <p:nvPr/>
        </p:nvGrpSpPr>
        <p:grpSpPr>
          <a:xfrm rot="-212408">
            <a:off x="11008914" y="6595083"/>
            <a:ext cx="4173466" cy="717053"/>
            <a:chOff x="0" y="0"/>
            <a:chExt cx="2365370" cy="406400"/>
          </a:xfrm>
        </p:grpSpPr>
        <p:sp>
          <p:nvSpPr>
            <p:cNvPr name="Freeform 4" id="4"/>
            <p:cNvSpPr/>
            <p:nvPr/>
          </p:nvSpPr>
          <p:spPr>
            <a:xfrm flipH="false" flipV="false" rot="0">
              <a:off x="0" y="0"/>
              <a:ext cx="2365370" cy="406400"/>
            </a:xfrm>
            <a:custGeom>
              <a:avLst/>
              <a:gdLst/>
              <a:ahLst/>
              <a:cxnLst/>
              <a:rect r="r" b="b" t="t" l="l"/>
              <a:pathLst>
                <a:path h="406400" w="2365370">
                  <a:moveTo>
                    <a:pt x="2162170" y="0"/>
                  </a:moveTo>
                  <a:cubicBezTo>
                    <a:pt x="2274394" y="0"/>
                    <a:pt x="2365370" y="90976"/>
                    <a:pt x="2365370" y="203200"/>
                  </a:cubicBezTo>
                  <a:cubicBezTo>
                    <a:pt x="2365370" y="315424"/>
                    <a:pt x="2274394" y="406400"/>
                    <a:pt x="2162170" y="406400"/>
                  </a:cubicBezTo>
                  <a:lnTo>
                    <a:pt x="203200" y="406400"/>
                  </a:lnTo>
                  <a:cubicBezTo>
                    <a:pt x="90976" y="406400"/>
                    <a:pt x="0" y="315424"/>
                    <a:pt x="0" y="203200"/>
                  </a:cubicBezTo>
                  <a:cubicBezTo>
                    <a:pt x="0" y="90976"/>
                    <a:pt x="90976" y="0"/>
                    <a:pt x="203200" y="0"/>
                  </a:cubicBezTo>
                  <a:close/>
                </a:path>
              </a:pathLst>
            </a:custGeom>
            <a:solidFill>
              <a:srgbClr val="F1F1F1"/>
            </a:solidFill>
            <a:ln w="28575" cap="sq">
              <a:solidFill>
                <a:srgbClr val="ED3500"/>
              </a:solidFill>
              <a:prstDash val="solid"/>
              <a:miter/>
            </a:ln>
          </p:spPr>
        </p:sp>
        <p:sp>
          <p:nvSpPr>
            <p:cNvPr name="TextBox 5" id="5"/>
            <p:cNvSpPr txBox="true"/>
            <p:nvPr/>
          </p:nvSpPr>
          <p:spPr>
            <a:xfrm>
              <a:off x="0" y="-38100"/>
              <a:ext cx="2365370" cy="444500"/>
            </a:xfrm>
            <a:prstGeom prst="rect">
              <a:avLst/>
            </a:prstGeom>
          </p:spPr>
          <p:txBody>
            <a:bodyPr anchor="ctr" rtlCol="false" tIns="78101" lIns="78101" bIns="78101" rIns="78101"/>
            <a:lstStyle/>
            <a:p>
              <a:pPr algn="ctr">
                <a:lnSpc>
                  <a:spcPts val="2660"/>
                </a:lnSpc>
                <a:spcBef>
                  <a:spcPct val="0"/>
                </a:spcBef>
              </a:pPr>
            </a:p>
          </p:txBody>
        </p:sp>
      </p:grpSp>
      <p:sp>
        <p:nvSpPr>
          <p:cNvPr name="TextBox 6" id="6"/>
          <p:cNvSpPr txBox="true"/>
          <p:nvPr/>
        </p:nvSpPr>
        <p:spPr>
          <a:xfrm rot="-212408">
            <a:off x="10720968" y="6589484"/>
            <a:ext cx="4744652" cy="652197"/>
          </a:xfrm>
          <a:prstGeom prst="rect">
            <a:avLst/>
          </a:prstGeom>
        </p:spPr>
        <p:txBody>
          <a:bodyPr anchor="t" rtlCol="false" tIns="0" lIns="0" bIns="0" rIns="0">
            <a:spAutoFit/>
          </a:bodyPr>
          <a:lstStyle/>
          <a:p>
            <a:pPr algn="ctr">
              <a:lnSpc>
                <a:spcPts val="5380"/>
              </a:lnSpc>
            </a:pPr>
            <a:r>
              <a:rPr lang="en-US" sz="3843">
                <a:solidFill>
                  <a:srgbClr val="ED3500"/>
                </a:solidFill>
                <a:latin typeface="Aileron"/>
                <a:ea typeface="Aileron"/>
                <a:cs typeface="Aileron"/>
                <a:sym typeface="Aileron"/>
              </a:rPr>
              <a:t>PRE</a:t>
            </a:r>
            <a:r>
              <a:rPr lang="en-US" sz="3843">
                <a:solidFill>
                  <a:srgbClr val="ED3500"/>
                </a:solidFill>
                <a:latin typeface="Aileron"/>
                <a:ea typeface="Aileron"/>
                <a:cs typeface="Aileron"/>
                <a:sym typeface="Aileron"/>
              </a:rPr>
              <a:t>SENTATION</a:t>
            </a:r>
          </a:p>
        </p:txBody>
      </p:sp>
      <p:sp>
        <p:nvSpPr>
          <p:cNvPr name="TextBox 7" id="7"/>
          <p:cNvSpPr txBox="true"/>
          <p:nvPr/>
        </p:nvSpPr>
        <p:spPr>
          <a:xfrm rot="0">
            <a:off x="1028700" y="990600"/>
            <a:ext cx="2824746" cy="306705"/>
          </a:xfrm>
          <a:prstGeom prst="rect">
            <a:avLst/>
          </a:prstGeom>
        </p:spPr>
        <p:txBody>
          <a:bodyPr anchor="t" rtlCol="false" tIns="0" lIns="0" bIns="0" rIns="0">
            <a:spAutoFit/>
          </a:bodyPr>
          <a:lstStyle/>
          <a:p>
            <a:pPr algn="l">
              <a:lnSpc>
                <a:spcPts val="2520"/>
              </a:lnSpc>
            </a:pPr>
            <a:r>
              <a:rPr lang="en-US" sz="1800" b="true">
                <a:solidFill>
                  <a:srgbClr val="ED3500"/>
                </a:solidFill>
                <a:latin typeface="Aileron Bold"/>
                <a:ea typeface="Aileron Bold"/>
                <a:cs typeface="Aileron Bold"/>
                <a:sym typeface="Aileron Bold"/>
              </a:rPr>
              <a:t>VISUALISASI DATA</a:t>
            </a:r>
          </a:p>
        </p:txBody>
      </p:sp>
      <p:sp>
        <p:nvSpPr>
          <p:cNvPr name="TextBox 8" id="8"/>
          <p:cNvSpPr txBox="true"/>
          <p:nvPr/>
        </p:nvSpPr>
        <p:spPr>
          <a:xfrm rot="0">
            <a:off x="1028700" y="8951595"/>
            <a:ext cx="4305071" cy="306705"/>
          </a:xfrm>
          <a:prstGeom prst="rect">
            <a:avLst/>
          </a:prstGeom>
        </p:spPr>
        <p:txBody>
          <a:bodyPr anchor="t" rtlCol="false" tIns="0" lIns="0" bIns="0" rIns="0">
            <a:spAutoFit/>
          </a:bodyPr>
          <a:lstStyle/>
          <a:p>
            <a:pPr algn="l">
              <a:lnSpc>
                <a:spcPts val="2520"/>
              </a:lnSpc>
            </a:pPr>
            <a:r>
              <a:rPr lang="en-US" sz="1800">
                <a:solidFill>
                  <a:srgbClr val="ED3500"/>
                </a:solidFill>
                <a:latin typeface="Aileron"/>
                <a:ea typeface="Aileron"/>
                <a:cs typeface="Aileron"/>
                <a:sym typeface="Aileron"/>
              </a:rPr>
              <a:t>SEBASTIAN ABE SANTOSO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455074" y="541489"/>
            <a:ext cx="7494037" cy="5758692"/>
            <a:chOff x="0" y="0"/>
            <a:chExt cx="1161022" cy="892172"/>
          </a:xfrm>
        </p:grpSpPr>
        <p:sp>
          <p:nvSpPr>
            <p:cNvPr name="Freeform 3" id="3"/>
            <p:cNvSpPr/>
            <p:nvPr/>
          </p:nvSpPr>
          <p:spPr>
            <a:xfrm flipH="false" flipV="false" rot="0">
              <a:off x="0" y="0"/>
              <a:ext cx="1161022" cy="892172"/>
            </a:xfrm>
            <a:custGeom>
              <a:avLst/>
              <a:gdLst/>
              <a:ahLst/>
              <a:cxnLst/>
              <a:rect r="r" b="b" t="t" l="l"/>
              <a:pathLst>
                <a:path h="892172" w="1161022">
                  <a:moveTo>
                    <a:pt x="0" y="0"/>
                  </a:moveTo>
                  <a:lnTo>
                    <a:pt x="1161022" y="0"/>
                  </a:lnTo>
                  <a:lnTo>
                    <a:pt x="1161022" y="892172"/>
                  </a:lnTo>
                  <a:lnTo>
                    <a:pt x="0" y="892172"/>
                  </a:lnTo>
                  <a:close/>
                </a:path>
              </a:pathLst>
            </a:custGeom>
            <a:blipFill>
              <a:blip r:embed="rId2"/>
              <a:stretch>
                <a:fillRect l="0" t="0" r="-22176" b="-22776"/>
              </a:stretch>
            </a:blipFill>
          </p:spPr>
        </p:sp>
      </p:grpSp>
      <p:sp>
        <p:nvSpPr>
          <p:cNvPr name="Freeform 4" id="4"/>
          <p:cNvSpPr/>
          <p:nvPr/>
        </p:nvSpPr>
        <p:spPr>
          <a:xfrm flipH="false" flipV="false" rot="0">
            <a:off x="8444935" y="5573476"/>
            <a:ext cx="5474197" cy="4713524"/>
          </a:xfrm>
          <a:custGeom>
            <a:avLst/>
            <a:gdLst/>
            <a:ahLst/>
            <a:cxnLst/>
            <a:rect r="r" b="b" t="t" l="l"/>
            <a:pathLst>
              <a:path h="4713524" w="5474197">
                <a:moveTo>
                  <a:pt x="0" y="0"/>
                </a:moveTo>
                <a:lnTo>
                  <a:pt x="5474197" y="0"/>
                </a:lnTo>
                <a:lnTo>
                  <a:pt x="5474197" y="4713524"/>
                </a:lnTo>
                <a:lnTo>
                  <a:pt x="0" y="4713524"/>
                </a:lnTo>
                <a:lnTo>
                  <a:pt x="0" y="0"/>
                </a:lnTo>
                <a:close/>
              </a:path>
            </a:pathLst>
          </a:custGeom>
          <a:blipFill>
            <a:blip r:embed="rId3"/>
            <a:stretch>
              <a:fillRect l="0" t="0" r="-594" b="-9551"/>
            </a:stretch>
          </a:blipFill>
        </p:spPr>
      </p:sp>
      <p:grpSp>
        <p:nvGrpSpPr>
          <p:cNvPr name="Group 5" id="5"/>
          <p:cNvGrpSpPr/>
          <p:nvPr/>
        </p:nvGrpSpPr>
        <p:grpSpPr>
          <a:xfrm rot="0">
            <a:off x="8934955" y="7097666"/>
            <a:ext cx="4602015" cy="463567"/>
            <a:chOff x="0" y="0"/>
            <a:chExt cx="1212053" cy="122092"/>
          </a:xfrm>
        </p:grpSpPr>
        <p:sp>
          <p:nvSpPr>
            <p:cNvPr name="Freeform 6" id="6"/>
            <p:cNvSpPr/>
            <p:nvPr/>
          </p:nvSpPr>
          <p:spPr>
            <a:xfrm flipH="false" flipV="false" rot="0">
              <a:off x="0" y="0"/>
              <a:ext cx="1212053" cy="122092"/>
            </a:xfrm>
            <a:custGeom>
              <a:avLst/>
              <a:gdLst/>
              <a:ahLst/>
              <a:cxnLst/>
              <a:rect r="r" b="b" t="t" l="l"/>
              <a:pathLst>
                <a:path h="122092" w="1212053">
                  <a:moveTo>
                    <a:pt x="0" y="0"/>
                  </a:moveTo>
                  <a:lnTo>
                    <a:pt x="1212053" y="0"/>
                  </a:lnTo>
                  <a:lnTo>
                    <a:pt x="1212053" y="122092"/>
                  </a:lnTo>
                  <a:lnTo>
                    <a:pt x="0" y="122092"/>
                  </a:lnTo>
                  <a:close/>
                </a:path>
              </a:pathLst>
            </a:custGeom>
            <a:solidFill>
              <a:srgbClr val="ED3500"/>
            </a:solidFill>
          </p:spPr>
        </p:sp>
        <p:sp>
          <p:nvSpPr>
            <p:cNvPr name="TextBox 7" id="7"/>
            <p:cNvSpPr txBox="true"/>
            <p:nvPr/>
          </p:nvSpPr>
          <p:spPr>
            <a:xfrm>
              <a:off x="0" y="-9525"/>
              <a:ext cx="1212053" cy="131617"/>
            </a:xfrm>
            <a:prstGeom prst="rect">
              <a:avLst/>
            </a:prstGeom>
          </p:spPr>
          <p:txBody>
            <a:bodyPr anchor="ctr" rtlCol="false" tIns="50800" lIns="50800" bIns="50800" rIns="50800"/>
            <a:lstStyle/>
            <a:p>
              <a:pPr algn="ctr">
                <a:lnSpc>
                  <a:spcPts val="2400"/>
                </a:lnSpc>
              </a:pPr>
            </a:p>
          </p:txBody>
        </p:sp>
      </p:grpSp>
      <p:sp>
        <p:nvSpPr>
          <p:cNvPr name="TextBox 8" id="8"/>
          <p:cNvSpPr txBox="true"/>
          <p:nvPr/>
        </p:nvSpPr>
        <p:spPr>
          <a:xfrm rot="0">
            <a:off x="455074" y="6285413"/>
            <a:ext cx="8785562" cy="3234559"/>
          </a:xfrm>
          <a:prstGeom prst="rect">
            <a:avLst/>
          </a:prstGeom>
        </p:spPr>
        <p:txBody>
          <a:bodyPr anchor="t" rtlCol="false" tIns="0" lIns="0" bIns="0" rIns="0">
            <a:spAutoFit/>
          </a:bodyPr>
          <a:lstStyle/>
          <a:p>
            <a:pPr algn="l">
              <a:lnSpc>
                <a:spcPts val="11852"/>
              </a:lnSpc>
            </a:pPr>
            <a:r>
              <a:rPr lang="en-US" sz="12475" b="true">
                <a:solidFill>
                  <a:srgbClr val="ED3500"/>
                </a:solidFill>
                <a:latin typeface="Poppins Bold"/>
                <a:ea typeface="Poppins Bold"/>
                <a:cs typeface="Poppins Bold"/>
                <a:sym typeface="Poppins Bold"/>
              </a:rPr>
              <a:t>DATASET DESC</a:t>
            </a:r>
          </a:p>
        </p:txBody>
      </p:sp>
      <p:sp>
        <p:nvSpPr>
          <p:cNvPr name="TextBox 9" id="9"/>
          <p:cNvSpPr txBox="true"/>
          <p:nvPr/>
        </p:nvSpPr>
        <p:spPr>
          <a:xfrm rot="0">
            <a:off x="13177018" y="9248775"/>
            <a:ext cx="4082282" cy="314325"/>
          </a:xfrm>
          <a:prstGeom prst="rect">
            <a:avLst/>
          </a:prstGeom>
        </p:spPr>
        <p:txBody>
          <a:bodyPr anchor="t" rtlCol="false" tIns="0" lIns="0" bIns="0" rIns="0">
            <a:spAutoFit/>
          </a:bodyPr>
          <a:lstStyle/>
          <a:p>
            <a:pPr algn="r">
              <a:lnSpc>
                <a:spcPts val="2400"/>
              </a:lnSpc>
            </a:pPr>
            <a:r>
              <a:rPr lang="en-US" b="true" sz="2000" spc="30">
                <a:solidFill>
                  <a:srgbClr val="ED3500"/>
                </a:solidFill>
                <a:latin typeface="Aileron Bold"/>
                <a:ea typeface="Aileron Bold"/>
                <a:cs typeface="Aileron Bold"/>
                <a:sym typeface="Aileron Bold"/>
              </a:rPr>
              <a:t>(002)</a:t>
            </a:r>
          </a:p>
        </p:txBody>
      </p:sp>
      <p:sp>
        <p:nvSpPr>
          <p:cNvPr name="TextBox 10" id="10"/>
          <p:cNvSpPr txBox="true"/>
          <p:nvPr/>
        </p:nvSpPr>
        <p:spPr>
          <a:xfrm rot="0">
            <a:off x="8444935" y="356609"/>
            <a:ext cx="9202090" cy="4962525"/>
          </a:xfrm>
          <a:prstGeom prst="rect">
            <a:avLst/>
          </a:prstGeom>
        </p:spPr>
        <p:txBody>
          <a:bodyPr anchor="t" rtlCol="false" tIns="0" lIns="0" bIns="0" rIns="0">
            <a:spAutoFit/>
          </a:bodyPr>
          <a:lstStyle/>
          <a:p>
            <a:pPr algn="just">
              <a:lnSpc>
                <a:spcPts val="3022"/>
              </a:lnSpc>
            </a:pPr>
            <a:r>
              <a:rPr lang="en-US" sz="2519" spc="37">
                <a:solidFill>
                  <a:srgbClr val="ED3500"/>
                </a:solidFill>
                <a:latin typeface="Aileron"/>
                <a:ea typeface="Aileron"/>
                <a:cs typeface="Aileron"/>
                <a:sym typeface="Aileron"/>
              </a:rPr>
              <a:t>Dataset ini berisi rek</a:t>
            </a:r>
            <a:r>
              <a:rPr lang="en-US" sz="2519" spc="37">
                <a:solidFill>
                  <a:srgbClr val="ED3500"/>
                </a:solidFill>
                <a:latin typeface="Aileron"/>
                <a:ea typeface="Aileron"/>
                <a:cs typeface="Aileron"/>
                <a:sym typeface="Aileron"/>
              </a:rPr>
              <a:t>aman hasil pengujian 12 </a:t>
            </a:r>
            <a:r>
              <a:rPr lang="en-US" sz="2519" spc="37">
                <a:solidFill>
                  <a:srgbClr val="ED3500"/>
                </a:solidFill>
                <a:latin typeface="Aileron"/>
                <a:ea typeface="Aileron"/>
                <a:cs typeface="Aileron"/>
                <a:sym typeface="Aileron"/>
              </a:rPr>
              <a:t>LLM</a:t>
            </a:r>
            <a:r>
              <a:rPr lang="en-US" sz="2519" spc="37">
                <a:solidFill>
                  <a:srgbClr val="ED3500"/>
                </a:solidFill>
                <a:latin typeface="Aileron"/>
                <a:ea typeface="Aileron"/>
                <a:cs typeface="Aileron"/>
                <a:sym typeface="Aileron"/>
              </a:rPr>
              <a:t> menggunakan 50 prompt dengan dua run per model. Setiap kombinasi model dan prompt diuji sebanyak dua kali, sehingga menghasilkan total 1.200 rekaman. Data mencakup hasil respons, waktu pemrosesan, penggunaan token, dan biaya API.</a:t>
            </a:r>
          </a:p>
          <a:p>
            <a:pPr algn="just">
              <a:lnSpc>
                <a:spcPts val="3022"/>
              </a:lnSpc>
            </a:pPr>
            <a:r>
              <a:rPr lang="en-US" sz="2519" spc="37">
                <a:solidFill>
                  <a:srgbClr val="ED3500"/>
                </a:solidFill>
                <a:latin typeface="Aileron"/>
                <a:ea typeface="Aileron"/>
                <a:cs typeface="Aileron"/>
                <a:sym typeface="Aileron"/>
              </a:rPr>
              <a:t>Dataset ini terbagi menjadi empat:</a:t>
            </a:r>
          </a:p>
          <a:p>
            <a:pPr algn="l" marL="543877" indent="-271938" lvl="1">
              <a:lnSpc>
                <a:spcPts val="3022"/>
              </a:lnSpc>
              <a:buAutoNum type="arabicPeriod" startAt="1"/>
            </a:pPr>
            <a:r>
              <a:rPr lang="en-US" b="true" sz="2519" spc="37">
                <a:solidFill>
                  <a:srgbClr val="ED3500"/>
                </a:solidFill>
                <a:latin typeface="Aileron Bold"/>
                <a:ea typeface="Aileron Bold"/>
                <a:cs typeface="Aileron Bold"/>
                <a:sym typeface="Aileron Bold"/>
              </a:rPr>
              <a:t>Results.xlsx</a:t>
            </a:r>
            <a:r>
              <a:rPr lang="en-US" sz="2519" spc="37">
                <a:solidFill>
                  <a:srgbClr val="ED3500"/>
                </a:solidFill>
                <a:latin typeface="Aileron"/>
                <a:ea typeface="Aileron"/>
                <a:cs typeface="Aileron"/>
                <a:sym typeface="Aileron"/>
              </a:rPr>
              <a:t> (utama, berisi response LLM)</a:t>
            </a:r>
          </a:p>
          <a:p>
            <a:pPr algn="l" marL="543877" indent="-271938" lvl="1">
              <a:lnSpc>
                <a:spcPts val="3022"/>
              </a:lnSpc>
              <a:buAutoNum type="arabicPeriod" startAt="1"/>
            </a:pPr>
            <a:r>
              <a:rPr lang="en-US" b="true" sz="2519" spc="37">
                <a:solidFill>
                  <a:srgbClr val="ED3500"/>
                </a:solidFill>
                <a:latin typeface="Aileron Bold"/>
                <a:ea typeface="Aileron Bold"/>
                <a:cs typeface="Aileron Bold"/>
                <a:sym typeface="Aileron Bold"/>
              </a:rPr>
              <a:t>prompts.csv</a:t>
            </a:r>
            <a:r>
              <a:rPr lang="en-US" sz="2519" spc="37">
                <a:solidFill>
                  <a:srgbClr val="ED3500"/>
                </a:solidFill>
                <a:latin typeface="Aileron"/>
                <a:ea typeface="Aileron"/>
                <a:cs typeface="Aileron"/>
                <a:sym typeface="Aileron"/>
              </a:rPr>
              <a:t> (berisi prompt yang digunakan oleh LLM)</a:t>
            </a:r>
          </a:p>
          <a:p>
            <a:pPr algn="l" marL="543877" indent="-271938" lvl="1">
              <a:lnSpc>
                <a:spcPts val="3022"/>
              </a:lnSpc>
              <a:buAutoNum type="arabicPeriod" startAt="1"/>
            </a:pPr>
            <a:r>
              <a:rPr lang="en-US" b="true" sz="2519" spc="37">
                <a:solidFill>
                  <a:srgbClr val="ED3500"/>
                </a:solidFill>
                <a:latin typeface="Aileron Bold"/>
                <a:ea typeface="Aileron Bold"/>
                <a:cs typeface="Aileron Bold"/>
                <a:sym typeface="Aileron Bold"/>
              </a:rPr>
              <a:t>ground_truth.xlsx</a:t>
            </a:r>
            <a:r>
              <a:rPr lang="en-US" sz="2519" spc="37">
                <a:solidFill>
                  <a:srgbClr val="ED3500"/>
                </a:solidFill>
                <a:latin typeface="Aileron"/>
                <a:ea typeface="Aileron"/>
                <a:cs typeface="Aileron"/>
                <a:sym typeface="Aileron"/>
              </a:rPr>
              <a:t> (baseline untuk mengukur response LLM)</a:t>
            </a:r>
          </a:p>
          <a:p>
            <a:pPr algn="l" marL="543877" indent="-271938" lvl="1">
              <a:lnSpc>
                <a:spcPts val="3022"/>
              </a:lnSpc>
              <a:buAutoNum type="arabicPeriod" startAt="1"/>
            </a:pPr>
            <a:r>
              <a:rPr lang="en-US" b="true" sz="2519" spc="37">
                <a:solidFill>
                  <a:srgbClr val="ED3500"/>
                </a:solidFill>
                <a:latin typeface="Aileron Bold"/>
                <a:ea typeface="Aileron Bold"/>
                <a:cs typeface="Aileron Bold"/>
                <a:sym typeface="Aileron Bold"/>
              </a:rPr>
              <a:t>full_evaluation.xlsx</a:t>
            </a:r>
            <a:r>
              <a:rPr lang="en-US" sz="2519" spc="37">
                <a:solidFill>
                  <a:srgbClr val="ED3500"/>
                </a:solidFill>
                <a:latin typeface="Aileron"/>
                <a:ea typeface="Aileron"/>
                <a:cs typeface="Aileron"/>
                <a:sym typeface="Aileron"/>
              </a:rPr>
              <a:t> (skor LLM berdasarkan ground_truth dan dievaluasi oleh judge LLM)</a:t>
            </a:r>
          </a:p>
        </p:txBody>
      </p:sp>
      <p:grpSp>
        <p:nvGrpSpPr>
          <p:cNvPr name="Group 11" id="11"/>
          <p:cNvGrpSpPr/>
          <p:nvPr/>
        </p:nvGrpSpPr>
        <p:grpSpPr>
          <a:xfrm rot="0">
            <a:off x="8934955" y="8403097"/>
            <a:ext cx="4602015" cy="463567"/>
            <a:chOff x="0" y="0"/>
            <a:chExt cx="1212053" cy="122092"/>
          </a:xfrm>
        </p:grpSpPr>
        <p:sp>
          <p:nvSpPr>
            <p:cNvPr name="Freeform 12" id="12"/>
            <p:cNvSpPr/>
            <p:nvPr/>
          </p:nvSpPr>
          <p:spPr>
            <a:xfrm flipH="false" flipV="false" rot="0">
              <a:off x="0" y="0"/>
              <a:ext cx="1212053" cy="122092"/>
            </a:xfrm>
            <a:custGeom>
              <a:avLst/>
              <a:gdLst/>
              <a:ahLst/>
              <a:cxnLst/>
              <a:rect r="r" b="b" t="t" l="l"/>
              <a:pathLst>
                <a:path h="122092" w="1212053">
                  <a:moveTo>
                    <a:pt x="0" y="0"/>
                  </a:moveTo>
                  <a:lnTo>
                    <a:pt x="1212053" y="0"/>
                  </a:lnTo>
                  <a:lnTo>
                    <a:pt x="1212053" y="122092"/>
                  </a:lnTo>
                  <a:lnTo>
                    <a:pt x="0" y="122092"/>
                  </a:lnTo>
                  <a:close/>
                </a:path>
              </a:pathLst>
            </a:custGeom>
            <a:solidFill>
              <a:srgbClr val="ED3500"/>
            </a:solidFill>
          </p:spPr>
        </p:sp>
        <p:sp>
          <p:nvSpPr>
            <p:cNvPr name="TextBox 13" id="13"/>
            <p:cNvSpPr txBox="true"/>
            <p:nvPr/>
          </p:nvSpPr>
          <p:spPr>
            <a:xfrm>
              <a:off x="0" y="-9525"/>
              <a:ext cx="1212053" cy="131617"/>
            </a:xfrm>
            <a:prstGeom prst="rect">
              <a:avLst/>
            </a:prstGeom>
          </p:spPr>
          <p:txBody>
            <a:bodyPr anchor="ctr" rtlCol="false" tIns="50800" lIns="50800" bIns="50800" rIns="50800"/>
            <a:lstStyle/>
            <a:p>
              <a:pPr algn="ctr">
                <a:lnSpc>
                  <a:spcPts val="2400"/>
                </a:lnSpc>
              </a:pPr>
            </a:p>
          </p:txBody>
        </p:sp>
      </p:grpSp>
      <p:sp>
        <p:nvSpPr>
          <p:cNvPr name="Freeform 14" id="14">
            <a:hlinkClick r:id="rId5" tooltip="https://www.kaggle.com/datasets/sebastianabe/one-shot-llm-task-reliability"/>
          </p:cNvPr>
          <p:cNvSpPr/>
          <p:nvPr/>
        </p:nvSpPr>
        <p:spPr>
          <a:xfrm flipH="false" flipV="false" rot="0">
            <a:off x="455074" y="323537"/>
            <a:ext cx="6172200" cy="1582403"/>
          </a:xfrm>
          <a:custGeom>
            <a:avLst/>
            <a:gdLst/>
            <a:ahLst/>
            <a:cxnLst/>
            <a:rect r="r" b="b" t="t" l="l"/>
            <a:pathLst>
              <a:path h="1582403" w="6172200">
                <a:moveTo>
                  <a:pt x="0" y="0"/>
                </a:moveTo>
                <a:lnTo>
                  <a:pt x="6172200" y="0"/>
                </a:lnTo>
                <a:lnTo>
                  <a:pt x="6172200" y="1582403"/>
                </a:lnTo>
                <a:lnTo>
                  <a:pt x="0" y="1582403"/>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5074" y="7458061"/>
            <a:ext cx="4288882" cy="2410662"/>
          </a:xfrm>
          <a:custGeom>
            <a:avLst/>
            <a:gdLst/>
            <a:ahLst/>
            <a:cxnLst/>
            <a:rect r="r" b="b" t="t" l="l"/>
            <a:pathLst>
              <a:path h="2410662" w="4288882">
                <a:moveTo>
                  <a:pt x="0" y="0"/>
                </a:moveTo>
                <a:lnTo>
                  <a:pt x="4288882" y="0"/>
                </a:lnTo>
                <a:lnTo>
                  <a:pt x="4288882" y="2410662"/>
                </a:lnTo>
                <a:lnTo>
                  <a:pt x="0" y="2410662"/>
                </a:lnTo>
                <a:lnTo>
                  <a:pt x="0" y="0"/>
                </a:lnTo>
                <a:close/>
              </a:path>
            </a:pathLst>
          </a:custGeom>
          <a:blipFill>
            <a:blip r:embed="rId2"/>
            <a:stretch>
              <a:fillRect l="0" t="0" r="0" b="0"/>
            </a:stretch>
          </a:blipFill>
        </p:spPr>
      </p:sp>
      <p:sp>
        <p:nvSpPr>
          <p:cNvPr name="Freeform 3" id="3"/>
          <p:cNvSpPr/>
          <p:nvPr/>
        </p:nvSpPr>
        <p:spPr>
          <a:xfrm flipH="false" flipV="false" rot="0">
            <a:off x="5054504" y="7458061"/>
            <a:ext cx="4501952" cy="2431054"/>
          </a:xfrm>
          <a:custGeom>
            <a:avLst/>
            <a:gdLst/>
            <a:ahLst/>
            <a:cxnLst/>
            <a:rect r="r" b="b" t="t" l="l"/>
            <a:pathLst>
              <a:path h="2431054" w="4501952">
                <a:moveTo>
                  <a:pt x="0" y="0"/>
                </a:moveTo>
                <a:lnTo>
                  <a:pt x="4501952" y="0"/>
                </a:lnTo>
                <a:lnTo>
                  <a:pt x="4501952" y="2431054"/>
                </a:lnTo>
                <a:lnTo>
                  <a:pt x="0" y="2431054"/>
                </a:lnTo>
                <a:lnTo>
                  <a:pt x="0" y="0"/>
                </a:lnTo>
                <a:close/>
              </a:path>
            </a:pathLst>
          </a:custGeom>
          <a:blipFill>
            <a:blip r:embed="rId3"/>
            <a:stretch>
              <a:fillRect l="0" t="0" r="0" b="0"/>
            </a:stretch>
          </a:blipFill>
        </p:spPr>
      </p:sp>
      <p:sp>
        <p:nvSpPr>
          <p:cNvPr name="Freeform 4" id="4"/>
          <p:cNvSpPr/>
          <p:nvPr/>
        </p:nvSpPr>
        <p:spPr>
          <a:xfrm flipH="false" flipV="false" rot="0">
            <a:off x="9870781" y="7458061"/>
            <a:ext cx="4287087" cy="2410662"/>
          </a:xfrm>
          <a:custGeom>
            <a:avLst/>
            <a:gdLst/>
            <a:ahLst/>
            <a:cxnLst/>
            <a:rect r="r" b="b" t="t" l="l"/>
            <a:pathLst>
              <a:path h="2410662" w="4287087">
                <a:moveTo>
                  <a:pt x="0" y="0"/>
                </a:moveTo>
                <a:lnTo>
                  <a:pt x="4287087" y="0"/>
                </a:lnTo>
                <a:lnTo>
                  <a:pt x="4287087" y="2410662"/>
                </a:lnTo>
                <a:lnTo>
                  <a:pt x="0" y="2410662"/>
                </a:lnTo>
                <a:lnTo>
                  <a:pt x="0" y="0"/>
                </a:lnTo>
                <a:close/>
              </a:path>
            </a:pathLst>
          </a:custGeom>
          <a:blipFill>
            <a:blip r:embed="rId4"/>
            <a:stretch>
              <a:fillRect l="0" t="0" r="0" b="0"/>
            </a:stretch>
          </a:blipFill>
        </p:spPr>
      </p:sp>
      <p:sp>
        <p:nvSpPr>
          <p:cNvPr name="Freeform 5" id="5"/>
          <p:cNvSpPr/>
          <p:nvPr/>
        </p:nvSpPr>
        <p:spPr>
          <a:xfrm flipH="false" flipV="false" rot="0">
            <a:off x="119151" y="5938476"/>
            <a:ext cx="3711479" cy="1855739"/>
          </a:xfrm>
          <a:custGeom>
            <a:avLst/>
            <a:gdLst/>
            <a:ahLst/>
            <a:cxnLst/>
            <a:rect r="r" b="b" t="t" l="l"/>
            <a:pathLst>
              <a:path h="1855739" w="3711479">
                <a:moveTo>
                  <a:pt x="0" y="0"/>
                </a:moveTo>
                <a:lnTo>
                  <a:pt x="3711479" y="0"/>
                </a:lnTo>
                <a:lnTo>
                  <a:pt x="3711479" y="1855739"/>
                </a:lnTo>
                <a:lnTo>
                  <a:pt x="0" y="1855739"/>
                </a:lnTo>
                <a:lnTo>
                  <a:pt x="0" y="0"/>
                </a:lnTo>
                <a:close/>
              </a:path>
            </a:pathLst>
          </a:custGeom>
          <a:blipFill>
            <a:blip r:embed="rId5"/>
            <a:stretch>
              <a:fillRect l="0" t="0" r="0" b="0"/>
            </a:stretch>
          </a:blipFill>
        </p:spPr>
      </p:sp>
      <p:sp>
        <p:nvSpPr>
          <p:cNvPr name="Freeform 6" id="6"/>
          <p:cNvSpPr/>
          <p:nvPr/>
        </p:nvSpPr>
        <p:spPr>
          <a:xfrm flipH="false" flipV="false" rot="0">
            <a:off x="4045641" y="5938476"/>
            <a:ext cx="3395152" cy="1833382"/>
          </a:xfrm>
          <a:custGeom>
            <a:avLst/>
            <a:gdLst/>
            <a:ahLst/>
            <a:cxnLst/>
            <a:rect r="r" b="b" t="t" l="l"/>
            <a:pathLst>
              <a:path h="1833382" w="3395152">
                <a:moveTo>
                  <a:pt x="0" y="0"/>
                </a:moveTo>
                <a:lnTo>
                  <a:pt x="3395151" y="0"/>
                </a:lnTo>
                <a:lnTo>
                  <a:pt x="3395151" y="1833382"/>
                </a:lnTo>
                <a:lnTo>
                  <a:pt x="0" y="1833382"/>
                </a:lnTo>
                <a:lnTo>
                  <a:pt x="0" y="0"/>
                </a:lnTo>
                <a:close/>
              </a:path>
            </a:pathLst>
          </a:custGeom>
          <a:blipFill>
            <a:blip r:embed="rId6"/>
            <a:stretch>
              <a:fillRect l="0" t="0" r="0" b="0"/>
            </a:stretch>
          </a:blipFill>
        </p:spPr>
      </p:sp>
      <p:sp>
        <p:nvSpPr>
          <p:cNvPr name="Freeform 7" id="7"/>
          <p:cNvSpPr/>
          <p:nvPr/>
        </p:nvSpPr>
        <p:spPr>
          <a:xfrm flipH="false" flipV="false" rot="0">
            <a:off x="7659867" y="5938476"/>
            <a:ext cx="3302774" cy="1855739"/>
          </a:xfrm>
          <a:custGeom>
            <a:avLst/>
            <a:gdLst/>
            <a:ahLst/>
            <a:cxnLst/>
            <a:rect r="r" b="b" t="t" l="l"/>
            <a:pathLst>
              <a:path h="1855739" w="3302774">
                <a:moveTo>
                  <a:pt x="0" y="0"/>
                </a:moveTo>
                <a:lnTo>
                  <a:pt x="3302774" y="0"/>
                </a:lnTo>
                <a:lnTo>
                  <a:pt x="3302774" y="1855739"/>
                </a:lnTo>
                <a:lnTo>
                  <a:pt x="0" y="1855739"/>
                </a:lnTo>
                <a:lnTo>
                  <a:pt x="0" y="0"/>
                </a:lnTo>
                <a:close/>
              </a:path>
            </a:pathLst>
          </a:custGeom>
          <a:blipFill>
            <a:blip r:embed="rId7"/>
            <a:stretch>
              <a:fillRect l="0" t="0" r="0" b="0"/>
            </a:stretch>
          </a:blipFill>
        </p:spPr>
      </p:sp>
      <p:sp>
        <p:nvSpPr>
          <p:cNvPr name="Freeform 8" id="8"/>
          <p:cNvSpPr/>
          <p:nvPr/>
        </p:nvSpPr>
        <p:spPr>
          <a:xfrm flipH="false" flipV="false" rot="0">
            <a:off x="14472193" y="7444336"/>
            <a:ext cx="3643204" cy="2424387"/>
          </a:xfrm>
          <a:custGeom>
            <a:avLst/>
            <a:gdLst/>
            <a:ahLst/>
            <a:cxnLst/>
            <a:rect r="r" b="b" t="t" l="l"/>
            <a:pathLst>
              <a:path h="2424387" w="3643204">
                <a:moveTo>
                  <a:pt x="0" y="0"/>
                </a:moveTo>
                <a:lnTo>
                  <a:pt x="3643205" y="0"/>
                </a:lnTo>
                <a:lnTo>
                  <a:pt x="3643205" y="2424387"/>
                </a:lnTo>
                <a:lnTo>
                  <a:pt x="0" y="2424387"/>
                </a:lnTo>
                <a:lnTo>
                  <a:pt x="0" y="0"/>
                </a:lnTo>
                <a:close/>
              </a:path>
            </a:pathLst>
          </a:custGeom>
          <a:blipFill>
            <a:blip r:embed="rId8"/>
            <a:stretch>
              <a:fillRect l="0" t="0" r="0" b="0"/>
            </a:stretch>
          </a:blipFill>
        </p:spPr>
      </p:sp>
      <p:sp>
        <p:nvSpPr>
          <p:cNvPr name="Freeform 9" id="9"/>
          <p:cNvSpPr/>
          <p:nvPr/>
        </p:nvSpPr>
        <p:spPr>
          <a:xfrm flipH="false" flipV="false" rot="0">
            <a:off x="11181716" y="5927297"/>
            <a:ext cx="3280865" cy="1855739"/>
          </a:xfrm>
          <a:custGeom>
            <a:avLst/>
            <a:gdLst/>
            <a:ahLst/>
            <a:cxnLst/>
            <a:rect r="r" b="b" t="t" l="l"/>
            <a:pathLst>
              <a:path h="1855739" w="3280865">
                <a:moveTo>
                  <a:pt x="0" y="0"/>
                </a:moveTo>
                <a:lnTo>
                  <a:pt x="3280865" y="0"/>
                </a:lnTo>
                <a:lnTo>
                  <a:pt x="3280865" y="1855739"/>
                </a:lnTo>
                <a:lnTo>
                  <a:pt x="0" y="1855739"/>
                </a:lnTo>
                <a:lnTo>
                  <a:pt x="0" y="0"/>
                </a:lnTo>
                <a:close/>
              </a:path>
            </a:pathLst>
          </a:custGeom>
          <a:blipFill>
            <a:blip r:embed="rId9"/>
            <a:stretch>
              <a:fillRect l="0" t="0" r="0" b="0"/>
            </a:stretch>
          </a:blipFill>
        </p:spPr>
      </p:sp>
      <p:sp>
        <p:nvSpPr>
          <p:cNvPr name="Freeform 10" id="10"/>
          <p:cNvSpPr/>
          <p:nvPr/>
        </p:nvSpPr>
        <p:spPr>
          <a:xfrm flipH="false" flipV="false" rot="0">
            <a:off x="14681656" y="5729836"/>
            <a:ext cx="3260956" cy="1833382"/>
          </a:xfrm>
          <a:custGeom>
            <a:avLst/>
            <a:gdLst/>
            <a:ahLst/>
            <a:cxnLst/>
            <a:rect r="r" b="b" t="t" l="l"/>
            <a:pathLst>
              <a:path h="1833382" w="3260956">
                <a:moveTo>
                  <a:pt x="0" y="0"/>
                </a:moveTo>
                <a:lnTo>
                  <a:pt x="3260956" y="0"/>
                </a:lnTo>
                <a:lnTo>
                  <a:pt x="3260956" y="1833382"/>
                </a:lnTo>
                <a:lnTo>
                  <a:pt x="0" y="1833382"/>
                </a:lnTo>
                <a:lnTo>
                  <a:pt x="0" y="0"/>
                </a:lnTo>
                <a:close/>
              </a:path>
            </a:pathLst>
          </a:custGeom>
          <a:blipFill>
            <a:blip r:embed="rId10"/>
            <a:stretch>
              <a:fillRect l="0" t="0" r="0" b="0"/>
            </a:stretch>
          </a:blipFill>
        </p:spPr>
      </p:sp>
      <p:sp>
        <p:nvSpPr>
          <p:cNvPr name="Freeform 11" id="11"/>
          <p:cNvSpPr/>
          <p:nvPr/>
        </p:nvSpPr>
        <p:spPr>
          <a:xfrm flipH="false" flipV="false" rot="0">
            <a:off x="7636208" y="8598336"/>
            <a:ext cx="2905192" cy="1634171"/>
          </a:xfrm>
          <a:custGeom>
            <a:avLst/>
            <a:gdLst/>
            <a:ahLst/>
            <a:cxnLst/>
            <a:rect r="r" b="b" t="t" l="l"/>
            <a:pathLst>
              <a:path h="1634171" w="2905192">
                <a:moveTo>
                  <a:pt x="0" y="0"/>
                </a:moveTo>
                <a:lnTo>
                  <a:pt x="2905192" y="0"/>
                </a:lnTo>
                <a:lnTo>
                  <a:pt x="2905192" y="1634170"/>
                </a:lnTo>
                <a:lnTo>
                  <a:pt x="0" y="1634170"/>
                </a:lnTo>
                <a:lnTo>
                  <a:pt x="0" y="0"/>
                </a:lnTo>
                <a:close/>
              </a:path>
            </a:pathLst>
          </a:custGeom>
          <a:blipFill>
            <a:blip r:embed="rId11"/>
            <a:stretch>
              <a:fillRect l="0" t="0" r="0" b="0"/>
            </a:stretch>
          </a:blipFill>
        </p:spPr>
      </p:sp>
      <p:sp>
        <p:nvSpPr>
          <p:cNvPr name="Freeform 12" id="12"/>
          <p:cNvSpPr/>
          <p:nvPr/>
        </p:nvSpPr>
        <p:spPr>
          <a:xfrm flipH="false" flipV="false" rot="0">
            <a:off x="3771718" y="8663392"/>
            <a:ext cx="3533762" cy="1504058"/>
          </a:xfrm>
          <a:custGeom>
            <a:avLst/>
            <a:gdLst/>
            <a:ahLst/>
            <a:cxnLst/>
            <a:rect r="r" b="b" t="t" l="l"/>
            <a:pathLst>
              <a:path h="1504058" w="3533762">
                <a:moveTo>
                  <a:pt x="0" y="0"/>
                </a:moveTo>
                <a:lnTo>
                  <a:pt x="3533762" y="0"/>
                </a:lnTo>
                <a:lnTo>
                  <a:pt x="3533762" y="1504058"/>
                </a:lnTo>
                <a:lnTo>
                  <a:pt x="0" y="1504058"/>
                </a:lnTo>
                <a:lnTo>
                  <a:pt x="0" y="0"/>
                </a:lnTo>
                <a:close/>
              </a:path>
            </a:pathLst>
          </a:custGeom>
          <a:blipFill>
            <a:blip r:embed="rId12"/>
            <a:stretch>
              <a:fillRect l="0" t="0" r="0" b="0"/>
            </a:stretch>
          </a:blipFill>
        </p:spPr>
      </p:sp>
      <p:sp>
        <p:nvSpPr>
          <p:cNvPr name="Freeform 13" id="13"/>
          <p:cNvSpPr/>
          <p:nvPr/>
        </p:nvSpPr>
        <p:spPr>
          <a:xfrm flipH="false" flipV="false" rot="0">
            <a:off x="13437000" y="8378196"/>
            <a:ext cx="2380972" cy="1510920"/>
          </a:xfrm>
          <a:custGeom>
            <a:avLst/>
            <a:gdLst/>
            <a:ahLst/>
            <a:cxnLst/>
            <a:rect r="r" b="b" t="t" l="l"/>
            <a:pathLst>
              <a:path h="1510920" w="2380972">
                <a:moveTo>
                  <a:pt x="0" y="0"/>
                </a:moveTo>
                <a:lnTo>
                  <a:pt x="2380972" y="0"/>
                </a:lnTo>
                <a:lnTo>
                  <a:pt x="2380972" y="1510919"/>
                </a:lnTo>
                <a:lnTo>
                  <a:pt x="0" y="1510919"/>
                </a:lnTo>
                <a:lnTo>
                  <a:pt x="0" y="0"/>
                </a:lnTo>
                <a:close/>
              </a:path>
            </a:pathLst>
          </a:custGeom>
          <a:blipFill>
            <a:blip r:embed="rId13"/>
            <a:stretch>
              <a:fillRect l="0" t="0" r="0" b="0"/>
            </a:stretch>
          </a:blipFill>
        </p:spPr>
      </p:sp>
      <p:sp>
        <p:nvSpPr>
          <p:cNvPr name="TextBox 14" id="14"/>
          <p:cNvSpPr txBox="true"/>
          <p:nvPr/>
        </p:nvSpPr>
        <p:spPr>
          <a:xfrm rot="0">
            <a:off x="455074" y="2304777"/>
            <a:ext cx="7181134" cy="3234559"/>
          </a:xfrm>
          <a:prstGeom prst="rect">
            <a:avLst/>
          </a:prstGeom>
        </p:spPr>
        <p:txBody>
          <a:bodyPr anchor="t" rtlCol="false" tIns="0" lIns="0" bIns="0" rIns="0">
            <a:spAutoFit/>
          </a:bodyPr>
          <a:lstStyle/>
          <a:p>
            <a:pPr algn="l">
              <a:lnSpc>
                <a:spcPts val="11852"/>
              </a:lnSpc>
            </a:pPr>
            <a:r>
              <a:rPr lang="en-US" sz="12475" b="true">
                <a:solidFill>
                  <a:srgbClr val="ED3500"/>
                </a:solidFill>
                <a:latin typeface="Poppins Bold"/>
                <a:ea typeface="Poppins Bold"/>
                <a:cs typeface="Poppins Bold"/>
                <a:sym typeface="Poppins Bold"/>
              </a:rPr>
              <a:t>METODOLOGI</a:t>
            </a:r>
          </a:p>
        </p:txBody>
      </p:sp>
      <p:sp>
        <p:nvSpPr>
          <p:cNvPr name="TextBox 15" id="15"/>
          <p:cNvSpPr txBox="true"/>
          <p:nvPr/>
        </p:nvSpPr>
        <p:spPr>
          <a:xfrm rot="0">
            <a:off x="7772090" y="1771377"/>
            <a:ext cx="9202090" cy="1152525"/>
          </a:xfrm>
          <a:prstGeom prst="rect">
            <a:avLst/>
          </a:prstGeom>
        </p:spPr>
        <p:txBody>
          <a:bodyPr anchor="t" rtlCol="false" tIns="0" lIns="0" bIns="0" rIns="0">
            <a:spAutoFit/>
          </a:bodyPr>
          <a:lstStyle/>
          <a:p>
            <a:pPr algn="just">
              <a:lnSpc>
                <a:spcPts val="3022"/>
              </a:lnSpc>
            </a:pPr>
            <a:r>
              <a:rPr lang="en-US" b="true" sz="2519" spc="37">
                <a:solidFill>
                  <a:srgbClr val="FFFFFF"/>
                </a:solidFill>
                <a:latin typeface="Aileron Bold"/>
                <a:ea typeface="Aileron Bold"/>
                <a:cs typeface="Aileron Bold"/>
                <a:sym typeface="Aileron Bold"/>
              </a:rPr>
              <a:t>Jawaban acuan (ground truth) dibuat menggunakan Claude Sonnet 5.5</a:t>
            </a:r>
          </a:p>
          <a:p>
            <a:pPr algn="just">
              <a:lnSpc>
                <a:spcPts val="3022"/>
              </a:lnSpc>
            </a:pPr>
          </a:p>
        </p:txBody>
      </p:sp>
      <p:sp>
        <p:nvSpPr>
          <p:cNvPr name="TextBox 16" id="16"/>
          <p:cNvSpPr txBox="true"/>
          <p:nvPr/>
        </p:nvSpPr>
        <p:spPr>
          <a:xfrm rot="0">
            <a:off x="7772090" y="197074"/>
            <a:ext cx="9202090" cy="1152525"/>
          </a:xfrm>
          <a:prstGeom prst="rect">
            <a:avLst/>
          </a:prstGeom>
        </p:spPr>
        <p:txBody>
          <a:bodyPr anchor="t" rtlCol="false" tIns="0" lIns="0" bIns="0" rIns="0">
            <a:spAutoFit/>
          </a:bodyPr>
          <a:lstStyle/>
          <a:p>
            <a:pPr algn="just">
              <a:lnSpc>
                <a:spcPts val="3022"/>
              </a:lnSpc>
            </a:pPr>
            <a:r>
              <a:rPr lang="en-US" b="true" sz="2519" spc="37">
                <a:solidFill>
                  <a:srgbClr val="FFFFFF"/>
                </a:solidFill>
                <a:latin typeface="Aileron Bold"/>
                <a:ea typeface="Aileron Bold"/>
                <a:cs typeface="Aileron Bold"/>
                <a:sym typeface="Aileron Bold"/>
              </a:rPr>
              <a:t>Data d</a:t>
            </a:r>
            <a:r>
              <a:rPr lang="en-US" b="true" sz="2519" spc="37">
                <a:solidFill>
                  <a:srgbClr val="FFFFFF"/>
                </a:solidFill>
                <a:latin typeface="Aileron Bold"/>
                <a:ea typeface="Aileron Bold"/>
                <a:cs typeface="Aileron Bold"/>
                <a:sym typeface="Aileron Bold"/>
              </a:rPr>
              <a:t>iperoleh dari pengujian 12 LLM menggunakan 50 prompt, dengan setiap kombinasi model dan prompt diuji sebanyak dua kali.</a:t>
            </a:r>
          </a:p>
        </p:txBody>
      </p:sp>
      <p:sp>
        <p:nvSpPr>
          <p:cNvPr name="TextBox 17" id="17"/>
          <p:cNvSpPr txBox="true"/>
          <p:nvPr/>
        </p:nvSpPr>
        <p:spPr>
          <a:xfrm rot="0">
            <a:off x="7772090" y="2996161"/>
            <a:ext cx="9202090" cy="1914525"/>
          </a:xfrm>
          <a:prstGeom prst="rect">
            <a:avLst/>
          </a:prstGeom>
        </p:spPr>
        <p:txBody>
          <a:bodyPr anchor="t" rtlCol="false" tIns="0" lIns="0" bIns="0" rIns="0">
            <a:spAutoFit/>
          </a:bodyPr>
          <a:lstStyle/>
          <a:p>
            <a:pPr algn="just">
              <a:lnSpc>
                <a:spcPts val="3022"/>
              </a:lnSpc>
            </a:pPr>
            <a:r>
              <a:rPr lang="en-US" b="true" sz="2519" spc="37">
                <a:solidFill>
                  <a:srgbClr val="FFFFFF"/>
                </a:solidFill>
                <a:latin typeface="Aileron Bold"/>
                <a:ea typeface="Aileron Bold"/>
                <a:cs typeface="Aileron Bold"/>
                <a:sym typeface="Aileron Bold"/>
              </a:rPr>
              <a:t>Respons setiap model dinilai secara otomatis menggunakan kode dengan Xiaomi MiMo-V2-Pro sebagai LLM judge</a:t>
            </a:r>
            <a:r>
              <a:rPr lang="en-US" b="true" sz="2519" spc="37">
                <a:solidFill>
                  <a:srgbClr val="FFFFFF"/>
                </a:solidFill>
                <a:latin typeface="Aileron Bold"/>
                <a:ea typeface="Aileron Bold"/>
                <a:cs typeface="Aileron Bold"/>
                <a:sym typeface="Aileron Bold"/>
              </a:rPr>
              <a:t>. Hasilnya digunakan untuk membandingkan kualitas jawaban, keberhasilan penyelesaian tugas, waktu pemrosesan, penggunaan token, dan biaya antar-model.</a:t>
            </a:r>
          </a:p>
        </p:txBody>
      </p:sp>
      <p:sp>
        <p:nvSpPr>
          <p:cNvPr name="Freeform 18" id="18">
            <a:hlinkClick r:id="rId15" tooltip="https://www.kaggle.com/datasets/sebastianabe/one-shot-llm-task-reliability"/>
          </p:cNvPr>
          <p:cNvSpPr/>
          <p:nvPr/>
        </p:nvSpPr>
        <p:spPr>
          <a:xfrm flipH="false" flipV="false" rot="0">
            <a:off x="455074" y="275179"/>
            <a:ext cx="6276733" cy="1609203"/>
          </a:xfrm>
          <a:custGeom>
            <a:avLst/>
            <a:gdLst/>
            <a:ahLst/>
            <a:cxnLst/>
            <a:rect r="r" b="b" t="t" l="l"/>
            <a:pathLst>
              <a:path h="1609203" w="6276733">
                <a:moveTo>
                  <a:pt x="0" y="0"/>
                </a:moveTo>
                <a:lnTo>
                  <a:pt x="6276732" y="0"/>
                </a:lnTo>
                <a:lnTo>
                  <a:pt x="6276732" y="1609203"/>
                </a:lnTo>
                <a:lnTo>
                  <a:pt x="0" y="1609203"/>
                </a:lnTo>
                <a:lnTo>
                  <a:pt x="0" y="0"/>
                </a:lnTo>
                <a:close/>
              </a:path>
            </a:pathLst>
          </a:custGeom>
          <a:blipFill>
            <a:blip r:embed="rId1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6880738"/>
          </a:xfrm>
          <a:custGeom>
            <a:avLst/>
            <a:gdLst/>
            <a:ahLst/>
            <a:cxnLst/>
            <a:rect r="r" b="b" t="t" l="l"/>
            <a:pathLst>
              <a:path h="6880738" w="18288000">
                <a:moveTo>
                  <a:pt x="0" y="0"/>
                </a:moveTo>
                <a:lnTo>
                  <a:pt x="18288000" y="0"/>
                </a:lnTo>
                <a:lnTo>
                  <a:pt x="18288000" y="6880738"/>
                </a:lnTo>
                <a:lnTo>
                  <a:pt x="0" y="6880738"/>
                </a:lnTo>
                <a:lnTo>
                  <a:pt x="0" y="0"/>
                </a:lnTo>
                <a:close/>
              </a:path>
            </a:pathLst>
          </a:custGeom>
          <a:blipFill>
            <a:blip r:embed="rId2"/>
            <a:stretch>
              <a:fillRect l="0" t="0" r="0" b="-49338"/>
            </a:stretch>
          </a:blipFill>
        </p:spPr>
      </p:sp>
      <p:sp>
        <p:nvSpPr>
          <p:cNvPr name="Freeform 3" id="3"/>
          <p:cNvSpPr/>
          <p:nvPr/>
        </p:nvSpPr>
        <p:spPr>
          <a:xfrm flipH="false" flipV="false" rot="0">
            <a:off x="0" y="5891220"/>
            <a:ext cx="18288000" cy="990344"/>
          </a:xfrm>
          <a:custGeom>
            <a:avLst/>
            <a:gdLst/>
            <a:ahLst/>
            <a:cxnLst/>
            <a:rect r="r" b="b" t="t" l="l"/>
            <a:pathLst>
              <a:path h="990344" w="18288000">
                <a:moveTo>
                  <a:pt x="0" y="0"/>
                </a:moveTo>
                <a:lnTo>
                  <a:pt x="18288000" y="0"/>
                </a:lnTo>
                <a:lnTo>
                  <a:pt x="18288000" y="990345"/>
                </a:lnTo>
                <a:lnTo>
                  <a:pt x="0" y="990345"/>
                </a:lnTo>
                <a:lnTo>
                  <a:pt x="0" y="0"/>
                </a:lnTo>
                <a:close/>
              </a:path>
            </a:pathLst>
          </a:custGeom>
          <a:blipFill>
            <a:blip r:embed="rId2"/>
            <a:stretch>
              <a:fillRect l="0" t="-937575" r="0" b="0"/>
            </a:stretch>
          </a:blipFill>
        </p:spPr>
      </p:sp>
      <p:sp>
        <p:nvSpPr>
          <p:cNvPr name="Freeform 4" id="4">
            <a:hlinkClick r:id="rId4" tooltip="https://www.kaggle.com/datasets/sebastianabe/one-shot-llm-task-reliability"/>
          </p:cNvPr>
          <p:cNvSpPr/>
          <p:nvPr/>
        </p:nvSpPr>
        <p:spPr>
          <a:xfrm flipH="false" flipV="false" rot="0">
            <a:off x="371086" y="7161531"/>
            <a:ext cx="9982990" cy="2559397"/>
          </a:xfrm>
          <a:custGeom>
            <a:avLst/>
            <a:gdLst/>
            <a:ahLst/>
            <a:cxnLst/>
            <a:rect r="r" b="b" t="t" l="l"/>
            <a:pathLst>
              <a:path h="2559397" w="9982990">
                <a:moveTo>
                  <a:pt x="0" y="0"/>
                </a:moveTo>
                <a:lnTo>
                  <a:pt x="9982990" y="0"/>
                </a:lnTo>
                <a:lnTo>
                  <a:pt x="9982990" y="2559397"/>
                </a:lnTo>
                <a:lnTo>
                  <a:pt x="0" y="2559397"/>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661170" cy="10496908"/>
          </a:xfrm>
          <a:custGeom>
            <a:avLst/>
            <a:gdLst/>
            <a:ahLst/>
            <a:cxnLst/>
            <a:rect r="r" b="b" t="t" l="l"/>
            <a:pathLst>
              <a:path h="10496908" w="18661170">
                <a:moveTo>
                  <a:pt x="0" y="0"/>
                </a:moveTo>
                <a:lnTo>
                  <a:pt x="18661170" y="0"/>
                </a:lnTo>
                <a:lnTo>
                  <a:pt x="18661170" y="10496908"/>
                </a:lnTo>
                <a:lnTo>
                  <a:pt x="0" y="10496908"/>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720379" cy="10553614"/>
          </a:xfrm>
          <a:custGeom>
            <a:avLst/>
            <a:gdLst/>
            <a:ahLst/>
            <a:cxnLst/>
            <a:rect r="r" b="b" t="t" l="l"/>
            <a:pathLst>
              <a:path h="10553614" w="18720379">
                <a:moveTo>
                  <a:pt x="0" y="0"/>
                </a:moveTo>
                <a:lnTo>
                  <a:pt x="18720379" y="0"/>
                </a:lnTo>
                <a:lnTo>
                  <a:pt x="18720379" y="10553614"/>
                </a:lnTo>
                <a:lnTo>
                  <a:pt x="0" y="10553614"/>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64523" cy="10532681"/>
          </a:xfrm>
          <a:custGeom>
            <a:avLst/>
            <a:gdLst/>
            <a:ahLst/>
            <a:cxnLst/>
            <a:rect r="r" b="b" t="t" l="l"/>
            <a:pathLst>
              <a:path h="10532681" w="18564523">
                <a:moveTo>
                  <a:pt x="0" y="0"/>
                </a:moveTo>
                <a:lnTo>
                  <a:pt x="18564523" y="0"/>
                </a:lnTo>
                <a:lnTo>
                  <a:pt x="18564523" y="10532681"/>
                </a:lnTo>
                <a:lnTo>
                  <a:pt x="0" y="10532681"/>
                </a:lnTo>
                <a:lnTo>
                  <a:pt x="0" y="0"/>
                </a:lnTo>
                <a:close/>
              </a:path>
            </a:pathLst>
          </a:custGeom>
          <a:blipFill>
            <a:blip r:embed="rId2"/>
            <a:stretch>
              <a:fillRect l="0" t="0" r="-863"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8430"/>
          </a:xfrm>
          <a:custGeom>
            <a:avLst/>
            <a:gdLst/>
            <a:ahLst/>
            <a:cxnLst/>
            <a:rect r="r" b="b" t="t" l="l"/>
            <a:pathLst>
              <a:path h="10298430" w="18288000">
                <a:moveTo>
                  <a:pt x="0" y="0"/>
                </a:moveTo>
                <a:lnTo>
                  <a:pt x="18288000" y="0"/>
                </a:lnTo>
                <a:lnTo>
                  <a:pt x="18288000" y="10298430"/>
                </a:lnTo>
                <a:lnTo>
                  <a:pt x="0" y="1029843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8430"/>
          </a:xfrm>
          <a:custGeom>
            <a:avLst/>
            <a:gdLst/>
            <a:ahLst/>
            <a:cxnLst/>
            <a:rect r="r" b="b" t="t" l="l"/>
            <a:pathLst>
              <a:path h="10298430" w="18288000">
                <a:moveTo>
                  <a:pt x="0" y="0"/>
                </a:moveTo>
                <a:lnTo>
                  <a:pt x="18288000" y="0"/>
                </a:lnTo>
                <a:lnTo>
                  <a:pt x="18288000" y="10298430"/>
                </a:lnTo>
                <a:lnTo>
                  <a:pt x="0" y="10298430"/>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D3500"/>
        </a:solidFill>
      </p:bgPr>
    </p:bg>
    <p:spTree>
      <p:nvGrpSpPr>
        <p:cNvPr id="1" name=""/>
        <p:cNvGrpSpPr/>
        <p:nvPr/>
      </p:nvGrpSpPr>
      <p:grpSpPr>
        <a:xfrm>
          <a:off x="0" y="0"/>
          <a:ext cx="0" cy="0"/>
          <a:chOff x="0" y="0"/>
          <a:chExt cx="0" cy="0"/>
        </a:xfrm>
      </p:grpSpPr>
      <p:grpSp>
        <p:nvGrpSpPr>
          <p:cNvPr name="Group 2" id="2"/>
          <p:cNvGrpSpPr/>
          <p:nvPr/>
        </p:nvGrpSpPr>
        <p:grpSpPr>
          <a:xfrm rot="0">
            <a:off x="0" y="0"/>
            <a:ext cx="8826997" cy="10506374"/>
            <a:chOff x="0" y="0"/>
            <a:chExt cx="1367533" cy="1627712"/>
          </a:xfrm>
        </p:grpSpPr>
        <p:sp>
          <p:nvSpPr>
            <p:cNvPr name="Freeform 3" id="3"/>
            <p:cNvSpPr/>
            <p:nvPr/>
          </p:nvSpPr>
          <p:spPr>
            <a:xfrm flipH="false" flipV="false" rot="0">
              <a:off x="0" y="0"/>
              <a:ext cx="1367533" cy="1627712"/>
            </a:xfrm>
            <a:custGeom>
              <a:avLst/>
              <a:gdLst/>
              <a:ahLst/>
              <a:cxnLst/>
              <a:rect r="r" b="b" t="t" l="l"/>
              <a:pathLst>
                <a:path h="1627712" w="1367533">
                  <a:moveTo>
                    <a:pt x="0" y="0"/>
                  </a:moveTo>
                  <a:lnTo>
                    <a:pt x="1367533" y="0"/>
                  </a:lnTo>
                  <a:lnTo>
                    <a:pt x="1367533" y="1627712"/>
                  </a:lnTo>
                  <a:lnTo>
                    <a:pt x="0" y="1627712"/>
                  </a:lnTo>
                  <a:close/>
                </a:path>
              </a:pathLst>
            </a:custGeom>
            <a:blipFill>
              <a:blip r:embed="rId2"/>
              <a:stretch>
                <a:fillRect l="-54135" t="0" r="-13949" b="0"/>
              </a:stretch>
            </a:blipFill>
          </p:spPr>
        </p:sp>
      </p:grpSp>
      <p:sp>
        <p:nvSpPr>
          <p:cNvPr name="Freeform 4" id="4"/>
          <p:cNvSpPr/>
          <p:nvPr/>
        </p:nvSpPr>
        <p:spPr>
          <a:xfrm flipH="false" flipV="false" rot="0">
            <a:off x="9270645" y="3067075"/>
            <a:ext cx="11511856" cy="1457197"/>
          </a:xfrm>
          <a:custGeom>
            <a:avLst/>
            <a:gdLst/>
            <a:ahLst/>
            <a:cxnLst/>
            <a:rect r="r" b="b" t="t" l="l"/>
            <a:pathLst>
              <a:path h="1457197" w="11511856">
                <a:moveTo>
                  <a:pt x="0" y="0"/>
                </a:moveTo>
                <a:lnTo>
                  <a:pt x="11511856" y="0"/>
                </a:lnTo>
                <a:lnTo>
                  <a:pt x="11511856" y="1457197"/>
                </a:lnTo>
                <a:lnTo>
                  <a:pt x="0" y="1457197"/>
                </a:lnTo>
                <a:lnTo>
                  <a:pt x="0" y="0"/>
                </a:lnTo>
                <a:close/>
              </a:path>
            </a:pathLst>
          </a:custGeom>
          <a:blipFill>
            <a:blip r:embed="rId3"/>
            <a:stretch>
              <a:fillRect l="0" t="0" r="0" b="0"/>
            </a:stretch>
          </a:blipFill>
        </p:spPr>
      </p:sp>
      <p:sp>
        <p:nvSpPr>
          <p:cNvPr name="Freeform 5" id="5"/>
          <p:cNvSpPr/>
          <p:nvPr/>
        </p:nvSpPr>
        <p:spPr>
          <a:xfrm flipH="false" flipV="false" rot="0">
            <a:off x="9278689" y="4494193"/>
            <a:ext cx="11511856" cy="1390961"/>
          </a:xfrm>
          <a:custGeom>
            <a:avLst/>
            <a:gdLst/>
            <a:ahLst/>
            <a:cxnLst/>
            <a:rect r="r" b="b" t="t" l="l"/>
            <a:pathLst>
              <a:path h="1390961" w="11511856">
                <a:moveTo>
                  <a:pt x="0" y="0"/>
                </a:moveTo>
                <a:lnTo>
                  <a:pt x="11511855" y="0"/>
                </a:lnTo>
                <a:lnTo>
                  <a:pt x="11511855" y="1390961"/>
                </a:lnTo>
                <a:lnTo>
                  <a:pt x="0" y="1390961"/>
                </a:lnTo>
                <a:lnTo>
                  <a:pt x="0" y="0"/>
                </a:lnTo>
                <a:close/>
              </a:path>
            </a:pathLst>
          </a:custGeom>
          <a:blipFill>
            <a:blip r:embed="rId4"/>
            <a:stretch>
              <a:fillRect l="0" t="0" r="0" b="0"/>
            </a:stretch>
          </a:blipFill>
        </p:spPr>
      </p:sp>
      <p:sp>
        <p:nvSpPr>
          <p:cNvPr name="Freeform 6" id="6"/>
          <p:cNvSpPr/>
          <p:nvPr/>
        </p:nvSpPr>
        <p:spPr>
          <a:xfrm flipH="false" flipV="false" rot="0">
            <a:off x="9281652" y="5779714"/>
            <a:ext cx="11508893" cy="1471759"/>
          </a:xfrm>
          <a:custGeom>
            <a:avLst/>
            <a:gdLst/>
            <a:ahLst/>
            <a:cxnLst/>
            <a:rect r="r" b="b" t="t" l="l"/>
            <a:pathLst>
              <a:path h="1471759" w="11508893">
                <a:moveTo>
                  <a:pt x="0" y="0"/>
                </a:moveTo>
                <a:lnTo>
                  <a:pt x="11508892" y="0"/>
                </a:lnTo>
                <a:lnTo>
                  <a:pt x="11508892" y="1471759"/>
                </a:lnTo>
                <a:lnTo>
                  <a:pt x="0" y="1471759"/>
                </a:lnTo>
                <a:lnTo>
                  <a:pt x="0" y="0"/>
                </a:lnTo>
                <a:close/>
              </a:path>
            </a:pathLst>
          </a:custGeom>
          <a:blipFill>
            <a:blip r:embed="rId5"/>
            <a:stretch>
              <a:fillRect l="0" t="0" r="0" b="0"/>
            </a:stretch>
          </a:blipFill>
        </p:spPr>
      </p:sp>
      <p:sp>
        <p:nvSpPr>
          <p:cNvPr name="Freeform 7" id="7"/>
          <p:cNvSpPr/>
          <p:nvPr/>
        </p:nvSpPr>
        <p:spPr>
          <a:xfrm flipH="false" flipV="false" rot="0">
            <a:off x="9275729" y="7096402"/>
            <a:ext cx="11514816" cy="1389719"/>
          </a:xfrm>
          <a:custGeom>
            <a:avLst/>
            <a:gdLst/>
            <a:ahLst/>
            <a:cxnLst/>
            <a:rect r="r" b="b" t="t" l="l"/>
            <a:pathLst>
              <a:path h="1389719" w="11514816">
                <a:moveTo>
                  <a:pt x="0" y="0"/>
                </a:moveTo>
                <a:lnTo>
                  <a:pt x="11514815" y="0"/>
                </a:lnTo>
                <a:lnTo>
                  <a:pt x="11514815" y="1389719"/>
                </a:lnTo>
                <a:lnTo>
                  <a:pt x="0" y="1389719"/>
                </a:lnTo>
                <a:lnTo>
                  <a:pt x="0" y="0"/>
                </a:lnTo>
                <a:close/>
              </a:path>
            </a:pathLst>
          </a:custGeom>
          <a:blipFill>
            <a:blip r:embed="rId6"/>
            <a:stretch>
              <a:fillRect l="0" t="0" r="0" b="0"/>
            </a:stretch>
          </a:blipFill>
        </p:spPr>
      </p:sp>
      <p:sp>
        <p:nvSpPr>
          <p:cNvPr name="Freeform 8" id="8"/>
          <p:cNvSpPr/>
          <p:nvPr/>
        </p:nvSpPr>
        <p:spPr>
          <a:xfrm flipH="false" flipV="false" rot="0">
            <a:off x="9275729" y="7913107"/>
            <a:ext cx="11497016" cy="1516967"/>
          </a:xfrm>
          <a:custGeom>
            <a:avLst/>
            <a:gdLst/>
            <a:ahLst/>
            <a:cxnLst/>
            <a:rect r="r" b="b" t="t" l="l"/>
            <a:pathLst>
              <a:path h="1516967" w="11497016">
                <a:moveTo>
                  <a:pt x="0" y="0"/>
                </a:moveTo>
                <a:lnTo>
                  <a:pt x="11497015" y="0"/>
                </a:lnTo>
                <a:lnTo>
                  <a:pt x="11497015" y="1516967"/>
                </a:lnTo>
                <a:lnTo>
                  <a:pt x="0" y="1516967"/>
                </a:lnTo>
                <a:lnTo>
                  <a:pt x="0" y="0"/>
                </a:lnTo>
                <a:close/>
              </a:path>
            </a:pathLst>
          </a:custGeom>
          <a:blipFill>
            <a:blip r:embed="rId7"/>
            <a:stretch>
              <a:fillRect l="0" t="0" r="0" b="0"/>
            </a:stretch>
          </a:blipFill>
        </p:spPr>
      </p:sp>
      <p:sp>
        <p:nvSpPr>
          <p:cNvPr name="Freeform 9" id="9"/>
          <p:cNvSpPr/>
          <p:nvPr/>
        </p:nvSpPr>
        <p:spPr>
          <a:xfrm flipH="false" flipV="false" rot="0">
            <a:off x="9269821" y="9196497"/>
            <a:ext cx="11526631" cy="1503474"/>
          </a:xfrm>
          <a:custGeom>
            <a:avLst/>
            <a:gdLst/>
            <a:ahLst/>
            <a:cxnLst/>
            <a:rect r="r" b="b" t="t" l="l"/>
            <a:pathLst>
              <a:path h="1503474" w="11526631">
                <a:moveTo>
                  <a:pt x="0" y="0"/>
                </a:moveTo>
                <a:lnTo>
                  <a:pt x="11526631" y="0"/>
                </a:lnTo>
                <a:lnTo>
                  <a:pt x="11526631" y="1503474"/>
                </a:lnTo>
                <a:lnTo>
                  <a:pt x="0" y="1503474"/>
                </a:lnTo>
                <a:lnTo>
                  <a:pt x="0" y="0"/>
                </a:lnTo>
                <a:close/>
              </a:path>
            </a:pathLst>
          </a:custGeom>
          <a:blipFill>
            <a:blip r:embed="rId8"/>
            <a:stretch>
              <a:fillRect l="0" t="0" r="0" b="0"/>
            </a:stretch>
          </a:blipFill>
        </p:spPr>
      </p:sp>
      <p:sp>
        <p:nvSpPr>
          <p:cNvPr name="Freeform 10" id="10">
            <a:hlinkClick r:id="rId10" tooltip="https://www.kaggle.com/datasets/sebastianabe/one-shot-llm-task-reliability"/>
          </p:cNvPr>
          <p:cNvSpPr/>
          <p:nvPr/>
        </p:nvSpPr>
        <p:spPr>
          <a:xfrm flipH="false" flipV="false" rot="0">
            <a:off x="58224" y="7618861"/>
            <a:ext cx="9085776" cy="2329374"/>
          </a:xfrm>
          <a:custGeom>
            <a:avLst/>
            <a:gdLst/>
            <a:ahLst/>
            <a:cxnLst/>
            <a:rect r="r" b="b" t="t" l="l"/>
            <a:pathLst>
              <a:path h="2329374" w="9085776">
                <a:moveTo>
                  <a:pt x="0" y="0"/>
                </a:moveTo>
                <a:lnTo>
                  <a:pt x="9085776" y="0"/>
                </a:lnTo>
                <a:lnTo>
                  <a:pt x="9085776" y="2329373"/>
                </a:lnTo>
                <a:lnTo>
                  <a:pt x="0" y="2329373"/>
                </a:lnTo>
                <a:lnTo>
                  <a:pt x="0" y="0"/>
                </a:lnTo>
                <a:close/>
              </a:path>
            </a:pathLst>
          </a:custGeom>
          <a:blipFill>
            <a:blip r:embed="rId9"/>
            <a:stretch>
              <a:fillRect l="0" t="0" r="0" b="0"/>
            </a:stretch>
          </a:blipFill>
        </p:spPr>
      </p:sp>
      <p:sp>
        <p:nvSpPr>
          <p:cNvPr name="TextBox 11" id="11"/>
          <p:cNvSpPr txBox="true"/>
          <p:nvPr/>
        </p:nvSpPr>
        <p:spPr>
          <a:xfrm rot="0">
            <a:off x="6522535" y="2439265"/>
            <a:ext cx="6785600" cy="627811"/>
          </a:xfrm>
          <a:prstGeom prst="rect">
            <a:avLst/>
          </a:prstGeom>
        </p:spPr>
        <p:txBody>
          <a:bodyPr anchor="t" rtlCol="false" tIns="0" lIns="0" bIns="0" rIns="0">
            <a:spAutoFit/>
          </a:bodyPr>
          <a:lstStyle/>
          <a:p>
            <a:pPr algn="r">
              <a:lnSpc>
                <a:spcPts val="4389"/>
              </a:lnSpc>
            </a:pPr>
            <a:r>
              <a:rPr lang="en-US" b="true" sz="4620">
                <a:solidFill>
                  <a:srgbClr val="F1F1F1"/>
                </a:solidFill>
                <a:latin typeface="Poppins Bold"/>
                <a:ea typeface="Poppins Bold"/>
                <a:cs typeface="Poppins Bold"/>
                <a:sym typeface="Poppins Bold"/>
              </a:rPr>
              <a:t>TERIMA KASIH</a:t>
            </a:r>
          </a:p>
        </p:txBody>
      </p:sp>
      <p:sp>
        <p:nvSpPr>
          <p:cNvPr name="TextBox 12" id="12"/>
          <p:cNvSpPr txBox="true"/>
          <p:nvPr/>
        </p:nvSpPr>
        <p:spPr>
          <a:xfrm rot="0">
            <a:off x="9278689" y="-9525"/>
            <a:ext cx="9202090" cy="1533525"/>
          </a:xfrm>
          <a:prstGeom prst="rect">
            <a:avLst/>
          </a:prstGeom>
        </p:spPr>
        <p:txBody>
          <a:bodyPr anchor="t" rtlCol="false" tIns="0" lIns="0" bIns="0" rIns="0">
            <a:spAutoFit/>
          </a:bodyPr>
          <a:lstStyle/>
          <a:p>
            <a:pPr algn="just">
              <a:lnSpc>
                <a:spcPts val="6000"/>
              </a:lnSpc>
            </a:pPr>
            <a:r>
              <a:rPr lang="en-US" sz="5000" spc="75">
                <a:solidFill>
                  <a:srgbClr val="FFFFFF"/>
                </a:solidFill>
                <a:latin typeface="Aileron"/>
                <a:ea typeface="Aileron"/>
                <a:cs typeface="Aileron"/>
                <a:sym typeface="Aileron"/>
              </a:rPr>
              <a:t>12 LLM x 2 Run</a:t>
            </a:r>
          </a:p>
          <a:p>
            <a:pPr algn="just">
              <a:lnSpc>
                <a:spcPts val="6000"/>
              </a:lnSpc>
            </a:pPr>
            <a:r>
              <a:rPr lang="en-US" sz="5000" spc="75">
                <a:solidFill>
                  <a:srgbClr val="FFFFFF"/>
                </a:solidFill>
                <a:latin typeface="Aileron"/>
                <a:ea typeface="Aileron"/>
                <a:cs typeface="Aileron"/>
                <a:sym typeface="Aileron"/>
              </a:rPr>
              <a:t>50 Prompts </a:t>
            </a:r>
          </a:p>
        </p:txBody>
      </p:sp>
      <p:sp>
        <p:nvSpPr>
          <p:cNvPr name="TextBox 13" id="13"/>
          <p:cNvSpPr txBox="true"/>
          <p:nvPr/>
        </p:nvSpPr>
        <p:spPr>
          <a:xfrm rot="0">
            <a:off x="14149066" y="104775"/>
            <a:ext cx="4138934" cy="1838325"/>
          </a:xfrm>
          <a:prstGeom prst="rect">
            <a:avLst/>
          </a:prstGeom>
        </p:spPr>
        <p:txBody>
          <a:bodyPr anchor="t" rtlCol="false" tIns="0" lIns="0" bIns="0" rIns="0">
            <a:spAutoFit/>
          </a:bodyPr>
          <a:lstStyle/>
          <a:p>
            <a:pPr algn="l" marL="431801" indent="-215900" lvl="1">
              <a:lnSpc>
                <a:spcPts val="2400"/>
              </a:lnSpc>
              <a:buFont typeface="Arial"/>
              <a:buChar char="•"/>
            </a:pPr>
            <a:r>
              <a:rPr lang="en-US" sz="2000" spc="30">
                <a:solidFill>
                  <a:srgbClr val="FFFFFF"/>
                </a:solidFill>
                <a:latin typeface="Aileron"/>
                <a:ea typeface="Aileron"/>
                <a:cs typeface="Aileron"/>
                <a:sym typeface="Aileron"/>
              </a:rPr>
              <a:t>Software &amp; Technical</a:t>
            </a:r>
          </a:p>
          <a:p>
            <a:pPr algn="l" marL="431801" indent="-215900" lvl="1">
              <a:lnSpc>
                <a:spcPts val="2400"/>
              </a:lnSpc>
              <a:buFont typeface="Arial"/>
              <a:buChar char="•"/>
            </a:pPr>
            <a:r>
              <a:rPr lang="en-US" sz="2000" spc="30">
                <a:solidFill>
                  <a:srgbClr val="FFFFFF"/>
                </a:solidFill>
                <a:latin typeface="Aileron"/>
                <a:ea typeface="Aileron"/>
                <a:cs typeface="Aileron"/>
                <a:sym typeface="Aileron"/>
              </a:rPr>
              <a:t>Everyday &amp; Practical</a:t>
            </a:r>
          </a:p>
          <a:p>
            <a:pPr algn="l" marL="431801" indent="-215900" lvl="1">
              <a:lnSpc>
                <a:spcPts val="2400"/>
              </a:lnSpc>
              <a:buFont typeface="Arial"/>
              <a:buChar char="•"/>
            </a:pPr>
            <a:r>
              <a:rPr lang="en-US" sz="2000" spc="30">
                <a:solidFill>
                  <a:srgbClr val="FFFFFF"/>
                </a:solidFill>
                <a:latin typeface="Aileron"/>
                <a:ea typeface="Aileron"/>
                <a:cs typeface="Aileron"/>
                <a:sym typeface="Aileron"/>
              </a:rPr>
              <a:t>Creative</a:t>
            </a:r>
          </a:p>
          <a:p>
            <a:pPr algn="l" marL="431801" indent="-215900" lvl="1">
              <a:lnSpc>
                <a:spcPts val="2400"/>
              </a:lnSpc>
              <a:buFont typeface="Arial"/>
              <a:buChar char="•"/>
            </a:pPr>
            <a:r>
              <a:rPr lang="en-US" sz="2000" spc="30">
                <a:solidFill>
                  <a:srgbClr val="FFFFFF"/>
                </a:solidFill>
                <a:latin typeface="Aileron"/>
                <a:ea typeface="Aileron"/>
                <a:cs typeface="Aileron"/>
                <a:sym typeface="Aileron"/>
              </a:rPr>
              <a:t>Research &amp; Comparison</a:t>
            </a:r>
          </a:p>
          <a:p>
            <a:pPr algn="l" marL="431801" indent="-215900" lvl="1">
              <a:lnSpc>
                <a:spcPts val="2400"/>
              </a:lnSpc>
              <a:buFont typeface="Arial"/>
              <a:buChar char="•"/>
            </a:pPr>
            <a:r>
              <a:rPr lang="en-US" sz="2000" spc="30">
                <a:solidFill>
                  <a:srgbClr val="FFFFFF"/>
                </a:solidFill>
                <a:latin typeface="Aileron"/>
                <a:ea typeface="Aileron"/>
                <a:cs typeface="Aileron"/>
                <a:sym typeface="Aileron"/>
              </a:rPr>
              <a:t>AI &amp; ML</a:t>
            </a:r>
          </a:p>
          <a:p>
            <a:pPr algn="l" marL="431801" indent="-215900" lvl="1">
              <a:lnSpc>
                <a:spcPts val="2400"/>
              </a:lnSpc>
              <a:buFont typeface="Arial"/>
              <a:buChar char="•"/>
            </a:pPr>
            <a:r>
              <a:rPr lang="en-US" sz="2000" spc="30">
                <a:solidFill>
                  <a:srgbClr val="FFFFFF"/>
                </a:solidFill>
                <a:latin typeface="Aileron"/>
                <a:ea typeface="Aileron"/>
                <a:cs typeface="Aileron"/>
                <a:sym typeface="Aileron"/>
              </a:rPr>
              <a:t>Academic &amp; Problem Solving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DAHX_9QoULk</dc:identifier>
  <dcterms:modified xsi:type="dcterms:W3CDTF">2011-08-01T06:04:30Z</dcterms:modified>
  <cp:revision>1</cp:revision>
  <dc:title>One-Shot LLM Task Reliability</dc:title>
</cp:coreProperties>
</file>